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46"/>
  </p:notesMasterIdLst>
  <p:sldIdLst>
    <p:sldId id="256" r:id="rId3"/>
    <p:sldId id="257" r:id="rId4"/>
    <p:sldId id="258" r:id="rId5"/>
    <p:sldId id="259" r:id="rId6"/>
    <p:sldId id="324" r:id="rId7"/>
    <p:sldId id="294" r:id="rId8"/>
    <p:sldId id="260" r:id="rId9"/>
    <p:sldId id="298" r:id="rId10"/>
    <p:sldId id="299" r:id="rId11"/>
    <p:sldId id="300" r:id="rId12"/>
    <p:sldId id="328" r:id="rId13"/>
    <p:sldId id="327" r:id="rId14"/>
    <p:sldId id="303" r:id="rId15"/>
    <p:sldId id="304" r:id="rId16"/>
    <p:sldId id="305" r:id="rId17"/>
    <p:sldId id="306" r:id="rId18"/>
    <p:sldId id="307" r:id="rId19"/>
    <p:sldId id="308" r:id="rId20"/>
    <p:sldId id="309" r:id="rId21"/>
    <p:sldId id="310" r:id="rId22"/>
    <p:sldId id="322" r:id="rId23"/>
    <p:sldId id="311" r:id="rId24"/>
    <p:sldId id="323" r:id="rId25"/>
    <p:sldId id="312" r:id="rId26"/>
    <p:sldId id="313" r:id="rId27"/>
    <p:sldId id="285" r:id="rId28"/>
    <p:sldId id="315" r:id="rId29"/>
    <p:sldId id="316" r:id="rId30"/>
    <p:sldId id="317" r:id="rId31"/>
    <p:sldId id="318" r:id="rId32"/>
    <p:sldId id="319" r:id="rId33"/>
    <p:sldId id="333" r:id="rId34"/>
    <p:sldId id="349" r:id="rId35"/>
    <p:sldId id="329" r:id="rId36"/>
    <p:sldId id="341" r:id="rId37"/>
    <p:sldId id="342" r:id="rId38"/>
    <p:sldId id="343" r:id="rId39"/>
    <p:sldId id="330" r:id="rId40"/>
    <p:sldId id="344" r:id="rId41"/>
    <p:sldId id="348" r:id="rId42"/>
    <p:sldId id="332" r:id="rId43"/>
    <p:sldId id="347" r:id="rId44"/>
    <p:sldId id="267" r:id="rId45"/>
  </p:sldIdLst>
  <p:sldSz cx="9144000" cy="5143500" type="screen16x9"/>
  <p:notesSz cx="6858000" cy="9144000"/>
  <p:embeddedFontLst>
    <p:embeddedFont>
      <p:font typeface="Nunito" pitchFamily="2" charset="77"/>
      <p:regular r:id="rId47"/>
      <p:bold r:id="rId48"/>
      <p:italic r:id="rId49"/>
      <p:boldItalic r:id="rId50"/>
    </p:embeddedFont>
    <p:embeddedFont>
      <p:font typeface="Nunito ExtraBold" pitchFamily="2" charset="77"/>
      <p:bold r:id="rId51"/>
      <p:italic r:id="rId52"/>
      <p:boldItalic r:id="rId53"/>
    </p:embeddedFont>
    <p:embeddedFont>
      <p:font typeface="Nunito SemiBold" pitchFamily="2" charset="77"/>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1" roundtripDataSignature="AMtx7mgJqCccHXhuciI1lV75Fqrgt7On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57A0"/>
    <a:srgbClr val="1359A0"/>
    <a:srgbClr val="0E39A9"/>
    <a:srgbClr val="1357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084AC0-A0CB-4F2F-9A05-E4AD725CB356}">
  <a:tblStyle styleId="{12084AC0-A0CB-4F2F-9A05-E4AD725CB356}"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3"/>
    <p:restoredTop sz="95108" autoAdjust="0"/>
  </p:normalViewPr>
  <p:slideViewPr>
    <p:cSldViewPr snapToGrid="0">
      <p:cViewPr varScale="1">
        <p:scale>
          <a:sx n="228" d="100"/>
          <a:sy n="228" d="100"/>
        </p:scale>
        <p:origin x="176"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7.fntdata"/><Relationship Id="rId5" Type="http://schemas.openxmlformats.org/officeDocument/2006/relationships/slide" Target="slides/slide3.xml"/><Relationship Id="rId61" Type="http://customschemas.google.com/relationships/presentationmetadata" Target="meta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font" Target="fonts/font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8.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6.fntdata"/><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2508d39905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12508d39905_0_2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0e9006cb6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10e9006cb6c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2508d3990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CEAFE0BE-0D90-F8DC-C282-9E8103890C63}"/>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DCD6565E-89E8-7AB4-FD08-5AA201DB68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64E5F55A-408B-0010-8657-72015ADE51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84761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F60F3096-6083-D0C2-D8CF-24D17BAB9B20}"/>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190E942A-A3F9-5F38-0055-ABFF3E4D54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3E777B69-A95E-C9FE-3A5A-3C5EECDE82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53598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2508d39905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8BE76518-BD48-DA8D-8FA7-AA07FD32F11B}"/>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BD8FFCA6-31B7-03EB-45DC-EDA0341D79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68EB87B2-FD9B-664E-DAF6-BB0CAA8FD51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64158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2FC9596-277C-9D3C-02CD-E1C12C9579FF}"/>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8521DCDC-2F27-8CE3-DD2B-B0F6C4D47D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21C29FB8-826F-20BA-DA4C-1219D6E931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2160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48BD192-BF8D-51F2-321A-52991EBA43D5}"/>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C6404CE4-81F1-5B90-A416-21BAEF6F41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C19A93A5-ABC7-EE63-10C4-E5AF7F510F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65168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F8D39A9-EAB6-2CEE-DB71-27186079A003}"/>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0D90FCDB-E698-5744-E6CD-94920F8B47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DA94B4CC-5AFF-D454-548C-D1AAE55349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6381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3570898C-3C7E-92D8-76A5-D24D655FB988}"/>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33253F1D-4311-E26F-09AB-2947198081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317678BA-DB62-98AB-849D-E26EC7BB2E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18294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0ACF772-ED96-5B31-F73E-A1DC8E8E36C5}"/>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7B56AC86-8D25-0F54-2285-99393C05E0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7A988837-7362-173A-DC17-4027D5ED7D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55682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2EE1AA1-CBD3-6789-6FAD-65720CD4A45B}"/>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5D2DECC9-93DF-7C14-6740-F469BE0614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302F6735-43D3-EB90-1305-36DC2C339F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11199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8611193E-0E77-F31B-F993-C04D2D3A07B1}"/>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7F09E00F-0B99-7CF6-4EA3-445BFB3B0B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B69B5FBD-9C8C-EDA3-DD06-3D7811BA6F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215489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493824D-F785-5232-C3C2-6BBD276CD5C3}"/>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C7AAF409-85EC-E21F-611A-8A6FBB3061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0757EE33-95B4-DA2A-524E-FF324BB57C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83318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0E47ECA8-ECD7-9080-B110-CC7BFD290CF3}"/>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A7313656-8390-6B72-3ED5-028FF56090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7705223C-3562-9B78-1EC5-0D88DC52A6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0831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688AD8A8-3DB3-6A98-A5A5-6EA68055AC9D}"/>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9064DEF4-7929-782C-DE2E-4185EA1607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61BBB05F-CDD0-AE15-2DD9-90D4C5F63F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05216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38AAEA8-A81A-4A20-63D3-3ED0E19326AD}"/>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B1DE8195-CD27-4BCE-CF0E-6191A96496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EC34B340-CBC9-1D18-554E-481F81A3B6F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238129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887C13F-0CD4-3C12-AB3D-C63C6CF0F35B}"/>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50CC8491-36FE-1E17-F9F7-574242A52B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0B8F8432-AFC7-A3D1-D8AC-7F533A40FD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695647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209A4D16-8522-7F44-C864-7A3DC51C23CE}"/>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B0C81EB2-16CE-913A-CBCA-DEB148D435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BD1F95A4-1B70-75B0-2D2A-BE621E872C9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104320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C061CB72-97F8-37C8-1F37-886596D9DE23}"/>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8E196F05-521D-8AC5-47C1-503F1409AD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A0F66DD6-1704-A1A3-BE43-71ED3677D2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27329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8F6CFE2-5A4D-15AA-D762-38632132D96A}"/>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010F1BA2-63BB-6A00-62D3-9F04344A35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00D491C9-4CEA-5998-9EB8-5CD7AFA619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713007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948850E-BAA5-CAF0-6779-D5B7D1BF964D}"/>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14D14876-483A-39C0-4943-E9DB5358BA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DB788B37-FBB2-3050-B653-C95C5D8B9A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955466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8BDFEBDE-366B-522E-0CC3-B18AA94549FF}"/>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7B9DB4B6-AF05-8D33-4066-82E2DEB12E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C017AB31-986C-7A7B-1D02-2E3BFC847B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054198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AB8E85A-5A8A-9A9F-1E17-1637EF3D5F4E}"/>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378677CD-2162-9CBD-DB50-107196EE0B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914DF871-A806-C6ED-530F-603BC2BC41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77356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602ACB6E-A5AD-5AE2-A644-CD35DA661CC1}"/>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E804108C-9B6F-F32C-E72E-BD97906800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8D5CC206-6FF6-8E4C-1CFB-1E093DC527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856494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F23F15D-9EC9-30EC-C627-0DE133075058}"/>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954E33E8-BE36-3B2F-634B-4639099648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93C20EEB-A9CA-093F-B734-568A0ECB21B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85821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80C1C4BB-16EA-7C5C-37A5-CA07A8200331}"/>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E2002EE3-3D60-82AA-D37F-3F4940BE5C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674CD546-2473-8753-2DF0-7FD826A388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701043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01675EB5-9D34-FC91-E9AB-23340CD76E14}"/>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66B5F272-7AFA-2E64-486C-27A28F4057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DD3ABAD1-8A10-E784-5C68-C70321EEBB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99764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A3ECAFC-F1B6-B1F2-7692-83F032536DFD}"/>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4F35C2B6-D989-44CE-FC55-4E01E4141E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C43FA4C1-9033-AA7E-F3AB-0F3A0C2628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685016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68BE3BB1-7A92-688E-3AEF-83ED4F5151F0}"/>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91823763-5F1A-2987-34D6-FAA99C9C05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6B86102A-1A45-0E85-10B2-44FCFA8BED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075073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32E8A94D-D8E6-426C-CAF0-0481246FFB5E}"/>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32966F71-9DCA-64AD-F908-E85A69CD46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B19FAECB-0DD1-6294-F7EC-73F4687DFFF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2808620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81A6A3F-FD99-4995-5EBC-C1D926C23BCA}"/>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4D3D76DA-D17F-80EB-8A1E-A7A4F4289C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78049EE3-FE58-1B8A-3629-36139031B4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772649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2DF4EF63-4E1E-3143-920B-68CA8958FC45}"/>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D8594C62-D991-E5BD-0E3D-D7165212B8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B12B7773-DDC5-E333-2191-F2BB9D61BB5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069725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C4485382-6D7A-E567-22C5-0F0844BF5E1C}"/>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61761CCB-9763-B55B-E5E1-23897FEA6E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45D1135B-B97D-4A60-D0E8-7D671B15B98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402869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A27DFF9-0B2D-76C7-5422-1926A16EC75F}"/>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08EFAEC0-FBE9-2541-781E-4390AC1772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BE818987-8D51-B344-1738-90CBBC717B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896465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13C8991B-5759-81D0-C229-E9ABBB770AF4}"/>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7D3BF11D-6DD1-30DB-1A15-60B12A66F9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D330F0B8-3AD3-441D-FF21-121B759BB6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287980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12A47B2A-BB7A-034D-3996-9465B0021FC6}"/>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0DFEE12A-F0C6-6BCE-867B-AD2E13650B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3544D420-73EA-C28B-7BBD-DB520DC785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56774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8BA0859-841F-1087-49F9-D501A77267DD}"/>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4B070025-6069-8845-8801-EA7B217DF2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B7041C3D-1981-C00E-2EBC-D33C370865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9671933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49A0DAA5-40C2-6CE3-2702-46E41C82CDD6}"/>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EB6DF45E-1CEF-BC57-216A-56355C3275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6AA70CB0-ABB8-8FA8-37F3-3D8CFEF437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282541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6A00B989-F39E-E708-04BA-D695368E588D}"/>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FF19CE46-3796-A514-DEC5-5F73DA6C86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a:extLst>
              <a:ext uri="{FF2B5EF4-FFF2-40B4-BE49-F238E27FC236}">
                <a16:creationId xmlns:a16="http://schemas.microsoft.com/office/drawing/2014/main" id="{E39985AC-336A-8015-7344-C72C91A0CE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082680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0ee00f67ea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0ee00f67ea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10ee00f67ea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43</a:t>
            </a:fld>
            <a:endParaRPr sz="1200" b="0" i="0" u="none" strike="noStrike" cap="none">
              <a:solidFill>
                <a:schemeClr val="dk1"/>
              </a:solidFill>
              <a:latin typeface="Calibri"/>
              <a:ea typeface="Calibri"/>
              <a:cs typeface="Calibri"/>
              <a:sym typeface="Calibri"/>
            </a:endParaRPr>
          </a:p>
        </p:txBody>
      </p:sp>
      <p:sp>
        <p:nvSpPr>
          <p:cNvPr id="174" name="Google Shape;174;g10ee00f67ea_0_5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e1a9588eba_0_9"/>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ge1a9588eba_0_9"/>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ge1a9588eba_0_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ge1a9588eba_0_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ge1a9588eba_0_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ge1a9588eba_0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ge1a9588eba_0_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ge1a9588eba_0_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ge1a9588eba_0_19"/>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ge1a9588eba_0_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ge1a9588eba_0_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ge1a9588eba_0_2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ge1a9588eba_0_2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ge1a9588eba_0_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ge1a9588eba_0_2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ge1a9588eba_0_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e1a9588eba_0_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ge1a9588eba_0_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e1a9588eba_0_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e1a9588eba_0_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ge1a9588eba_0_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ge1a9588eba_0_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ge1a9588eba_0_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ge1a9588eba_0_4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ge1a9588eba_0_4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ge1a9588eba_0_42"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50" name="Google Shape;50;ge1a9588eba_0_4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ge1a9588eba_0_4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ge1a9588eba_0_42"/>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g10ee00f67ea_0_104"/>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g10ee00f67ea_0_104"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65" name="Google Shape;65;g10ee00f67ea_0_104"/>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g10ee00f67ea_0_104"/>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g10ee00f67ea_0_104"/>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g10ee00f67ea_0_71"/>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g10ee00f67ea_0_71"/>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g10ee00f67ea_0_7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g10ee00f67ea_0_7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g10ee00f67ea_0_7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g10ee00f67ea_0_7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g10ee00f67ea_0_7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g10ee00f67ea_0_8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g10ee00f67ea_0_81"/>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g10ee00f67ea_0_8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g10ee00f67ea_0_8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g10ee00f67ea_0_8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g10ee00f67ea_0_8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g10ee00f67ea_0_8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g10ee00f67ea_0_9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g10ee00f67ea_0_9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g10ee00f67ea_0_9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g10ee00f67ea_0_9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g10ee00f67ea_0_9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g10ee00f67ea_0_9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g10ee00f67ea_0_9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g10ee00f67ea_0_9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g10ee00f67ea_0_9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g10ee00f67ea_0_10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e1a9588eba_0_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ge1a9588eba_0_0"/>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ge1a9588eba_0_0"/>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ge1a9588eba_0_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ge1a9588eba_0_0"/>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ge1a9588eba_0_0"/>
          <p:cNvGrpSpPr/>
          <p:nvPr/>
        </p:nvGrpSpPr>
        <p:grpSpPr>
          <a:xfrm>
            <a:off x="6593" y="10"/>
            <a:ext cx="175500" cy="709221"/>
            <a:chOff x="6593" y="10"/>
            <a:chExt cx="175500" cy="709221"/>
          </a:xfrm>
        </p:grpSpPr>
        <p:sp>
          <p:nvSpPr>
            <p:cNvPr id="12" name="Google Shape;12;ge1a9588eba_0_0"/>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ge1a9588eba_0_0"/>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g10ee00f67ea_0_6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g10ee00f67ea_0_6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g10ee00f67ea_0_6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g10ee00f67ea_0_6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g10ee00f67ea_0_6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g10ee00f67ea_0_62"/>
          <p:cNvGrpSpPr/>
          <p:nvPr/>
        </p:nvGrpSpPr>
        <p:grpSpPr>
          <a:xfrm>
            <a:off x="6593" y="10"/>
            <a:ext cx="175500" cy="709221"/>
            <a:chOff x="6593" y="10"/>
            <a:chExt cx="175500" cy="709221"/>
          </a:xfrm>
        </p:grpSpPr>
        <p:sp>
          <p:nvSpPr>
            <p:cNvPr id="60" name="Google Shape;60;g10ee00f67ea_0_6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10ee00f67ea_0_6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hyperlink" Target="https://huggingface.co/spaces/ccy2k/superkart-salespred"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12508d39905_0_224"/>
          <p:cNvSpPr txBox="1">
            <a:spLocks noGrp="1"/>
          </p:cNvSpPr>
          <p:nvPr>
            <p:ph type="ctrTitle"/>
          </p:nvPr>
        </p:nvSpPr>
        <p:spPr>
          <a:xfrm>
            <a:off x="1158150" y="1372043"/>
            <a:ext cx="6827700" cy="581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dirty="0">
                <a:solidFill>
                  <a:srgbClr val="1974D2"/>
                </a:solidFill>
              </a:rPr>
              <a:t>SuperKart Project</a:t>
            </a:r>
            <a:endParaRPr sz="3600" dirty="0">
              <a:solidFill>
                <a:srgbClr val="1974D2"/>
              </a:solidFill>
            </a:endParaRPr>
          </a:p>
        </p:txBody>
      </p:sp>
      <p:sp>
        <p:nvSpPr>
          <p:cNvPr id="106" name="Google Shape;106;g12508d39905_0_224"/>
          <p:cNvSpPr txBox="1">
            <a:spLocks noGrp="1"/>
          </p:cNvSpPr>
          <p:nvPr>
            <p:ph type="ctrTitle"/>
          </p:nvPr>
        </p:nvSpPr>
        <p:spPr>
          <a:xfrm>
            <a:off x="1158150" y="2452043"/>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000" b="0" dirty="0">
                <a:solidFill>
                  <a:srgbClr val="1974D2"/>
                </a:solidFill>
              </a:rPr>
              <a:t>Post Graduate Program in Artifical</a:t>
            </a:r>
            <a:br>
              <a:rPr lang="en" sz="3000" b="0" dirty="0">
                <a:solidFill>
                  <a:srgbClr val="1974D2"/>
                </a:solidFill>
              </a:rPr>
            </a:br>
            <a:r>
              <a:rPr lang="en" sz="3000" b="0" dirty="0">
                <a:solidFill>
                  <a:srgbClr val="1974D2"/>
                </a:solidFill>
              </a:rPr>
              <a:t>Intelligence and Machine Learning</a:t>
            </a:r>
            <a:endParaRPr sz="3000" b="0" dirty="0">
              <a:solidFill>
                <a:srgbClr val="1974D2"/>
              </a:solidFill>
            </a:endParaRPr>
          </a:p>
        </p:txBody>
      </p:sp>
      <p:sp>
        <p:nvSpPr>
          <p:cNvPr id="4" name="Google Shape;107;p23">
            <a:extLst>
              <a:ext uri="{FF2B5EF4-FFF2-40B4-BE49-F238E27FC236}">
                <a16:creationId xmlns:a16="http://schemas.microsoft.com/office/drawing/2014/main" id="{6C969D27-884D-EC8E-F87E-4B986B662CAF}"/>
              </a:ext>
            </a:extLst>
          </p:cNvPr>
          <p:cNvSpPr txBox="1">
            <a:spLocks/>
          </p:cNvSpPr>
          <p:nvPr/>
        </p:nvSpPr>
        <p:spPr>
          <a:xfrm>
            <a:off x="1158150" y="3321630"/>
            <a:ext cx="6827700" cy="498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0" indent="0">
              <a:buClr>
                <a:srgbClr val="0E39A9"/>
              </a:buClr>
              <a:buSzPts val="4800"/>
              <a:buFont typeface="Nunito"/>
              <a:buNone/>
              <a:defRPr sz="3000">
                <a:solidFill>
                  <a:srgbClr val="1974D2"/>
                </a:solidFill>
                <a:latin typeface="Nunito"/>
                <a:ea typeface="Nunito"/>
                <a:cs typeface="Nunito"/>
                <a:sym typeface="Nunito"/>
              </a:defRPr>
            </a:lvl1pPr>
            <a:lvl2pPr>
              <a:buClr>
                <a:srgbClr val="0E39A9"/>
              </a:buClr>
              <a:buSzPts val="4800"/>
              <a:buFont typeface="Nunito"/>
              <a:buNone/>
              <a:defRPr sz="4800">
                <a:solidFill>
                  <a:srgbClr val="0E39A9"/>
                </a:solidFill>
                <a:latin typeface="Nunito"/>
                <a:ea typeface="Nunito"/>
                <a:cs typeface="Nunito"/>
                <a:sym typeface="Nunito"/>
              </a:defRPr>
            </a:lvl2pPr>
            <a:lvl3pPr>
              <a:buClr>
                <a:srgbClr val="0E39A9"/>
              </a:buClr>
              <a:buSzPts val="4800"/>
              <a:buFont typeface="Nunito"/>
              <a:buNone/>
              <a:defRPr sz="4800">
                <a:solidFill>
                  <a:srgbClr val="0E39A9"/>
                </a:solidFill>
                <a:latin typeface="Nunito"/>
                <a:ea typeface="Nunito"/>
                <a:cs typeface="Nunito"/>
                <a:sym typeface="Nunito"/>
              </a:defRPr>
            </a:lvl3pPr>
            <a:lvl4pPr>
              <a:buClr>
                <a:srgbClr val="0E39A9"/>
              </a:buClr>
              <a:buSzPts val="4800"/>
              <a:buFont typeface="Nunito"/>
              <a:buNone/>
              <a:defRPr sz="4800">
                <a:solidFill>
                  <a:srgbClr val="0E39A9"/>
                </a:solidFill>
                <a:latin typeface="Nunito"/>
                <a:ea typeface="Nunito"/>
                <a:cs typeface="Nunito"/>
                <a:sym typeface="Nunito"/>
              </a:defRPr>
            </a:lvl4pPr>
            <a:lvl5pPr>
              <a:buClr>
                <a:srgbClr val="0E39A9"/>
              </a:buClr>
              <a:buSzPts val="4800"/>
              <a:buFont typeface="Nunito"/>
              <a:buNone/>
              <a:defRPr sz="4800">
                <a:solidFill>
                  <a:srgbClr val="0E39A9"/>
                </a:solidFill>
                <a:latin typeface="Nunito"/>
                <a:ea typeface="Nunito"/>
                <a:cs typeface="Nunito"/>
                <a:sym typeface="Nunito"/>
              </a:defRPr>
            </a:lvl5pPr>
            <a:lvl6pPr>
              <a:buClr>
                <a:srgbClr val="0E39A9"/>
              </a:buClr>
              <a:buSzPts val="4800"/>
              <a:buFont typeface="Nunito"/>
              <a:buNone/>
              <a:defRPr sz="4800">
                <a:solidFill>
                  <a:srgbClr val="0E39A9"/>
                </a:solidFill>
                <a:latin typeface="Nunito"/>
                <a:ea typeface="Nunito"/>
                <a:cs typeface="Nunito"/>
                <a:sym typeface="Nunito"/>
              </a:defRPr>
            </a:lvl6pPr>
            <a:lvl7pPr>
              <a:buClr>
                <a:srgbClr val="0E39A9"/>
              </a:buClr>
              <a:buSzPts val="4800"/>
              <a:buFont typeface="Nunito"/>
              <a:buNone/>
              <a:defRPr sz="4800">
                <a:solidFill>
                  <a:srgbClr val="0E39A9"/>
                </a:solidFill>
                <a:latin typeface="Nunito"/>
                <a:ea typeface="Nunito"/>
                <a:cs typeface="Nunito"/>
                <a:sym typeface="Nunito"/>
              </a:defRPr>
            </a:lvl7pPr>
            <a:lvl8pPr>
              <a:buClr>
                <a:srgbClr val="0E39A9"/>
              </a:buClr>
              <a:buSzPts val="4800"/>
              <a:buFont typeface="Nunito"/>
              <a:buNone/>
              <a:defRPr sz="4800">
                <a:solidFill>
                  <a:srgbClr val="0E39A9"/>
                </a:solidFill>
                <a:latin typeface="Nunito"/>
                <a:ea typeface="Nunito"/>
                <a:cs typeface="Nunito"/>
                <a:sym typeface="Nunito"/>
              </a:defRPr>
            </a:lvl8pPr>
            <a:lvl9pPr>
              <a:buClr>
                <a:srgbClr val="0E39A9"/>
              </a:buClr>
              <a:buSzPts val="4800"/>
              <a:buFont typeface="Nunito"/>
              <a:buNone/>
              <a:defRPr sz="4800">
                <a:solidFill>
                  <a:srgbClr val="0E39A9"/>
                </a:solidFill>
                <a:latin typeface="Nunito"/>
                <a:ea typeface="Nunito"/>
                <a:cs typeface="Nunito"/>
                <a:sym typeface="Nunito"/>
              </a:defRPr>
            </a:lvl9pPr>
          </a:lstStyle>
          <a:p>
            <a:endParaRPr lang="en" sz="1600" dirty="0"/>
          </a:p>
          <a:p>
            <a:endParaRPr lang="en" sz="1600" dirty="0"/>
          </a:p>
          <a:p>
            <a:r>
              <a:rPr lang="en" sz="1600" dirty="0"/>
              <a:t>June 6, 2026</a:t>
            </a:r>
          </a:p>
        </p:txBody>
      </p:sp>
      <p:sp>
        <p:nvSpPr>
          <p:cNvPr id="5" name="Google Shape;107;p23">
            <a:extLst>
              <a:ext uri="{FF2B5EF4-FFF2-40B4-BE49-F238E27FC236}">
                <a16:creationId xmlns:a16="http://schemas.microsoft.com/office/drawing/2014/main" id="{56047F1F-486D-4876-6B4E-84117DC239BC}"/>
              </a:ext>
            </a:extLst>
          </p:cNvPr>
          <p:cNvSpPr txBox="1">
            <a:spLocks/>
          </p:cNvSpPr>
          <p:nvPr/>
        </p:nvSpPr>
        <p:spPr>
          <a:xfrm>
            <a:off x="1158150" y="2950548"/>
            <a:ext cx="6827700" cy="498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E39A9"/>
              </a:buClr>
              <a:buSzPts val="4800"/>
              <a:buFont typeface="Nunito"/>
              <a:buNone/>
              <a:defRPr sz="4800" b="1" i="0" u="none" strike="noStrike" cap="none">
                <a:solidFill>
                  <a:srgbClr val="0E39A9"/>
                </a:solidFill>
                <a:latin typeface="Nunito"/>
                <a:ea typeface="Nunito"/>
                <a:cs typeface="Nunito"/>
                <a:sym typeface="Nunito"/>
              </a:defRPr>
            </a:lvl1pPr>
            <a:lvl2pPr marR="0" lvl="1"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2pPr>
            <a:lvl3pPr marR="0" lvl="2"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3pPr>
            <a:lvl4pPr marR="0" lvl="3"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4pPr>
            <a:lvl5pPr marR="0" lvl="4"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5pPr>
            <a:lvl6pPr marR="0" lvl="5"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6pPr>
            <a:lvl7pPr marR="0" lvl="6"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7pPr>
            <a:lvl8pPr marR="0" lvl="7"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8pPr>
            <a:lvl9pPr marR="0" lvl="8"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9pPr>
          </a:lstStyle>
          <a:p>
            <a:endParaRPr lang="en" sz="1600" b="0" dirty="0"/>
          </a:p>
          <a:p>
            <a:endParaRPr lang="en" sz="1600" b="0" dirty="0"/>
          </a:p>
          <a:p>
            <a:r>
              <a:rPr lang="en" sz="1600" b="0" dirty="0">
                <a:solidFill>
                  <a:srgbClr val="1974D2"/>
                </a:solidFill>
              </a:rPr>
              <a:t>Prepared by Christian Caceres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Contents / Agenda</a:t>
            </a:r>
            <a:endParaRPr>
              <a:solidFill>
                <a:srgbClr val="1974D2"/>
              </a:solidFill>
            </a:endParaRPr>
          </a:p>
        </p:txBody>
      </p:sp>
      <p:sp>
        <p:nvSpPr>
          <p:cNvPr id="113" name="Google Shape;113;p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spcBef>
                <a:spcPts val="1000"/>
              </a:spcBef>
              <a:spcAft>
                <a:spcPts val="0"/>
              </a:spcAft>
              <a:buClr>
                <a:srgbClr val="000000"/>
              </a:buClr>
              <a:buSzPts val="1400"/>
              <a:buChar char="●"/>
            </a:pPr>
            <a:r>
              <a:rPr lang="en" sz="1400" dirty="0">
                <a:solidFill>
                  <a:srgbClr val="000000"/>
                </a:solidFill>
              </a:rPr>
              <a:t>Executive Summary </a:t>
            </a:r>
            <a:endParaRPr sz="1400" dirty="0">
              <a:solidFill>
                <a:srgbClr val="000000"/>
              </a:solidFill>
            </a:endParaRPr>
          </a:p>
          <a:p>
            <a:pPr marL="457200" lvl="0" indent="-317500" algn="l" rtl="0">
              <a:spcBef>
                <a:spcPts val="1000"/>
              </a:spcBef>
              <a:spcAft>
                <a:spcPts val="0"/>
              </a:spcAft>
              <a:buClr>
                <a:srgbClr val="000000"/>
              </a:buClr>
              <a:buSzPts val="1400"/>
              <a:buChar char="●"/>
            </a:pPr>
            <a:r>
              <a:rPr lang="en" sz="1400" dirty="0">
                <a:solidFill>
                  <a:srgbClr val="000000"/>
                </a:solidFill>
              </a:rPr>
              <a:t>Business Problem Overview and Solution Approach</a:t>
            </a:r>
            <a:endParaRPr sz="1400" dirty="0">
              <a:solidFill>
                <a:srgbClr val="000000"/>
              </a:solidFill>
            </a:endParaRPr>
          </a:p>
          <a:p>
            <a:pPr marL="457200" lvl="0" indent="-317500" algn="l" rtl="0">
              <a:spcBef>
                <a:spcPts val="1000"/>
              </a:spcBef>
              <a:spcAft>
                <a:spcPts val="0"/>
              </a:spcAft>
              <a:buClr>
                <a:srgbClr val="000000"/>
              </a:buClr>
              <a:buSzPts val="1400"/>
              <a:buChar char="●"/>
            </a:pPr>
            <a:r>
              <a:rPr lang="en" sz="1400" dirty="0">
                <a:solidFill>
                  <a:srgbClr val="000000"/>
                </a:solidFill>
              </a:rPr>
              <a:t>Data Overview</a:t>
            </a:r>
            <a:endParaRPr sz="1400" dirty="0">
              <a:solidFill>
                <a:srgbClr val="000000"/>
              </a:solidFill>
            </a:endParaRPr>
          </a:p>
          <a:p>
            <a:pPr marL="457200" lvl="0" indent="-317500" algn="l" rtl="0">
              <a:spcBef>
                <a:spcPts val="1000"/>
              </a:spcBef>
              <a:spcAft>
                <a:spcPts val="0"/>
              </a:spcAft>
              <a:buClr>
                <a:srgbClr val="000000"/>
              </a:buClr>
              <a:buSzPts val="1400"/>
              <a:buChar char="●"/>
            </a:pPr>
            <a:r>
              <a:rPr lang="en" sz="1400" dirty="0">
                <a:solidFill>
                  <a:srgbClr val="000000"/>
                </a:solidFill>
              </a:rPr>
              <a:t>EDA Results</a:t>
            </a:r>
            <a:endParaRPr sz="1400" dirty="0">
              <a:solidFill>
                <a:srgbClr val="000000"/>
              </a:solidFill>
            </a:endParaRPr>
          </a:p>
          <a:p>
            <a:pPr marL="457200" lvl="0" indent="-317500" algn="l" rtl="0">
              <a:spcBef>
                <a:spcPts val="1000"/>
              </a:spcBef>
              <a:spcAft>
                <a:spcPts val="0"/>
              </a:spcAft>
              <a:buClr>
                <a:srgbClr val="000000"/>
              </a:buClr>
              <a:buSzPts val="1400"/>
              <a:buChar char="●"/>
            </a:pPr>
            <a:r>
              <a:rPr lang="en" sz="1400" dirty="0">
                <a:solidFill>
                  <a:srgbClr val="000000"/>
                </a:solidFill>
              </a:rPr>
              <a:t>Data Preprocessing </a:t>
            </a:r>
            <a:endParaRPr sz="1400" dirty="0">
              <a:solidFill>
                <a:srgbClr val="000000"/>
              </a:solidFill>
            </a:endParaRPr>
          </a:p>
          <a:p>
            <a:pPr marL="457200" lvl="0" indent="-317500" algn="l" rtl="0">
              <a:spcBef>
                <a:spcPts val="1000"/>
              </a:spcBef>
              <a:spcAft>
                <a:spcPts val="0"/>
              </a:spcAft>
              <a:buClr>
                <a:srgbClr val="000000"/>
              </a:buClr>
              <a:buSzPts val="1400"/>
              <a:buChar char="●"/>
            </a:pPr>
            <a:r>
              <a:rPr lang="en" sz="1400" dirty="0">
                <a:solidFill>
                  <a:srgbClr val="000000"/>
                </a:solidFill>
              </a:rPr>
              <a:t>Model </a:t>
            </a:r>
            <a:r>
              <a:rPr lang="en-US" sz="1400" dirty="0">
                <a:solidFill>
                  <a:srgbClr val="000000"/>
                </a:solidFill>
              </a:rPr>
              <a:t>Building</a:t>
            </a:r>
            <a:endParaRPr sz="1400" dirty="0">
              <a:solidFill>
                <a:srgbClr val="000000"/>
              </a:solidFill>
            </a:endParaRPr>
          </a:p>
          <a:p>
            <a:pPr marL="457200" lvl="0" indent="-317500" algn="l" rtl="0">
              <a:spcBef>
                <a:spcPts val="1000"/>
              </a:spcBef>
              <a:spcAft>
                <a:spcPts val="0"/>
              </a:spcAft>
              <a:buClr>
                <a:srgbClr val="000000"/>
              </a:buClr>
              <a:buSzPts val="1400"/>
              <a:buChar char="●"/>
            </a:pPr>
            <a:r>
              <a:rPr lang="en-US" sz="1400" dirty="0">
                <a:solidFill>
                  <a:srgbClr val="000000"/>
                </a:solidFill>
              </a:rPr>
              <a:t>Model Performance Summary</a:t>
            </a:r>
            <a:endParaRPr sz="1400" dirty="0">
              <a:solidFill>
                <a:srgbClr val="000000"/>
              </a:solidFill>
            </a:endParaRPr>
          </a:p>
          <a:p>
            <a:pPr marL="457200" lvl="0" indent="-317500" algn="l" rtl="0">
              <a:spcBef>
                <a:spcPts val="1000"/>
              </a:spcBef>
              <a:spcAft>
                <a:spcPts val="0"/>
              </a:spcAft>
              <a:buClr>
                <a:srgbClr val="000000"/>
              </a:buClr>
              <a:buSzPts val="1400"/>
              <a:buChar char="●"/>
            </a:pPr>
            <a:r>
              <a:rPr lang="en" sz="1400" dirty="0">
                <a:solidFill>
                  <a:srgbClr val="000000"/>
                </a:solidFill>
              </a:rPr>
              <a:t>Deployment</a:t>
            </a:r>
          </a:p>
          <a:p>
            <a:pPr marL="457200" lvl="0" indent="-317500" algn="l" rtl="0">
              <a:spcBef>
                <a:spcPts val="1000"/>
              </a:spcBef>
              <a:spcAft>
                <a:spcPts val="0"/>
              </a:spcAft>
              <a:buClr>
                <a:srgbClr val="000000"/>
              </a:buClr>
              <a:buSzPts val="1400"/>
              <a:buChar char="●"/>
            </a:pPr>
            <a:r>
              <a:rPr lang="en" sz="1400" dirty="0">
                <a:solidFill>
                  <a:srgbClr val="000000"/>
                </a:solidFill>
              </a:rPr>
              <a:t>Conclusions and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4" name="Google Shape;170;p38">
            <a:extLst>
              <a:ext uri="{FF2B5EF4-FFF2-40B4-BE49-F238E27FC236}">
                <a16:creationId xmlns:a16="http://schemas.microsoft.com/office/drawing/2014/main" id="{F06370BD-810D-2BDC-2226-1EDE2D76E16D}"/>
              </a:ext>
            </a:extLst>
          </p:cNvPr>
          <p:cNvSpPr txBox="1">
            <a:spLocks noGrp="1"/>
          </p:cNvSpPr>
          <p:nvPr>
            <p:ph type="body" idx="1"/>
          </p:nvPr>
        </p:nvSpPr>
        <p:spPr>
          <a:xfrm>
            <a:off x="189850" y="861975"/>
            <a:ext cx="8738900" cy="3706800"/>
          </a:xfrm>
          <a:prstGeom prst="rect">
            <a:avLst/>
          </a:prstGeom>
          <a:noFill/>
          <a:ln>
            <a:noFill/>
          </a:ln>
        </p:spPr>
        <p:txBody>
          <a:bodyPr spcFirstLastPara="1" wrap="square" lIns="91425" tIns="91425" rIns="91425" bIns="91425" anchor="t" anchorCtr="0">
            <a:noAutofit/>
          </a:bodyPr>
          <a:lstStyle/>
          <a:p>
            <a:pPr marL="133350" indent="0">
              <a:buNone/>
            </a:pPr>
            <a:r>
              <a:rPr lang="en-US" sz="1100" dirty="0"/>
              <a:t>An exploratory data analysis (EDA) was conducted to identify the key factors influencing </a:t>
            </a:r>
            <a:r>
              <a:rPr lang="en-US" sz="1100" dirty="0" err="1"/>
              <a:t>SuperKart's</a:t>
            </a:r>
            <a:r>
              <a:rPr lang="en-US" sz="1100" dirty="0"/>
              <a:t> sales performance across products, stores, and regions. The analysis revealed that product attributes, store characteristics, and location-based factors significantly impact sales outcomes. Variables such as product visibility, weight, MRP, outlet type, outlet size, and outlet location tier emerged as important drivers of revenue, while notable sales variations across store formats highlighted opportunities for more targeted inventory and merchandising strategies.</a:t>
            </a:r>
          </a:p>
          <a:p>
            <a:pPr marL="133350" indent="0">
              <a:buNone/>
            </a:pPr>
            <a:endParaRPr lang="en-US" sz="1100" dirty="0"/>
          </a:p>
          <a:p>
            <a:pPr marL="133350" indent="0">
              <a:buNone/>
            </a:pPr>
            <a:r>
              <a:rPr lang="en-US" sz="1100" dirty="0"/>
              <a:t>To address these business challenges, multiple machine learning regression models were developed and evaluated to forecast product-store sales revenue. Model performance was assessed using industry-standard metrics, including RMSE, MAE, and R², to ensure both predictive accuracy and generalization on unseen data. Among the models tested, the Tuned </a:t>
            </a:r>
            <a:r>
              <a:rPr lang="en-US" sz="1100" dirty="0" err="1"/>
              <a:t>XGBoost</a:t>
            </a:r>
            <a:r>
              <a:rPr lang="en-US" sz="1100" dirty="0"/>
              <a:t> Regressor delivered the strongest overall performance, achieving the lowest prediction error and highest predictive accuracy. Based on its superior results, the Tuned </a:t>
            </a:r>
            <a:r>
              <a:rPr lang="en-US" sz="1100" dirty="0" err="1"/>
              <a:t>XGBoost</a:t>
            </a:r>
            <a:r>
              <a:rPr lang="en-US" sz="1100" dirty="0"/>
              <a:t> Regressor was selected as the final model for deployment. The deployed solution provides </a:t>
            </a:r>
            <a:r>
              <a:rPr lang="en-US" sz="1100" dirty="0" err="1"/>
              <a:t>SuperKart</a:t>
            </a:r>
            <a:r>
              <a:rPr lang="en-US" sz="1100" dirty="0"/>
              <a:t> with a scalable, data-driven forecasting capability that supports inventory optimization, demand planning, and more informed business decision-making across its retail network.</a:t>
            </a:r>
          </a:p>
        </p:txBody>
      </p:sp>
      <p:sp>
        <p:nvSpPr>
          <p:cNvPr id="5" name="Google Shape;130;g12508d39905_0_54">
            <a:extLst>
              <a:ext uri="{FF2B5EF4-FFF2-40B4-BE49-F238E27FC236}">
                <a16:creationId xmlns:a16="http://schemas.microsoft.com/office/drawing/2014/main" id="{30945D09-ED0C-F86E-5742-D08701221FA2}"/>
              </a:ext>
            </a:extLst>
          </p:cNvPr>
          <p:cNvSpPr txBox="1">
            <a:spLocks/>
          </p:cNvSpPr>
          <p:nvPr/>
        </p:nvSpPr>
        <p:spPr>
          <a:xfrm>
            <a:off x="420850" y="196851"/>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Executive </a:t>
            </a:r>
            <a:r>
              <a:rPr lang="en-US" dirty="0">
                <a:solidFill>
                  <a:srgbClr val="1974D2"/>
                </a:solidFill>
              </a:rPr>
              <a:t>Summary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4" name="Google Shape;170;p38">
            <a:extLst>
              <a:ext uri="{FF2B5EF4-FFF2-40B4-BE49-F238E27FC236}">
                <a16:creationId xmlns:a16="http://schemas.microsoft.com/office/drawing/2014/main" id="{D4CEEB9C-8AFD-7F7A-8112-15550173DB67}"/>
              </a:ext>
            </a:extLst>
          </p:cNvPr>
          <p:cNvSpPr txBox="1">
            <a:spLocks noGrp="1"/>
          </p:cNvSpPr>
          <p:nvPr>
            <p:ph type="body" idx="1"/>
          </p:nvPr>
        </p:nvSpPr>
        <p:spPr>
          <a:xfrm>
            <a:off x="202550" y="673898"/>
            <a:ext cx="8629800" cy="4272751"/>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US" sz="1600" b="1" dirty="0">
                <a:solidFill>
                  <a:srgbClr val="000000"/>
                </a:solidFill>
              </a:rPr>
              <a:t>Problem Overview:</a:t>
            </a:r>
          </a:p>
          <a:p>
            <a:pPr marL="133350" indent="0">
              <a:buNone/>
            </a:pPr>
            <a:r>
              <a:rPr lang="en-US" sz="1100" dirty="0" err="1"/>
              <a:t>SuperKart</a:t>
            </a:r>
            <a:r>
              <a:rPr lang="en-US" sz="1100" dirty="0"/>
              <a:t> operates across multiple stores, regions, and product categories, making accurate sales forecasting critical for inventory management and business planning. Variations in demand, products, pricing, and store characteristics make manual forecasting unreliable and difficult to scale:</a:t>
            </a:r>
          </a:p>
          <a:p>
            <a:pPr marL="133350" indent="0">
              <a:buNone/>
            </a:pPr>
            <a:endParaRPr lang="en-US" sz="400" dirty="0"/>
          </a:p>
          <a:p>
            <a:pPr marL="133350" indent="0">
              <a:buNone/>
            </a:pPr>
            <a:r>
              <a:rPr lang="en-US" sz="1100" b="1" dirty="0"/>
              <a:t>Key Challenges:</a:t>
            </a:r>
          </a:p>
          <a:p>
            <a:pPr>
              <a:buSzPct val="90000"/>
            </a:pPr>
            <a:r>
              <a:rPr lang="en-US" sz="1100" dirty="0"/>
              <a:t>Demand variability across stores and products. </a:t>
            </a:r>
          </a:p>
          <a:p>
            <a:pPr>
              <a:buSzPct val="90000"/>
            </a:pPr>
            <a:r>
              <a:rPr lang="en-US" sz="1100" dirty="0"/>
              <a:t>Inventory inefficiencies, including stockouts and overstocking. </a:t>
            </a:r>
          </a:p>
          <a:p>
            <a:pPr>
              <a:buSzPct val="90000"/>
            </a:pPr>
            <a:r>
              <a:rPr lang="en-US" sz="1100" dirty="0"/>
              <a:t>Forecasting methods that do not scale across regions.</a:t>
            </a:r>
          </a:p>
          <a:p>
            <a:pPr marL="133350" indent="0">
              <a:buSzPct val="100000"/>
              <a:buNone/>
            </a:pPr>
            <a:endParaRPr lang="en-US" sz="500" dirty="0"/>
          </a:p>
          <a:p>
            <a:pPr>
              <a:buSzPct val="100000"/>
              <a:buFont typeface="Wingdings" panose="05000000000000000000" pitchFamily="2" charset="2"/>
              <a:buChar char="§"/>
            </a:pPr>
            <a:endParaRPr lang="en-US" sz="300" dirty="0"/>
          </a:p>
          <a:p>
            <a:pPr marL="133350" indent="0">
              <a:buSzPct val="100000"/>
              <a:buNone/>
            </a:pPr>
            <a:r>
              <a:rPr lang="en-US" sz="1600" b="1" dirty="0">
                <a:solidFill>
                  <a:srgbClr val="000000"/>
                </a:solidFill>
              </a:rPr>
              <a:t>Solution Approach:</a:t>
            </a:r>
          </a:p>
          <a:p>
            <a:pPr marL="133350" indent="0">
              <a:buSzPct val="100000"/>
              <a:buNone/>
            </a:pPr>
            <a:endParaRPr lang="en-US" sz="200" b="1" dirty="0">
              <a:solidFill>
                <a:srgbClr val="000000"/>
              </a:solidFill>
            </a:endParaRPr>
          </a:p>
          <a:p>
            <a:pPr marL="133350" indent="0">
              <a:buNone/>
            </a:pPr>
            <a:r>
              <a:rPr lang="en-US" sz="1100" dirty="0"/>
              <a:t>A machine learning–based sales forecasting solution was developed to predict product-store sales revenue using historical data, product attributes, and store characteristics. The project included data preparation, feature engineering, and Exploratory Data Analysis (EDA) to identify key sales drivers and patterns.</a:t>
            </a:r>
          </a:p>
          <a:p>
            <a:pPr marL="133350" indent="0">
              <a:buNone/>
            </a:pPr>
            <a:endParaRPr lang="en-US" sz="400" dirty="0"/>
          </a:p>
          <a:p>
            <a:pPr marL="133350" indent="0">
              <a:buNone/>
            </a:pPr>
            <a:r>
              <a:rPr lang="en-US" sz="1100" dirty="0"/>
              <a:t>Multiple regression models were built, evaluated, and optimized to determine the best-performing forecasting model. The selected model was then deployed through a backend API and user-friendly frontend application, enabling business users to generate accurate sales forecasts and support inventory, supply chain, and operational planning across </a:t>
            </a:r>
            <a:r>
              <a:rPr lang="en-US" sz="1100" dirty="0" err="1"/>
              <a:t>SuperKart</a:t>
            </a:r>
            <a:r>
              <a:rPr lang="en-US" sz="1100" dirty="0"/>
              <a:t> stores.</a:t>
            </a:r>
          </a:p>
          <a:p>
            <a:pPr marL="133350" indent="0">
              <a:buSzPct val="100000"/>
              <a:buNone/>
            </a:pPr>
            <a:endParaRPr lang="en-US" sz="1600" b="1" dirty="0">
              <a:solidFill>
                <a:srgbClr val="000000"/>
              </a:solidFill>
            </a:endParaRPr>
          </a:p>
          <a:p>
            <a:pPr marL="139700" lvl="0" indent="0" algn="l" rtl="0">
              <a:lnSpc>
                <a:spcPct val="115000"/>
              </a:lnSpc>
              <a:spcBef>
                <a:spcPts val="1000"/>
              </a:spcBef>
              <a:spcAft>
                <a:spcPts val="0"/>
              </a:spcAft>
              <a:buClr>
                <a:srgbClr val="000000"/>
              </a:buClr>
              <a:buSzPts val="1400"/>
              <a:buNone/>
            </a:pPr>
            <a:endParaRPr sz="1400" dirty="0">
              <a:solidFill>
                <a:srgbClr val="000000"/>
              </a:solidFill>
            </a:endParaRPr>
          </a:p>
        </p:txBody>
      </p:sp>
      <p:sp>
        <p:nvSpPr>
          <p:cNvPr id="5" name="Google Shape;130;g12508d39905_0_54">
            <a:extLst>
              <a:ext uri="{FF2B5EF4-FFF2-40B4-BE49-F238E27FC236}">
                <a16:creationId xmlns:a16="http://schemas.microsoft.com/office/drawing/2014/main" id="{B5B0415C-DD8E-8069-F3E0-5EC5234D82B4}"/>
              </a:ext>
            </a:extLst>
          </p:cNvPr>
          <p:cNvSpPr txBox="1">
            <a:spLocks/>
          </p:cNvSpPr>
          <p:nvPr/>
        </p:nvSpPr>
        <p:spPr>
          <a:xfrm>
            <a:off x="420850" y="196851"/>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Business Problem Overview and Solution Approach</a:t>
            </a:r>
            <a:br>
              <a:rPr lang="en-US" dirty="0">
                <a:solidFill>
                  <a:srgbClr val="1974D2"/>
                </a:solidFill>
              </a:rPr>
            </a:br>
            <a:endParaRPr lang="en-US" dirty="0">
              <a:solidFill>
                <a:srgbClr val="1974D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7E3841E4-C73F-6A48-D3AE-807CB31C5AA9}"/>
            </a:ext>
          </a:extLst>
        </p:cNvPr>
        <p:cNvGrpSpPr/>
        <p:nvPr/>
      </p:nvGrpSpPr>
      <p:grpSpPr>
        <a:xfrm>
          <a:off x="0" y="0"/>
          <a:ext cx="0" cy="0"/>
          <a:chOff x="0" y="0"/>
          <a:chExt cx="0" cy="0"/>
        </a:xfrm>
      </p:grpSpPr>
      <p:sp>
        <p:nvSpPr>
          <p:cNvPr id="4" name="Google Shape;130;g12508d39905_0_54">
            <a:extLst>
              <a:ext uri="{FF2B5EF4-FFF2-40B4-BE49-F238E27FC236}">
                <a16:creationId xmlns:a16="http://schemas.microsoft.com/office/drawing/2014/main" id="{A0C543E1-5BE9-F7B1-6985-2F4057083F7F}"/>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Data Overview</a:t>
            </a:r>
            <a:br>
              <a:rPr lang="en-US" dirty="0">
                <a:solidFill>
                  <a:srgbClr val="1974D2"/>
                </a:solidFill>
              </a:rPr>
            </a:br>
            <a:endParaRPr lang="en-US" dirty="0">
              <a:solidFill>
                <a:srgbClr val="1974D2"/>
              </a:solidFill>
            </a:endParaRPr>
          </a:p>
        </p:txBody>
      </p:sp>
      <p:pic>
        <p:nvPicPr>
          <p:cNvPr id="2" name="Picture 1">
            <a:extLst>
              <a:ext uri="{FF2B5EF4-FFF2-40B4-BE49-F238E27FC236}">
                <a16:creationId xmlns:a16="http://schemas.microsoft.com/office/drawing/2014/main" id="{BA2BB10B-F853-A39D-5FAE-797135D4DE80}"/>
              </a:ext>
            </a:extLst>
          </p:cNvPr>
          <p:cNvPicPr>
            <a:picLocks noChangeAspect="1"/>
          </p:cNvPicPr>
          <p:nvPr/>
        </p:nvPicPr>
        <p:blipFill>
          <a:blip r:embed="rId3"/>
          <a:stretch>
            <a:fillRect/>
          </a:stretch>
        </p:blipFill>
        <p:spPr>
          <a:xfrm>
            <a:off x="712265" y="724199"/>
            <a:ext cx="3023206" cy="2044008"/>
          </a:xfrm>
          <a:prstGeom prst="rect">
            <a:avLst/>
          </a:prstGeom>
          <a:ln>
            <a:solidFill>
              <a:schemeClr val="tx1"/>
            </a:solidFill>
          </a:ln>
        </p:spPr>
      </p:pic>
      <p:pic>
        <p:nvPicPr>
          <p:cNvPr id="3" name="Picture 2">
            <a:extLst>
              <a:ext uri="{FF2B5EF4-FFF2-40B4-BE49-F238E27FC236}">
                <a16:creationId xmlns:a16="http://schemas.microsoft.com/office/drawing/2014/main" id="{D0A84E04-1D82-2136-AD23-80FB30234F0B}"/>
              </a:ext>
            </a:extLst>
          </p:cNvPr>
          <p:cNvPicPr>
            <a:picLocks noChangeAspect="1"/>
          </p:cNvPicPr>
          <p:nvPr/>
        </p:nvPicPr>
        <p:blipFill>
          <a:blip r:embed="rId4"/>
          <a:stretch>
            <a:fillRect/>
          </a:stretch>
        </p:blipFill>
        <p:spPr>
          <a:xfrm>
            <a:off x="161014" y="2977003"/>
            <a:ext cx="4339424" cy="1601263"/>
          </a:xfrm>
          <a:prstGeom prst="rect">
            <a:avLst/>
          </a:prstGeom>
          <a:ln>
            <a:solidFill>
              <a:schemeClr val="tx1"/>
            </a:solidFill>
          </a:ln>
        </p:spPr>
      </p:pic>
      <p:sp>
        <p:nvSpPr>
          <p:cNvPr id="5" name="TextBox 4">
            <a:extLst>
              <a:ext uri="{FF2B5EF4-FFF2-40B4-BE49-F238E27FC236}">
                <a16:creationId xmlns:a16="http://schemas.microsoft.com/office/drawing/2014/main" id="{01AE7621-297C-E2B9-D7CA-B6175B32CA9B}"/>
              </a:ext>
            </a:extLst>
          </p:cNvPr>
          <p:cNvSpPr txBox="1"/>
          <p:nvPr/>
        </p:nvSpPr>
        <p:spPr>
          <a:xfrm>
            <a:off x="4931598" y="774788"/>
            <a:ext cx="3961150" cy="1508105"/>
          </a:xfrm>
          <a:prstGeom prst="rect">
            <a:avLst/>
          </a:prstGeom>
          <a:noFill/>
        </p:spPr>
        <p:txBody>
          <a:bodyPr wrap="square" rtlCol="0">
            <a:spAutoFit/>
          </a:bodyPr>
          <a:lstStyle/>
          <a:p>
            <a:pPr marL="171450" indent="-171450">
              <a:buFont typeface="Arial" panose="020B0604020202020204" pitchFamily="34" charset="0"/>
              <a:buChar char="•"/>
            </a:pPr>
            <a:r>
              <a:rPr lang="en-US" sz="1200" dirty="0"/>
              <a:t>The dataset contains 8,763 rows and 12 columns</a:t>
            </a:r>
          </a:p>
          <a:p>
            <a:endParaRPr lang="en-US" sz="500" dirty="0"/>
          </a:p>
          <a:p>
            <a:pPr marL="171450" indent="-171450">
              <a:buFont typeface="Arial" panose="020B0604020202020204" pitchFamily="34" charset="0"/>
              <a:buChar char="•"/>
            </a:pPr>
            <a:r>
              <a:rPr lang="en-US" sz="1200" u="sng" dirty="0"/>
              <a:t>Target Variable</a:t>
            </a:r>
            <a:r>
              <a:rPr lang="en-US" sz="1200" dirty="0"/>
              <a:t>: </a:t>
            </a:r>
            <a:r>
              <a:rPr lang="en-US" sz="1100" dirty="0" err="1">
                <a:solidFill>
                  <a:schemeClr val="tx1"/>
                </a:solidFill>
              </a:rPr>
              <a:t>Product_Store_Sales_Total</a:t>
            </a:r>
            <a:endParaRPr lang="en-US" sz="1100" dirty="0">
              <a:solidFill>
                <a:schemeClr val="tx1"/>
              </a:solidFill>
            </a:endParaRPr>
          </a:p>
          <a:p>
            <a:endParaRPr lang="en-US" sz="500" dirty="0"/>
          </a:p>
          <a:p>
            <a:pPr marL="171450" indent="-171450">
              <a:buFont typeface="Arial" panose="020B0604020202020204" pitchFamily="34" charset="0"/>
              <a:buChar char="•"/>
            </a:pPr>
            <a:r>
              <a:rPr lang="en-US" sz="1200" u="sng" dirty="0"/>
              <a:t>Missing Values</a:t>
            </a:r>
            <a:r>
              <a:rPr lang="en-US" sz="1200" dirty="0"/>
              <a:t>: None</a:t>
            </a:r>
          </a:p>
          <a:p>
            <a:endParaRPr lang="en-US" sz="500" dirty="0"/>
          </a:p>
          <a:p>
            <a:pPr marL="171450" indent="-171450">
              <a:buFont typeface="Arial" panose="020B0604020202020204" pitchFamily="34" charset="0"/>
              <a:buChar char="•"/>
            </a:pPr>
            <a:r>
              <a:rPr lang="en-US" sz="1200" u="sng" dirty="0"/>
              <a:t>Duplicated Values</a:t>
            </a:r>
            <a:r>
              <a:rPr lang="en-US" sz="1200" dirty="0"/>
              <a:t>: None</a:t>
            </a:r>
          </a:p>
          <a:p>
            <a:endParaRPr lang="en-US" sz="500" dirty="0"/>
          </a:p>
          <a:p>
            <a:pPr marL="171450" indent="-171450">
              <a:buFont typeface="Arial" panose="020B0604020202020204" pitchFamily="34" charset="0"/>
              <a:buChar char="•"/>
            </a:pPr>
            <a:r>
              <a:rPr lang="en-US" sz="1200" dirty="0"/>
              <a:t>Categorical variables require encoding before modeling</a:t>
            </a:r>
          </a:p>
        </p:txBody>
      </p:sp>
      <p:sp>
        <p:nvSpPr>
          <p:cNvPr id="6" name="Triangle 5">
            <a:extLst>
              <a:ext uri="{FF2B5EF4-FFF2-40B4-BE49-F238E27FC236}">
                <a16:creationId xmlns:a16="http://schemas.microsoft.com/office/drawing/2014/main" id="{E89DDC2F-FA95-8DF6-EB25-7BF065F3373D}"/>
              </a:ext>
            </a:extLst>
          </p:cNvPr>
          <p:cNvSpPr/>
          <p:nvPr/>
        </p:nvSpPr>
        <p:spPr>
          <a:xfrm rot="5400000">
            <a:off x="3710812" y="1429837"/>
            <a:ext cx="2044007" cy="305728"/>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4BA1A6AD-EC40-C6FD-9570-00879C8B8B4A}"/>
              </a:ext>
            </a:extLst>
          </p:cNvPr>
          <p:cNvSpPr/>
          <p:nvPr/>
        </p:nvSpPr>
        <p:spPr>
          <a:xfrm rot="5400000">
            <a:off x="3754326" y="3593833"/>
            <a:ext cx="1956980" cy="305728"/>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8EED30B-8DE5-0B8A-D394-306E842F7E6E}"/>
              </a:ext>
            </a:extLst>
          </p:cNvPr>
          <p:cNvSpPr txBox="1"/>
          <p:nvPr/>
        </p:nvSpPr>
        <p:spPr>
          <a:xfrm>
            <a:off x="4931598" y="2509395"/>
            <a:ext cx="3961150" cy="2539157"/>
          </a:xfrm>
          <a:prstGeom prst="rect">
            <a:avLst/>
          </a:prstGeom>
          <a:noFill/>
        </p:spPr>
        <p:txBody>
          <a:bodyPr wrap="square" rtlCol="0">
            <a:spAutoFit/>
          </a:bodyPr>
          <a:lstStyle/>
          <a:p>
            <a:pPr marL="171450" indent="-171450">
              <a:buFont typeface="Arial" panose="020B0604020202020204" pitchFamily="34" charset="0"/>
              <a:buChar char="•"/>
            </a:pPr>
            <a:r>
              <a:rPr lang="en-US" sz="1100" b="1" dirty="0"/>
              <a:t>Product Insights: </a:t>
            </a:r>
            <a:r>
              <a:rPr lang="en-US" sz="1100" dirty="0"/>
              <a:t>Low Sugar products dominate the inventory, Fruits and Vegetables are the largest product category, and </a:t>
            </a:r>
            <a:r>
              <a:rPr lang="en-US" sz="1100" dirty="0" err="1"/>
              <a:t>Product_MRP</a:t>
            </a:r>
            <a:r>
              <a:rPr lang="en-US" sz="1100" dirty="0"/>
              <a:t> shows a wide price range, making it a likely key driver of sales.</a:t>
            </a:r>
          </a:p>
          <a:p>
            <a:endParaRPr lang="en-US" sz="500" dirty="0"/>
          </a:p>
          <a:p>
            <a:pPr marL="171450" indent="-171450">
              <a:buFont typeface="Arial" panose="020B0604020202020204" pitchFamily="34" charset="0"/>
              <a:buChar char="•"/>
            </a:pPr>
            <a:r>
              <a:rPr lang="en-US" sz="1100" b="1" dirty="0"/>
              <a:t>Store Insights</a:t>
            </a:r>
            <a:r>
              <a:rPr lang="en-US" sz="1100" dirty="0"/>
              <a:t>: The data is concentrated in Medium-sized stores, Tier 2 cities, and Supermarket Type2 locations, indicating potential imbalances that may influence sales patterns and model performance.</a:t>
            </a:r>
          </a:p>
          <a:p>
            <a:endParaRPr lang="en-US" sz="500" dirty="0"/>
          </a:p>
          <a:p>
            <a:pPr marL="171450" indent="-171450">
              <a:buFont typeface="Arial" panose="020B0604020202020204" pitchFamily="34" charset="0"/>
              <a:buChar char="•"/>
            </a:pPr>
            <a:r>
              <a:rPr lang="en-US" sz="1100" b="1" dirty="0"/>
              <a:t>Sales Performance:</a:t>
            </a:r>
            <a:r>
              <a:rPr lang="en-US" sz="1100" dirty="0"/>
              <a:t> </a:t>
            </a:r>
            <a:r>
              <a:rPr lang="en-US" sz="1100" b="1" dirty="0" err="1"/>
              <a:t>Product_Store_Sales_Total</a:t>
            </a:r>
            <a:r>
              <a:rPr lang="en-US" sz="1100" dirty="0"/>
              <a:t> exhibits substantial variability (33–8,000 units sold), suggesting strong opportunities for machine learning models to identify the factors that drive high and low sales performance.</a:t>
            </a:r>
          </a:p>
        </p:txBody>
      </p:sp>
    </p:spTree>
    <p:extLst>
      <p:ext uri="{BB962C8B-B14F-4D97-AF65-F5344CB8AC3E}">
        <p14:creationId xmlns:p14="http://schemas.microsoft.com/office/powerpoint/2010/main" val="3029485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010944A6-A398-D17D-E87C-631EDB0E9E9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A7FE552-5BDC-EB43-A6D5-A4D13656A5F6}"/>
              </a:ext>
            </a:extLst>
          </p:cNvPr>
          <p:cNvPicPr>
            <a:picLocks noChangeAspect="1"/>
          </p:cNvPicPr>
          <p:nvPr/>
        </p:nvPicPr>
        <p:blipFill>
          <a:blip r:embed="rId3"/>
          <a:stretch>
            <a:fillRect/>
          </a:stretch>
        </p:blipFill>
        <p:spPr>
          <a:xfrm>
            <a:off x="0" y="1083910"/>
            <a:ext cx="5756863" cy="3447748"/>
          </a:xfrm>
          <a:prstGeom prst="rect">
            <a:avLst/>
          </a:prstGeom>
        </p:spPr>
      </p:pic>
      <p:sp>
        <p:nvSpPr>
          <p:cNvPr id="4" name="Triangle 3">
            <a:extLst>
              <a:ext uri="{FF2B5EF4-FFF2-40B4-BE49-F238E27FC236}">
                <a16:creationId xmlns:a16="http://schemas.microsoft.com/office/drawing/2014/main" id="{926543B0-3A6F-1910-125C-67E641C9ED8F}"/>
              </a:ext>
            </a:extLst>
          </p:cNvPr>
          <p:cNvSpPr/>
          <p:nvPr/>
        </p:nvSpPr>
        <p:spPr>
          <a:xfrm rot="5400000">
            <a:off x="4680585" y="2522601"/>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F5FA634-038D-3BE8-9CC4-778F8A909D68}"/>
              </a:ext>
            </a:extLst>
          </p:cNvPr>
          <p:cNvSpPr txBox="1"/>
          <p:nvPr/>
        </p:nvSpPr>
        <p:spPr>
          <a:xfrm>
            <a:off x="6428232" y="1325255"/>
            <a:ext cx="2635086" cy="2492990"/>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weight is approximately normally distributed, centered around 12.5–13. </a:t>
            </a:r>
          </a:p>
          <a:p>
            <a:pPr marL="171450" indent="-171450">
              <a:buFont typeface="Arial" panose="020B0604020202020204" pitchFamily="34" charset="0"/>
              <a:buChar char="•"/>
            </a:pPr>
            <a:r>
              <a:rPr lang="en-US" sz="1200" dirty="0"/>
              <a:t>Mean and median are very close, indicating minimal skewness in the main distribution. </a:t>
            </a:r>
          </a:p>
          <a:p>
            <a:pPr marL="171450" indent="-171450">
              <a:buFont typeface="Arial" panose="020B0604020202020204" pitchFamily="34" charset="0"/>
              <a:buChar char="•"/>
            </a:pPr>
            <a:r>
              <a:rPr lang="en-US" sz="1200" dirty="0"/>
              <a:t>Several outliers exist on both the lower and higher ends of the weight range. </a:t>
            </a:r>
          </a:p>
          <a:p>
            <a:pPr marL="171450" indent="-171450">
              <a:buFont typeface="Arial" panose="020B0604020202020204" pitchFamily="34" charset="0"/>
              <a:buChar char="•"/>
            </a:pPr>
            <a:r>
              <a:rPr lang="en-US" sz="1200" dirty="0"/>
              <a:t>Most products fall within a relatively narrow weight range, suggesting standardized packaging sizes</a:t>
            </a:r>
          </a:p>
        </p:txBody>
      </p:sp>
      <p:sp>
        <p:nvSpPr>
          <p:cNvPr id="8" name="Google Shape;130;g12508d39905_0_54">
            <a:extLst>
              <a:ext uri="{FF2B5EF4-FFF2-40B4-BE49-F238E27FC236}">
                <a16:creationId xmlns:a16="http://schemas.microsoft.com/office/drawing/2014/main" id="{8128A0F4-4058-AA9D-D9EA-8D99EEBCDB9A}"/>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Univariate Analysis: Product Weight</a:t>
            </a:r>
          </a:p>
        </p:txBody>
      </p:sp>
    </p:spTree>
    <p:extLst>
      <p:ext uri="{BB962C8B-B14F-4D97-AF65-F5344CB8AC3E}">
        <p14:creationId xmlns:p14="http://schemas.microsoft.com/office/powerpoint/2010/main" val="2694429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2" name="Picture 1">
            <a:extLst>
              <a:ext uri="{FF2B5EF4-FFF2-40B4-BE49-F238E27FC236}">
                <a16:creationId xmlns:a16="http://schemas.microsoft.com/office/drawing/2014/main" id="{F24BE2DE-4CA6-3502-283D-67D1D0D9B5EB}"/>
              </a:ext>
            </a:extLst>
          </p:cNvPr>
          <p:cNvPicPr>
            <a:picLocks/>
          </p:cNvPicPr>
          <p:nvPr/>
        </p:nvPicPr>
        <p:blipFill>
          <a:blip r:embed="rId3"/>
          <a:stretch>
            <a:fillRect/>
          </a:stretch>
        </p:blipFill>
        <p:spPr>
          <a:xfrm>
            <a:off x="202549" y="1110864"/>
            <a:ext cx="5788152" cy="3447288"/>
          </a:xfrm>
          <a:prstGeom prst="rect">
            <a:avLst/>
          </a:prstGeom>
        </p:spPr>
      </p:pic>
      <p:sp>
        <p:nvSpPr>
          <p:cNvPr id="3" name="Triangle 2">
            <a:extLst>
              <a:ext uri="{FF2B5EF4-FFF2-40B4-BE49-F238E27FC236}">
                <a16:creationId xmlns:a16="http://schemas.microsoft.com/office/drawing/2014/main" id="{0BB35732-63D6-8F71-027C-B65CFAF78E94}"/>
              </a:ext>
            </a:extLst>
          </p:cNvPr>
          <p:cNvSpPr/>
          <p:nvPr/>
        </p:nvSpPr>
        <p:spPr>
          <a:xfrm rot="5400000">
            <a:off x="4680585" y="2522601"/>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130;g12508d39905_0_54">
            <a:extLst>
              <a:ext uri="{FF2B5EF4-FFF2-40B4-BE49-F238E27FC236}">
                <a16:creationId xmlns:a16="http://schemas.microsoft.com/office/drawing/2014/main" id="{0568C080-CE8B-8DE6-5B5B-E8934611ED1F}"/>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Univariate Analysis: Product Allocated Area</a:t>
            </a:r>
          </a:p>
        </p:txBody>
      </p:sp>
      <p:sp>
        <p:nvSpPr>
          <p:cNvPr id="5" name="TextBox 4">
            <a:extLst>
              <a:ext uri="{FF2B5EF4-FFF2-40B4-BE49-F238E27FC236}">
                <a16:creationId xmlns:a16="http://schemas.microsoft.com/office/drawing/2014/main" id="{16367339-C62A-0C99-1416-34314510B622}"/>
              </a:ext>
            </a:extLst>
          </p:cNvPr>
          <p:cNvSpPr txBox="1"/>
          <p:nvPr/>
        </p:nvSpPr>
        <p:spPr>
          <a:xfrm>
            <a:off x="6428232" y="1325255"/>
            <a:ext cx="2635086" cy="3046988"/>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allocated area is positively skewed, with most products receiving smaller shelf space allocations. </a:t>
            </a:r>
          </a:p>
          <a:p>
            <a:pPr marL="171450" indent="-171450">
              <a:buFont typeface="Arial" panose="020B0604020202020204" pitchFamily="34" charset="0"/>
              <a:buChar char="•"/>
            </a:pPr>
            <a:r>
              <a:rPr lang="en-US" sz="1200" dirty="0"/>
              <a:t>Mean is higher than the median, indicating the presence of high-value outliers with significantly larger allocated areas. </a:t>
            </a:r>
          </a:p>
          <a:p>
            <a:pPr marL="171450" indent="-171450">
              <a:buFont typeface="Arial" panose="020B0604020202020204" pitchFamily="34" charset="0"/>
              <a:buChar char="•"/>
            </a:pPr>
            <a:r>
              <a:rPr lang="en-US" sz="1200" dirty="0"/>
              <a:t>Several extreme outliers exist above 0.20, suggesting a small number of products dominate shelf space. </a:t>
            </a:r>
          </a:p>
          <a:p>
            <a:pPr marL="171450" indent="-171450">
              <a:buFont typeface="Arial" panose="020B0604020202020204" pitchFamily="34" charset="0"/>
              <a:buChar char="•"/>
            </a:pPr>
            <a:r>
              <a:rPr lang="en-US" sz="1200" dirty="0"/>
              <a:t>Majority of products are concentrated below 0.10 allocated area, indicating limited shelf distribution for most items.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F18EFDF2-218C-A7A5-955D-C2359B783F6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E08BC7F-A8DF-BBE7-046B-366497EB3438}"/>
              </a:ext>
            </a:extLst>
          </p:cNvPr>
          <p:cNvPicPr>
            <a:picLocks/>
          </p:cNvPicPr>
          <p:nvPr/>
        </p:nvPicPr>
        <p:blipFill>
          <a:blip r:embed="rId3"/>
          <a:stretch>
            <a:fillRect/>
          </a:stretch>
        </p:blipFill>
        <p:spPr>
          <a:xfrm>
            <a:off x="128016" y="1149858"/>
            <a:ext cx="5788152" cy="3447288"/>
          </a:xfrm>
          <a:prstGeom prst="rect">
            <a:avLst/>
          </a:prstGeom>
        </p:spPr>
      </p:pic>
      <p:sp>
        <p:nvSpPr>
          <p:cNvPr id="6" name="Triangle 5">
            <a:extLst>
              <a:ext uri="{FF2B5EF4-FFF2-40B4-BE49-F238E27FC236}">
                <a16:creationId xmlns:a16="http://schemas.microsoft.com/office/drawing/2014/main" id="{F717EC82-EA24-BA9B-3680-B6BED1FA2FED}"/>
              </a:ext>
            </a:extLst>
          </p:cNvPr>
          <p:cNvSpPr/>
          <p:nvPr/>
        </p:nvSpPr>
        <p:spPr>
          <a:xfrm rot="5400000">
            <a:off x="4680585" y="2522601"/>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130;g12508d39905_0_54">
            <a:extLst>
              <a:ext uri="{FF2B5EF4-FFF2-40B4-BE49-F238E27FC236}">
                <a16:creationId xmlns:a16="http://schemas.microsoft.com/office/drawing/2014/main" id="{2661FE2F-F8D8-1F69-4FC9-727CD9EFABFA}"/>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Univariate Analysis: Product MRP</a:t>
            </a:r>
          </a:p>
        </p:txBody>
      </p:sp>
      <p:sp>
        <p:nvSpPr>
          <p:cNvPr id="3" name="TextBox 2">
            <a:extLst>
              <a:ext uri="{FF2B5EF4-FFF2-40B4-BE49-F238E27FC236}">
                <a16:creationId xmlns:a16="http://schemas.microsoft.com/office/drawing/2014/main" id="{D4B74BFF-1454-2F7C-8EF0-D234E85D0B17}"/>
              </a:ext>
            </a:extLst>
          </p:cNvPr>
          <p:cNvSpPr txBox="1"/>
          <p:nvPr/>
        </p:nvSpPr>
        <p:spPr>
          <a:xfrm>
            <a:off x="6428232" y="1325255"/>
            <a:ext cx="2635086" cy="2492990"/>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MRP is approximately normally distributed, centered around 145–150. Mean and median are closely aligned, indicating a fairly symmetric distribution. </a:t>
            </a:r>
          </a:p>
          <a:p>
            <a:pPr marL="171450" indent="-171450">
              <a:buFont typeface="Arial" panose="020B0604020202020204" pitchFamily="34" charset="0"/>
              <a:buChar char="•"/>
            </a:pPr>
            <a:r>
              <a:rPr lang="en-US" sz="1200" dirty="0"/>
              <a:t>Most products fall within the mid-price range, suggesting balanced pricing across the catalog. </a:t>
            </a:r>
          </a:p>
          <a:p>
            <a:pPr marL="171450" indent="-171450">
              <a:buFont typeface="Arial" panose="020B0604020202020204" pitchFamily="34" charset="0"/>
              <a:buChar char="•"/>
            </a:pPr>
            <a:r>
              <a:rPr lang="en-US" sz="1200" dirty="0"/>
              <a:t>A few low and high price outliers exist, indicating the presence of budget and premium product segments.</a:t>
            </a:r>
          </a:p>
        </p:txBody>
      </p:sp>
    </p:spTree>
    <p:extLst>
      <p:ext uri="{BB962C8B-B14F-4D97-AF65-F5344CB8AC3E}">
        <p14:creationId xmlns:p14="http://schemas.microsoft.com/office/powerpoint/2010/main" val="2679299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4868A693-9EBE-EBC5-21C9-38C2AD9009D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0787400-584B-3C43-128E-A1806512B83C}"/>
              </a:ext>
            </a:extLst>
          </p:cNvPr>
          <p:cNvPicPr>
            <a:picLocks/>
          </p:cNvPicPr>
          <p:nvPr/>
        </p:nvPicPr>
        <p:blipFill>
          <a:blip r:embed="rId3"/>
          <a:stretch>
            <a:fillRect/>
          </a:stretch>
        </p:blipFill>
        <p:spPr>
          <a:xfrm>
            <a:off x="0" y="1149858"/>
            <a:ext cx="5788152" cy="3447288"/>
          </a:xfrm>
          <a:prstGeom prst="rect">
            <a:avLst/>
          </a:prstGeom>
        </p:spPr>
      </p:pic>
      <p:sp>
        <p:nvSpPr>
          <p:cNvPr id="6" name="Triangle 5">
            <a:extLst>
              <a:ext uri="{FF2B5EF4-FFF2-40B4-BE49-F238E27FC236}">
                <a16:creationId xmlns:a16="http://schemas.microsoft.com/office/drawing/2014/main" id="{6523B9E4-C732-0DCD-2A6D-CE654E1BCCC8}"/>
              </a:ext>
            </a:extLst>
          </p:cNvPr>
          <p:cNvSpPr/>
          <p:nvPr/>
        </p:nvSpPr>
        <p:spPr>
          <a:xfrm rot="5400000">
            <a:off x="4680585" y="2522601"/>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130;g12508d39905_0_54">
            <a:extLst>
              <a:ext uri="{FF2B5EF4-FFF2-40B4-BE49-F238E27FC236}">
                <a16:creationId xmlns:a16="http://schemas.microsoft.com/office/drawing/2014/main" id="{53BEC361-BAAF-4C16-8487-673482E80B8F}"/>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Univariate Analysis: Product Sales Total</a:t>
            </a:r>
          </a:p>
        </p:txBody>
      </p:sp>
      <p:sp>
        <p:nvSpPr>
          <p:cNvPr id="3" name="TextBox 2">
            <a:extLst>
              <a:ext uri="{FF2B5EF4-FFF2-40B4-BE49-F238E27FC236}">
                <a16:creationId xmlns:a16="http://schemas.microsoft.com/office/drawing/2014/main" id="{61026E26-E49A-0763-EC14-619889AAC8E9}"/>
              </a:ext>
            </a:extLst>
          </p:cNvPr>
          <p:cNvSpPr txBox="1"/>
          <p:nvPr/>
        </p:nvSpPr>
        <p:spPr>
          <a:xfrm>
            <a:off x="6428232" y="1325255"/>
            <a:ext cx="2635086" cy="3046988"/>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store sales are approximately normally distributed, centered around 3,400–3,600. </a:t>
            </a:r>
          </a:p>
          <a:p>
            <a:pPr marL="171450" indent="-171450">
              <a:buFont typeface="Arial" panose="020B0604020202020204" pitchFamily="34" charset="0"/>
              <a:buChar char="•"/>
            </a:pPr>
            <a:r>
              <a:rPr lang="en-US" sz="1200" dirty="0"/>
              <a:t>Mean and median are closely aligned, indicating a relatively symmetric distribution. </a:t>
            </a:r>
          </a:p>
          <a:p>
            <a:pPr marL="171450" indent="-171450">
              <a:buFont typeface="Arial" panose="020B0604020202020204" pitchFamily="34" charset="0"/>
              <a:buChar char="•"/>
            </a:pPr>
            <a:r>
              <a:rPr lang="en-US" sz="1200" dirty="0"/>
              <a:t>Most products generate sales within a moderate range, with fewer extremely low or high sales values. </a:t>
            </a:r>
          </a:p>
          <a:p>
            <a:pPr marL="171450" indent="-171450">
              <a:buFont typeface="Arial" panose="020B0604020202020204" pitchFamily="34" charset="0"/>
              <a:buChar char="•"/>
            </a:pPr>
            <a:r>
              <a:rPr lang="en-US" sz="1200" dirty="0"/>
              <a:t>Several outliers exist on both ends, indicating a small number of products significantly underperform or outperform the average.</a:t>
            </a:r>
          </a:p>
        </p:txBody>
      </p:sp>
    </p:spTree>
    <p:extLst>
      <p:ext uri="{BB962C8B-B14F-4D97-AF65-F5344CB8AC3E}">
        <p14:creationId xmlns:p14="http://schemas.microsoft.com/office/powerpoint/2010/main" val="9966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B35DAE9A-0C1D-C2C6-FE84-08FAA9FD8A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74CEC9F-9A46-E654-1A86-AA73FD1F4A8B}"/>
              </a:ext>
            </a:extLst>
          </p:cNvPr>
          <p:cNvPicPr>
            <a:picLocks noChangeAspect="1"/>
          </p:cNvPicPr>
          <p:nvPr/>
        </p:nvPicPr>
        <p:blipFill>
          <a:blip r:embed="rId3"/>
          <a:stretch>
            <a:fillRect/>
          </a:stretch>
        </p:blipFill>
        <p:spPr>
          <a:xfrm>
            <a:off x="1398274" y="1149858"/>
            <a:ext cx="3073720" cy="3536138"/>
          </a:xfrm>
          <a:prstGeom prst="rect">
            <a:avLst/>
          </a:prstGeom>
        </p:spPr>
      </p:pic>
      <p:sp>
        <p:nvSpPr>
          <p:cNvPr id="6" name="Triangle 5">
            <a:extLst>
              <a:ext uri="{FF2B5EF4-FFF2-40B4-BE49-F238E27FC236}">
                <a16:creationId xmlns:a16="http://schemas.microsoft.com/office/drawing/2014/main" id="{69795774-07BA-0CC6-88D9-D81D60C12341}"/>
              </a:ext>
            </a:extLst>
          </p:cNvPr>
          <p:cNvSpPr/>
          <p:nvPr/>
        </p:nvSpPr>
        <p:spPr>
          <a:xfrm rot="5400000">
            <a:off x="3812527" y="2534031"/>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985889B-0CA7-8A45-AFD0-A7C5BFAF7B15}"/>
              </a:ext>
            </a:extLst>
          </p:cNvPr>
          <p:cNvSpPr txBox="1"/>
          <p:nvPr/>
        </p:nvSpPr>
        <p:spPr>
          <a:xfrm>
            <a:off x="5717639" y="1382655"/>
            <a:ext cx="2736079" cy="2677656"/>
          </a:xfrm>
          <a:prstGeom prst="rect">
            <a:avLst/>
          </a:prstGeom>
          <a:noFill/>
        </p:spPr>
        <p:txBody>
          <a:bodyPr wrap="square" rtlCol="0">
            <a:spAutoFit/>
          </a:bodyPr>
          <a:lstStyle/>
          <a:p>
            <a:pPr marL="171450" indent="-171450">
              <a:buFont typeface="Arial" panose="020B0604020202020204" pitchFamily="34" charset="0"/>
              <a:buChar char="•"/>
            </a:pPr>
            <a:r>
              <a:rPr lang="en-US" sz="1200" dirty="0"/>
              <a:t>Low Sugar products dominate the dataset, accounting for 55.7% of all products. </a:t>
            </a:r>
          </a:p>
          <a:p>
            <a:pPr marL="171450" indent="-171450">
              <a:buFont typeface="Arial" panose="020B0604020202020204" pitchFamily="34" charset="0"/>
              <a:buChar char="•"/>
            </a:pPr>
            <a:r>
              <a:rPr lang="en-US" sz="1200" dirty="0"/>
              <a:t>Regular sugar products represent 25.7% of the product mix, indicating strong presence of traditional offerings. </a:t>
            </a:r>
          </a:p>
          <a:p>
            <a:pPr marL="171450" indent="-171450">
              <a:buFont typeface="Arial" panose="020B0604020202020204" pitchFamily="34" charset="0"/>
              <a:buChar char="•"/>
            </a:pPr>
            <a:r>
              <a:rPr lang="en-US" sz="1200" dirty="0"/>
              <a:t>No Sugar products account for 17.3%, reflecting moderate demand for sugar-free alternatives.</a:t>
            </a:r>
          </a:p>
          <a:p>
            <a:pPr marL="171450" indent="-171450">
              <a:buFont typeface="Arial" panose="020B0604020202020204" pitchFamily="34" charset="0"/>
              <a:buChar char="•"/>
            </a:pPr>
            <a:r>
              <a:rPr lang="en-US" sz="1200" dirty="0"/>
              <a:t>The “reg” category represents only 1.2%, suggesting either a very limited segment or possible data inconsistency/category duplication.</a:t>
            </a:r>
          </a:p>
        </p:txBody>
      </p:sp>
      <p:sp>
        <p:nvSpPr>
          <p:cNvPr id="10" name="Google Shape;130;g12508d39905_0_54">
            <a:extLst>
              <a:ext uri="{FF2B5EF4-FFF2-40B4-BE49-F238E27FC236}">
                <a16:creationId xmlns:a16="http://schemas.microsoft.com/office/drawing/2014/main" id="{9C66BB3A-84F4-41F5-DC09-F1116070993E}"/>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Univariate Analysis: Product Sugar Content</a:t>
            </a:r>
          </a:p>
        </p:txBody>
      </p:sp>
    </p:spTree>
    <p:extLst>
      <p:ext uri="{BB962C8B-B14F-4D97-AF65-F5344CB8AC3E}">
        <p14:creationId xmlns:p14="http://schemas.microsoft.com/office/powerpoint/2010/main" val="4013593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1B156DBE-D2CF-8A45-E9ED-0BA60B49CC71}"/>
            </a:ext>
          </a:extLst>
        </p:cNvPr>
        <p:cNvGrpSpPr/>
        <p:nvPr/>
      </p:nvGrpSpPr>
      <p:grpSpPr>
        <a:xfrm>
          <a:off x="0" y="0"/>
          <a:ext cx="0" cy="0"/>
          <a:chOff x="0" y="0"/>
          <a:chExt cx="0" cy="0"/>
        </a:xfrm>
      </p:grpSpPr>
      <p:sp>
        <p:nvSpPr>
          <p:cNvPr id="8" name="Google Shape;130;g12508d39905_0_54">
            <a:extLst>
              <a:ext uri="{FF2B5EF4-FFF2-40B4-BE49-F238E27FC236}">
                <a16:creationId xmlns:a16="http://schemas.microsoft.com/office/drawing/2014/main" id="{785459EA-5884-F3A6-A992-959F0A2733F2}"/>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Univariate Analysis: Product Type</a:t>
            </a:r>
          </a:p>
        </p:txBody>
      </p:sp>
      <p:pic>
        <p:nvPicPr>
          <p:cNvPr id="2" name="Picture 1">
            <a:extLst>
              <a:ext uri="{FF2B5EF4-FFF2-40B4-BE49-F238E27FC236}">
                <a16:creationId xmlns:a16="http://schemas.microsoft.com/office/drawing/2014/main" id="{3C9CE152-BF24-A998-312A-B22C3F1A278C}"/>
              </a:ext>
            </a:extLst>
          </p:cNvPr>
          <p:cNvPicPr>
            <a:picLocks noChangeAspect="1"/>
          </p:cNvPicPr>
          <p:nvPr/>
        </p:nvPicPr>
        <p:blipFill>
          <a:blip r:embed="rId3"/>
          <a:stretch>
            <a:fillRect/>
          </a:stretch>
        </p:blipFill>
        <p:spPr>
          <a:xfrm>
            <a:off x="73152" y="1263151"/>
            <a:ext cx="5259182" cy="2893804"/>
          </a:xfrm>
          <a:prstGeom prst="rect">
            <a:avLst/>
          </a:prstGeom>
        </p:spPr>
      </p:pic>
      <p:sp>
        <p:nvSpPr>
          <p:cNvPr id="4" name="Triangle 3">
            <a:extLst>
              <a:ext uri="{FF2B5EF4-FFF2-40B4-BE49-F238E27FC236}">
                <a16:creationId xmlns:a16="http://schemas.microsoft.com/office/drawing/2014/main" id="{918E610E-64EB-4DAF-CAE6-8C8BA527EAA0}"/>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54C8D90-5166-BB37-3707-1FF46EE2FD0F}"/>
              </a:ext>
            </a:extLst>
          </p:cNvPr>
          <p:cNvSpPr txBox="1"/>
          <p:nvPr/>
        </p:nvSpPr>
        <p:spPr>
          <a:xfrm>
            <a:off x="5990344" y="1094226"/>
            <a:ext cx="2665216" cy="3231654"/>
          </a:xfrm>
          <a:prstGeom prst="rect">
            <a:avLst/>
          </a:prstGeom>
          <a:noFill/>
        </p:spPr>
        <p:txBody>
          <a:bodyPr wrap="square" rtlCol="0">
            <a:spAutoFit/>
          </a:bodyPr>
          <a:lstStyle/>
          <a:p>
            <a:pPr marL="171450" indent="-171450">
              <a:buFont typeface="Arial" panose="020B0604020202020204" pitchFamily="34" charset="0"/>
              <a:buChar char="•"/>
            </a:pPr>
            <a:r>
              <a:rPr lang="en-US" sz="1200" dirty="0"/>
              <a:t>Fruits and Vegetables is the largest product category, representing 14.3% of all products. </a:t>
            </a:r>
          </a:p>
          <a:p>
            <a:pPr marL="171450" indent="-171450">
              <a:buFont typeface="Arial" panose="020B0604020202020204" pitchFamily="34" charset="0"/>
              <a:buChar char="•"/>
            </a:pPr>
            <a:r>
              <a:rPr lang="en-US" sz="1200" dirty="0"/>
              <a:t>Snack Foods account for 13.1%, making it another major category in the product portfolio. </a:t>
            </a:r>
          </a:p>
          <a:p>
            <a:pPr marL="171450" indent="-171450">
              <a:buFont typeface="Arial" panose="020B0604020202020204" pitchFamily="34" charset="0"/>
              <a:buChar char="•"/>
            </a:pPr>
            <a:r>
              <a:rPr lang="en-US" sz="1200" dirty="0"/>
              <a:t>Frozen Foods (9.3%) and Dairy (9.1%) also contribute significantly to the assortment mix. </a:t>
            </a:r>
          </a:p>
          <a:p>
            <a:pPr marL="171450" indent="-171450">
              <a:buFont typeface="Arial" panose="020B0604020202020204" pitchFamily="34" charset="0"/>
              <a:buChar char="•"/>
            </a:pPr>
            <a:r>
              <a:rPr lang="en-US" sz="1200" dirty="0"/>
              <a:t>Seafood (0.9%) and Breakfast items (1.2%) represent the smallest product categories.  </a:t>
            </a:r>
          </a:p>
          <a:p>
            <a:pPr marL="171450" indent="-171450">
              <a:buFont typeface="Arial" panose="020B0604020202020204" pitchFamily="34" charset="0"/>
              <a:buChar char="•"/>
            </a:pPr>
            <a:r>
              <a:rPr lang="en-US" sz="1200" dirty="0"/>
              <a:t>Product distribution is uneven across categories, indicating stronger focus on high-demand food segments.</a:t>
            </a:r>
          </a:p>
        </p:txBody>
      </p:sp>
    </p:spTree>
    <p:extLst>
      <p:ext uri="{BB962C8B-B14F-4D97-AF65-F5344CB8AC3E}">
        <p14:creationId xmlns:p14="http://schemas.microsoft.com/office/powerpoint/2010/main" val="118232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C8EB5590-8D7D-DE90-84EB-EFEA4495D80E}"/>
            </a:ext>
          </a:extLst>
        </p:cNvPr>
        <p:cNvGrpSpPr/>
        <p:nvPr/>
      </p:nvGrpSpPr>
      <p:grpSpPr>
        <a:xfrm>
          <a:off x="0" y="0"/>
          <a:ext cx="0" cy="0"/>
          <a:chOff x="0" y="0"/>
          <a:chExt cx="0" cy="0"/>
        </a:xfrm>
      </p:grpSpPr>
      <p:sp>
        <p:nvSpPr>
          <p:cNvPr id="8" name="Google Shape;130;g12508d39905_0_54">
            <a:extLst>
              <a:ext uri="{FF2B5EF4-FFF2-40B4-BE49-F238E27FC236}">
                <a16:creationId xmlns:a16="http://schemas.microsoft.com/office/drawing/2014/main" id="{579F251F-CFBE-8427-09F9-4B54128DB0FC}"/>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Univariate Analysis: Store Size</a:t>
            </a:r>
          </a:p>
        </p:txBody>
      </p:sp>
      <p:pic>
        <p:nvPicPr>
          <p:cNvPr id="3" name="Picture 2">
            <a:extLst>
              <a:ext uri="{FF2B5EF4-FFF2-40B4-BE49-F238E27FC236}">
                <a16:creationId xmlns:a16="http://schemas.microsoft.com/office/drawing/2014/main" id="{3101DB2D-1A71-C055-52A3-A7DDB7FA62CF}"/>
              </a:ext>
            </a:extLst>
          </p:cNvPr>
          <p:cNvPicPr>
            <a:picLocks noChangeAspect="1"/>
          </p:cNvPicPr>
          <p:nvPr/>
        </p:nvPicPr>
        <p:blipFill>
          <a:blip r:embed="rId3"/>
          <a:stretch>
            <a:fillRect/>
          </a:stretch>
        </p:blipFill>
        <p:spPr>
          <a:xfrm>
            <a:off x="1453764" y="1036565"/>
            <a:ext cx="2963393" cy="3895343"/>
          </a:xfrm>
          <a:prstGeom prst="rect">
            <a:avLst/>
          </a:prstGeom>
        </p:spPr>
      </p:pic>
      <p:sp>
        <p:nvSpPr>
          <p:cNvPr id="4" name="Triangle 3">
            <a:extLst>
              <a:ext uri="{FF2B5EF4-FFF2-40B4-BE49-F238E27FC236}">
                <a16:creationId xmlns:a16="http://schemas.microsoft.com/office/drawing/2014/main" id="{7B460BB7-C4C0-98C7-7B4F-6224684BAD60}"/>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0609AA3-77CB-3D5C-C2C5-0ACC5067CA2C}"/>
              </a:ext>
            </a:extLst>
          </p:cNvPr>
          <p:cNvSpPr txBox="1"/>
          <p:nvPr/>
        </p:nvSpPr>
        <p:spPr>
          <a:xfrm>
            <a:off x="6067262" y="1250852"/>
            <a:ext cx="1911325" cy="3046988"/>
          </a:xfrm>
          <a:prstGeom prst="rect">
            <a:avLst/>
          </a:prstGeom>
          <a:noFill/>
        </p:spPr>
        <p:txBody>
          <a:bodyPr wrap="square" rtlCol="0">
            <a:spAutoFit/>
          </a:bodyPr>
          <a:lstStyle/>
          <a:p>
            <a:pPr marL="171450" indent="-171450">
              <a:buFont typeface="Arial" panose="020B0604020202020204" pitchFamily="34" charset="0"/>
              <a:buChar char="•"/>
            </a:pPr>
            <a:r>
              <a:rPr lang="en-US" sz="1200" dirty="0"/>
              <a:t>Medium-sized stores dominate the dataset, representing 68.8% of all stores. </a:t>
            </a:r>
          </a:p>
          <a:p>
            <a:pPr marL="171450" indent="-171450">
              <a:buFont typeface="Arial" panose="020B0604020202020204" pitchFamily="34" charset="0"/>
              <a:buChar char="•"/>
            </a:pPr>
            <a:r>
              <a:rPr lang="en-US" sz="1200" dirty="0"/>
              <a:t>High-sized stores account for 18.1%, while small stores represent only 13.1%. </a:t>
            </a:r>
          </a:p>
          <a:p>
            <a:pPr marL="171450" indent="-171450">
              <a:buFont typeface="Arial" panose="020B0604020202020204" pitchFamily="34" charset="0"/>
              <a:buChar char="•"/>
            </a:pPr>
            <a:r>
              <a:rPr lang="en-US" sz="1200" dirty="0"/>
              <a:t>The store distribution is heavily concentrated toward medium-sized formats. </a:t>
            </a:r>
          </a:p>
          <a:p>
            <a:pPr marL="171450" indent="-171450">
              <a:buFont typeface="Arial" panose="020B0604020202020204" pitchFamily="34" charset="0"/>
              <a:buChar char="•"/>
            </a:pPr>
            <a:r>
              <a:rPr lang="en-US" sz="1200" dirty="0"/>
              <a:t>The company appears to prioritize medium-sized stores as its primary retail strategy.</a:t>
            </a:r>
          </a:p>
        </p:txBody>
      </p:sp>
    </p:spTree>
    <p:extLst>
      <p:ext uri="{BB962C8B-B14F-4D97-AF65-F5344CB8AC3E}">
        <p14:creationId xmlns:p14="http://schemas.microsoft.com/office/powerpoint/2010/main" val="281362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C5E33F46-8788-91E9-EC43-5A6AF9A25CB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2D0F77E-E10D-3C41-3367-A33ED8BA7DE9}"/>
              </a:ext>
            </a:extLst>
          </p:cNvPr>
          <p:cNvPicPr>
            <a:picLocks noChangeAspect="1"/>
          </p:cNvPicPr>
          <p:nvPr/>
        </p:nvPicPr>
        <p:blipFill>
          <a:blip r:embed="rId3"/>
          <a:stretch>
            <a:fillRect/>
          </a:stretch>
        </p:blipFill>
        <p:spPr>
          <a:xfrm>
            <a:off x="1278679" y="1036565"/>
            <a:ext cx="3114074" cy="3895343"/>
          </a:xfrm>
          <a:prstGeom prst="rect">
            <a:avLst/>
          </a:prstGeom>
        </p:spPr>
      </p:pic>
      <p:sp>
        <p:nvSpPr>
          <p:cNvPr id="8" name="Google Shape;130;g12508d39905_0_54">
            <a:extLst>
              <a:ext uri="{FF2B5EF4-FFF2-40B4-BE49-F238E27FC236}">
                <a16:creationId xmlns:a16="http://schemas.microsoft.com/office/drawing/2014/main" id="{374FE682-7194-18FB-4D00-47D922774076}"/>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Univariate Analysis: Store Location City Type</a:t>
            </a:r>
          </a:p>
        </p:txBody>
      </p:sp>
      <p:sp>
        <p:nvSpPr>
          <p:cNvPr id="9" name="Triangle 8">
            <a:extLst>
              <a:ext uri="{FF2B5EF4-FFF2-40B4-BE49-F238E27FC236}">
                <a16:creationId xmlns:a16="http://schemas.microsoft.com/office/drawing/2014/main" id="{E0C5D9C9-BC0A-20D6-3C4B-D4A5098CE206}"/>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DFE2261-65D1-63C3-BFA5-FAA8C06760AF}"/>
              </a:ext>
            </a:extLst>
          </p:cNvPr>
          <p:cNvSpPr txBox="1"/>
          <p:nvPr/>
        </p:nvSpPr>
        <p:spPr>
          <a:xfrm>
            <a:off x="6094157" y="1350265"/>
            <a:ext cx="2476101" cy="2492990"/>
          </a:xfrm>
          <a:prstGeom prst="rect">
            <a:avLst/>
          </a:prstGeom>
          <a:noFill/>
        </p:spPr>
        <p:txBody>
          <a:bodyPr wrap="square" rtlCol="0">
            <a:spAutoFit/>
          </a:bodyPr>
          <a:lstStyle/>
          <a:p>
            <a:pPr marL="171450" indent="-171450">
              <a:buFont typeface="Arial" panose="020B0604020202020204" pitchFamily="34" charset="0"/>
              <a:buChar char="•"/>
            </a:pPr>
            <a:r>
              <a:rPr lang="en-US" sz="1200" dirty="0"/>
              <a:t>Tier 2 cities dominate the dataset, accounting for 71.5% of all store locations. </a:t>
            </a:r>
          </a:p>
          <a:p>
            <a:pPr marL="171450" indent="-171450">
              <a:buFont typeface="Arial" panose="020B0604020202020204" pitchFamily="34" charset="0"/>
              <a:buChar char="•"/>
            </a:pPr>
            <a:r>
              <a:rPr lang="en-US" sz="1200" dirty="0"/>
              <a:t>Tier 1 stores represent 15.4%, while Tier 3 stores account for 13.1%. </a:t>
            </a:r>
          </a:p>
          <a:p>
            <a:pPr marL="171450" indent="-171450">
              <a:buFont typeface="Arial" panose="020B0604020202020204" pitchFamily="34" charset="0"/>
              <a:buChar char="•"/>
            </a:pPr>
            <a:r>
              <a:rPr lang="en-US" sz="1200" dirty="0"/>
              <a:t>The company’s retail presence is heavily concentrated in Tier 2 cities. </a:t>
            </a:r>
          </a:p>
          <a:p>
            <a:pPr marL="171450" indent="-171450">
              <a:buFont typeface="Arial" panose="020B0604020202020204" pitchFamily="34" charset="0"/>
              <a:buChar char="•"/>
            </a:pPr>
            <a:r>
              <a:rPr lang="en-US" sz="1200" dirty="0"/>
              <a:t>This distribution suggests a strategic focus on mid-sized urban markets with strong consumer demand potential.</a:t>
            </a:r>
          </a:p>
        </p:txBody>
      </p:sp>
    </p:spTree>
    <p:extLst>
      <p:ext uri="{BB962C8B-B14F-4D97-AF65-F5344CB8AC3E}">
        <p14:creationId xmlns:p14="http://schemas.microsoft.com/office/powerpoint/2010/main" val="3348785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1CF6CF1E-18A7-5A4D-69FB-415DE6BA70F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F3156E2-77AD-EE2B-724A-376AF4A0BF74}"/>
              </a:ext>
            </a:extLst>
          </p:cNvPr>
          <p:cNvPicPr>
            <a:picLocks noChangeAspect="1"/>
          </p:cNvPicPr>
          <p:nvPr/>
        </p:nvPicPr>
        <p:blipFill>
          <a:blip r:embed="rId3"/>
          <a:stretch>
            <a:fillRect/>
          </a:stretch>
        </p:blipFill>
        <p:spPr>
          <a:xfrm>
            <a:off x="1720078" y="1036565"/>
            <a:ext cx="2870699" cy="3753946"/>
          </a:xfrm>
          <a:prstGeom prst="rect">
            <a:avLst/>
          </a:prstGeom>
        </p:spPr>
      </p:pic>
      <p:sp>
        <p:nvSpPr>
          <p:cNvPr id="5" name="Google Shape;130;g12508d39905_0_54">
            <a:extLst>
              <a:ext uri="{FF2B5EF4-FFF2-40B4-BE49-F238E27FC236}">
                <a16:creationId xmlns:a16="http://schemas.microsoft.com/office/drawing/2014/main" id="{3BAD821D-3123-9955-6087-38549BE8C211}"/>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Univariate Analysis: Store Type</a:t>
            </a:r>
          </a:p>
        </p:txBody>
      </p:sp>
      <p:sp>
        <p:nvSpPr>
          <p:cNvPr id="6" name="Triangle 5">
            <a:extLst>
              <a:ext uri="{FF2B5EF4-FFF2-40B4-BE49-F238E27FC236}">
                <a16:creationId xmlns:a16="http://schemas.microsoft.com/office/drawing/2014/main" id="{3F06C941-5ABF-1D83-E8EB-5B00445822BC}"/>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2C07F0D-B3C9-BDCB-1C9F-276A5FBD02ED}"/>
              </a:ext>
            </a:extLst>
          </p:cNvPr>
          <p:cNvSpPr txBox="1"/>
          <p:nvPr/>
        </p:nvSpPr>
        <p:spPr>
          <a:xfrm>
            <a:off x="6061909" y="1177963"/>
            <a:ext cx="2284231" cy="3231654"/>
          </a:xfrm>
          <a:prstGeom prst="rect">
            <a:avLst/>
          </a:prstGeom>
          <a:noFill/>
        </p:spPr>
        <p:txBody>
          <a:bodyPr wrap="square" rtlCol="0">
            <a:spAutoFit/>
          </a:bodyPr>
          <a:lstStyle/>
          <a:p>
            <a:pPr marL="171450" indent="-171450">
              <a:buFont typeface="Arial" panose="020B0604020202020204" pitchFamily="34" charset="0"/>
              <a:buChar char="•"/>
            </a:pPr>
            <a:r>
              <a:rPr lang="en-US" sz="1200" dirty="0"/>
              <a:t>Supermarket Type2 dominates the dataset, representing 53.4% of all stores. </a:t>
            </a:r>
          </a:p>
          <a:p>
            <a:pPr marL="171450" indent="-171450">
              <a:buFont typeface="Arial" panose="020B0604020202020204" pitchFamily="34" charset="0"/>
              <a:buChar char="•"/>
            </a:pPr>
            <a:r>
              <a:rPr lang="en-US" sz="1200" dirty="0"/>
              <a:t>Supermarket Type1 accounts for 18.1%, while Department Stores represent 15.4%. </a:t>
            </a:r>
          </a:p>
          <a:p>
            <a:pPr marL="171450" indent="-171450">
              <a:buFont typeface="Arial" panose="020B0604020202020204" pitchFamily="34" charset="0"/>
              <a:buChar char="•"/>
            </a:pPr>
            <a:r>
              <a:rPr lang="en-US" sz="1200" dirty="0"/>
              <a:t>Food Mart has the smallest share at 13.1% of total stores. </a:t>
            </a:r>
          </a:p>
          <a:p>
            <a:pPr marL="171450" indent="-171450">
              <a:buFont typeface="Arial" panose="020B0604020202020204" pitchFamily="34" charset="0"/>
              <a:buChar char="•"/>
            </a:pPr>
            <a:r>
              <a:rPr lang="en-US" sz="1200" dirty="0"/>
              <a:t>The company’s retail network is primarily concentrated in the Supermarket Type2 format, indicating it is the core operating model.</a:t>
            </a:r>
          </a:p>
        </p:txBody>
      </p:sp>
    </p:spTree>
    <p:extLst>
      <p:ext uri="{BB962C8B-B14F-4D97-AF65-F5344CB8AC3E}">
        <p14:creationId xmlns:p14="http://schemas.microsoft.com/office/powerpoint/2010/main" val="2598647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DB7B7F5E-5D69-533F-A589-AAF167B7AB3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004999E-0D42-1F16-B75C-E7D8DC56114D}"/>
              </a:ext>
            </a:extLst>
          </p:cNvPr>
          <p:cNvPicPr>
            <a:picLocks noChangeAspect="1"/>
          </p:cNvPicPr>
          <p:nvPr/>
        </p:nvPicPr>
        <p:blipFill>
          <a:blip r:embed="rId3"/>
          <a:stretch>
            <a:fillRect/>
          </a:stretch>
        </p:blipFill>
        <p:spPr>
          <a:xfrm>
            <a:off x="129398" y="1085484"/>
            <a:ext cx="5269738" cy="3367643"/>
          </a:xfrm>
          <a:prstGeom prst="rect">
            <a:avLst/>
          </a:prstGeom>
        </p:spPr>
      </p:pic>
      <p:sp>
        <p:nvSpPr>
          <p:cNvPr id="5" name="Google Shape;130;g12508d39905_0_54">
            <a:extLst>
              <a:ext uri="{FF2B5EF4-FFF2-40B4-BE49-F238E27FC236}">
                <a16:creationId xmlns:a16="http://schemas.microsoft.com/office/drawing/2014/main" id="{80C0E82E-1589-3641-5AD9-92CDA936BE2F}"/>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Correlation Matrix</a:t>
            </a:r>
          </a:p>
        </p:txBody>
      </p:sp>
      <p:sp>
        <p:nvSpPr>
          <p:cNvPr id="6" name="Triangle 5">
            <a:extLst>
              <a:ext uri="{FF2B5EF4-FFF2-40B4-BE49-F238E27FC236}">
                <a16:creationId xmlns:a16="http://schemas.microsoft.com/office/drawing/2014/main" id="{5F7FBCBE-99E1-1075-ADE0-10A06EF683CE}"/>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2F5B538-5519-76B2-8078-4A536E141B9B}"/>
              </a:ext>
            </a:extLst>
          </p:cNvPr>
          <p:cNvSpPr txBox="1"/>
          <p:nvPr/>
        </p:nvSpPr>
        <p:spPr>
          <a:xfrm>
            <a:off x="6053097" y="1350265"/>
            <a:ext cx="2687492" cy="2492990"/>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MRP has the strongest positive correlation with Product Store Sales Total (0.79), indicating higher-priced products tend to generate higher sales. </a:t>
            </a:r>
          </a:p>
          <a:p>
            <a:pPr marL="171450" indent="-171450">
              <a:buFont typeface="Arial" panose="020B0604020202020204" pitchFamily="34" charset="0"/>
              <a:buChar char="•"/>
            </a:pPr>
            <a:r>
              <a:rPr lang="en-US" sz="1200" dirty="0"/>
              <a:t>Product Weight also shows a strong positive correlation with Product Store Sales Total (0.74).  </a:t>
            </a:r>
          </a:p>
          <a:p>
            <a:pPr marL="171450" indent="-171450">
              <a:buFont typeface="Arial" panose="020B0604020202020204" pitchFamily="34" charset="0"/>
              <a:buChar char="•"/>
            </a:pPr>
            <a:r>
              <a:rPr lang="en-US" sz="1200" dirty="0"/>
              <a:t>Product Weight and Product MRP are moderately positively correlated (0.53), suggesting heavier products are often priced higher.</a:t>
            </a:r>
          </a:p>
        </p:txBody>
      </p:sp>
    </p:spTree>
    <p:extLst>
      <p:ext uri="{BB962C8B-B14F-4D97-AF65-F5344CB8AC3E}">
        <p14:creationId xmlns:p14="http://schemas.microsoft.com/office/powerpoint/2010/main" val="1369346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7733D02E-9C6F-CF38-F9FD-1FD45F36530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6B44B92-7BC2-ED8E-6A76-D12B1CD06F3A}"/>
              </a:ext>
            </a:extLst>
          </p:cNvPr>
          <p:cNvPicPr>
            <a:picLocks noChangeAspect="1"/>
          </p:cNvPicPr>
          <p:nvPr/>
        </p:nvPicPr>
        <p:blipFill>
          <a:blip r:embed="rId3"/>
          <a:stretch>
            <a:fillRect/>
          </a:stretch>
        </p:blipFill>
        <p:spPr>
          <a:xfrm>
            <a:off x="393191" y="971312"/>
            <a:ext cx="4762355" cy="3536680"/>
          </a:xfrm>
          <a:prstGeom prst="rect">
            <a:avLst/>
          </a:prstGeom>
        </p:spPr>
      </p:pic>
      <p:sp>
        <p:nvSpPr>
          <p:cNvPr id="5" name="Google Shape;130;g12508d39905_0_54">
            <a:extLst>
              <a:ext uri="{FF2B5EF4-FFF2-40B4-BE49-F238E27FC236}">
                <a16:creationId xmlns:a16="http://schemas.microsoft.com/office/drawing/2014/main" id="{78D578A3-E16D-30C7-A10E-75EDDEF6917B}"/>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Product Weight vs Product Store Sales</a:t>
            </a:r>
          </a:p>
        </p:txBody>
      </p:sp>
      <p:sp>
        <p:nvSpPr>
          <p:cNvPr id="6" name="Triangle 5">
            <a:extLst>
              <a:ext uri="{FF2B5EF4-FFF2-40B4-BE49-F238E27FC236}">
                <a16:creationId xmlns:a16="http://schemas.microsoft.com/office/drawing/2014/main" id="{144E3708-1366-0098-C2B7-A35038B9E0E2}"/>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805679C-6CE8-3D5F-9AAF-13DF2953F7F1}"/>
              </a:ext>
            </a:extLst>
          </p:cNvPr>
          <p:cNvSpPr txBox="1"/>
          <p:nvPr/>
        </p:nvSpPr>
        <p:spPr>
          <a:xfrm>
            <a:off x="5990344" y="1350265"/>
            <a:ext cx="2615774" cy="2492990"/>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Weight shows a strong positive relationship with Product Store Sales Total. </a:t>
            </a:r>
          </a:p>
          <a:p>
            <a:pPr marL="171450" indent="-171450">
              <a:buFont typeface="Arial" panose="020B0604020202020204" pitchFamily="34" charset="0"/>
              <a:buChar char="•"/>
            </a:pPr>
            <a:r>
              <a:rPr lang="en-US" sz="1200" dirty="0"/>
              <a:t>Higher product weights are generally associated with higher sales values. </a:t>
            </a:r>
          </a:p>
          <a:p>
            <a:pPr marL="171450" indent="-171450">
              <a:buFont typeface="Arial" panose="020B0604020202020204" pitchFamily="34" charset="0"/>
              <a:buChar char="•"/>
            </a:pPr>
            <a:r>
              <a:rPr lang="en-US" sz="1200" dirty="0"/>
              <a:t>Most observations are concentrated between product weights of 8–18 and sales totals of 1,500–5,500.</a:t>
            </a:r>
          </a:p>
          <a:p>
            <a:pPr marL="171450" indent="-171450">
              <a:buFont typeface="Arial" panose="020B0604020202020204" pitchFamily="34" charset="0"/>
              <a:buChar char="•"/>
            </a:pPr>
            <a:r>
              <a:rPr lang="en-US" sz="1200" dirty="0"/>
              <a:t>The scatterplot indicates Product Weight may be an important predictor of sales performance.</a:t>
            </a:r>
          </a:p>
        </p:txBody>
      </p:sp>
    </p:spTree>
    <p:extLst>
      <p:ext uri="{BB962C8B-B14F-4D97-AF65-F5344CB8AC3E}">
        <p14:creationId xmlns:p14="http://schemas.microsoft.com/office/powerpoint/2010/main" val="4220048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B98E253E-CA84-B01F-7F8C-DE0851C2265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ECE56B4-35E1-07A6-B918-D3A5F56A1CBD}"/>
              </a:ext>
            </a:extLst>
          </p:cNvPr>
          <p:cNvPicPr>
            <a:picLocks noChangeAspect="1"/>
          </p:cNvPicPr>
          <p:nvPr/>
        </p:nvPicPr>
        <p:blipFill>
          <a:blip r:embed="rId3"/>
          <a:stretch>
            <a:fillRect/>
          </a:stretch>
        </p:blipFill>
        <p:spPr>
          <a:xfrm>
            <a:off x="202550" y="861979"/>
            <a:ext cx="5214402" cy="3895344"/>
          </a:xfrm>
          <a:prstGeom prst="rect">
            <a:avLst/>
          </a:prstGeom>
        </p:spPr>
      </p:pic>
      <p:sp>
        <p:nvSpPr>
          <p:cNvPr id="5" name="Google Shape;130;g12508d39905_0_54">
            <a:extLst>
              <a:ext uri="{FF2B5EF4-FFF2-40B4-BE49-F238E27FC236}">
                <a16:creationId xmlns:a16="http://schemas.microsoft.com/office/drawing/2014/main" id="{33EE4192-43A4-E747-5EE3-530290BB3F45}"/>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Product Allocated Areas vs Total Sales</a:t>
            </a:r>
          </a:p>
        </p:txBody>
      </p:sp>
      <p:sp>
        <p:nvSpPr>
          <p:cNvPr id="6" name="Triangle 5">
            <a:extLst>
              <a:ext uri="{FF2B5EF4-FFF2-40B4-BE49-F238E27FC236}">
                <a16:creationId xmlns:a16="http://schemas.microsoft.com/office/drawing/2014/main" id="{153ABFA1-3EC2-EF9B-7275-D485F8B7D674}"/>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EA717B8-A69B-A2A1-4859-ED37C2F90192}"/>
              </a:ext>
            </a:extLst>
          </p:cNvPr>
          <p:cNvSpPr txBox="1"/>
          <p:nvPr/>
        </p:nvSpPr>
        <p:spPr>
          <a:xfrm>
            <a:off x="5990344" y="1244613"/>
            <a:ext cx="2687491" cy="2862322"/>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Allocated Area shows little to no strong linear relationship with Product Store Sales Total.   </a:t>
            </a:r>
          </a:p>
          <a:p>
            <a:pPr marL="171450" indent="-171450">
              <a:buFont typeface="Arial" panose="020B0604020202020204" pitchFamily="34" charset="0"/>
              <a:buChar char="•"/>
            </a:pPr>
            <a:r>
              <a:rPr lang="en-US" sz="1200" dirty="0"/>
              <a:t>Sales values are widely dispersed across all allocation levels, indicating weak correlation. </a:t>
            </a:r>
          </a:p>
          <a:p>
            <a:pPr marL="171450" indent="-171450">
              <a:buFont typeface="Arial" panose="020B0604020202020204" pitchFamily="34" charset="0"/>
              <a:buChar char="•"/>
            </a:pPr>
            <a:r>
              <a:rPr lang="en-US" sz="1200" dirty="0"/>
              <a:t>Most products are concentrated within lower allocated area values below 0.15.</a:t>
            </a:r>
          </a:p>
          <a:p>
            <a:pPr marL="171450" indent="-171450">
              <a:buFont typeface="Arial" panose="020B0604020202020204" pitchFamily="34" charset="0"/>
              <a:buChar char="•"/>
            </a:pPr>
            <a:r>
              <a:rPr lang="en-US" sz="1200" dirty="0"/>
              <a:t>A few products with large allocated areas achieve high sales, but similar sales levels are also observed at smaller allocation sizes.</a:t>
            </a:r>
          </a:p>
        </p:txBody>
      </p:sp>
    </p:spTree>
    <p:extLst>
      <p:ext uri="{BB962C8B-B14F-4D97-AF65-F5344CB8AC3E}">
        <p14:creationId xmlns:p14="http://schemas.microsoft.com/office/powerpoint/2010/main" val="1092069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9320B971-79C1-9B25-B049-A09EA4382E0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758CBF9-C357-B927-3236-4A8E669577FF}"/>
              </a:ext>
            </a:extLst>
          </p:cNvPr>
          <p:cNvPicPr>
            <a:picLocks noChangeAspect="1"/>
          </p:cNvPicPr>
          <p:nvPr/>
        </p:nvPicPr>
        <p:blipFill>
          <a:blip r:embed="rId3"/>
          <a:stretch>
            <a:fillRect/>
          </a:stretch>
        </p:blipFill>
        <p:spPr>
          <a:xfrm>
            <a:off x="364599" y="958877"/>
            <a:ext cx="5214402" cy="3895344"/>
          </a:xfrm>
          <a:prstGeom prst="rect">
            <a:avLst/>
          </a:prstGeom>
        </p:spPr>
      </p:pic>
      <p:sp>
        <p:nvSpPr>
          <p:cNvPr id="5" name="Google Shape;130;g12508d39905_0_54">
            <a:extLst>
              <a:ext uri="{FF2B5EF4-FFF2-40B4-BE49-F238E27FC236}">
                <a16:creationId xmlns:a16="http://schemas.microsoft.com/office/drawing/2014/main" id="{C6ED39BE-DC07-6BFC-003C-0DCC99ED7A5F}"/>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Product MRP Area vs Total Sales</a:t>
            </a:r>
          </a:p>
        </p:txBody>
      </p:sp>
      <p:sp>
        <p:nvSpPr>
          <p:cNvPr id="6" name="Triangle 5">
            <a:extLst>
              <a:ext uri="{FF2B5EF4-FFF2-40B4-BE49-F238E27FC236}">
                <a16:creationId xmlns:a16="http://schemas.microsoft.com/office/drawing/2014/main" id="{480ED0CA-CB7E-C3D7-D2F6-C871BD864B2A}"/>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A7D5FF4-BFED-6B3C-1597-D0ACA754D605}"/>
              </a:ext>
            </a:extLst>
          </p:cNvPr>
          <p:cNvSpPr txBox="1"/>
          <p:nvPr/>
        </p:nvSpPr>
        <p:spPr>
          <a:xfrm>
            <a:off x="6026783" y="1536815"/>
            <a:ext cx="2911884" cy="2308324"/>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MRP shows a strong positive relationship with Product Store Sales Total. </a:t>
            </a:r>
          </a:p>
          <a:p>
            <a:pPr marL="171450" indent="-171450">
              <a:buFont typeface="Arial" panose="020B0604020202020204" pitchFamily="34" charset="0"/>
              <a:buChar char="•"/>
            </a:pPr>
            <a:r>
              <a:rPr lang="en-US" sz="1200" dirty="0"/>
              <a:t>Higher-priced products generally generate higher sales values. </a:t>
            </a:r>
          </a:p>
          <a:p>
            <a:pPr marL="171450" indent="-171450">
              <a:buFont typeface="Arial" panose="020B0604020202020204" pitchFamily="34" charset="0"/>
              <a:buChar char="•"/>
            </a:pPr>
            <a:r>
              <a:rPr lang="en-US" sz="1200" dirty="0"/>
              <a:t>Most observations are concentrated between MRP values of 100–220 and sales totals of 1,500–6,000. </a:t>
            </a:r>
          </a:p>
          <a:p>
            <a:pPr marL="171450" indent="-171450">
              <a:buFont typeface="Arial" panose="020B0604020202020204" pitchFamily="34" charset="0"/>
              <a:buChar char="•"/>
            </a:pPr>
            <a:r>
              <a:rPr lang="en-US" sz="1200" dirty="0"/>
              <a:t>The scatterplot displays a clear upward trend, indicating Product MRP is a strong predictor of sales performance.</a:t>
            </a:r>
          </a:p>
        </p:txBody>
      </p:sp>
    </p:spTree>
    <p:extLst>
      <p:ext uri="{BB962C8B-B14F-4D97-AF65-F5344CB8AC3E}">
        <p14:creationId xmlns:p14="http://schemas.microsoft.com/office/powerpoint/2010/main" val="417116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4CF43A68-CD43-F40E-329A-255746E9A95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376C84F-2027-037F-142A-80F3AE362C5D}"/>
              </a:ext>
            </a:extLst>
          </p:cNvPr>
          <p:cNvPicPr>
            <a:picLocks noChangeAspect="1"/>
          </p:cNvPicPr>
          <p:nvPr/>
        </p:nvPicPr>
        <p:blipFill>
          <a:blip r:embed="rId3"/>
          <a:stretch>
            <a:fillRect/>
          </a:stretch>
        </p:blipFill>
        <p:spPr>
          <a:xfrm>
            <a:off x="202550" y="1030568"/>
            <a:ext cx="4976863" cy="3614583"/>
          </a:xfrm>
          <a:prstGeom prst="rect">
            <a:avLst/>
          </a:prstGeom>
        </p:spPr>
      </p:pic>
      <p:sp>
        <p:nvSpPr>
          <p:cNvPr id="5" name="Google Shape;130;g12508d39905_0_54">
            <a:extLst>
              <a:ext uri="{FF2B5EF4-FFF2-40B4-BE49-F238E27FC236}">
                <a16:creationId xmlns:a16="http://schemas.microsoft.com/office/drawing/2014/main" id="{93FEA2B5-7F5B-0E05-0A18-60CF9D10E984}"/>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Revenue by Product Type</a:t>
            </a:r>
          </a:p>
        </p:txBody>
      </p:sp>
      <p:sp>
        <p:nvSpPr>
          <p:cNvPr id="6" name="Triangle 5">
            <a:extLst>
              <a:ext uri="{FF2B5EF4-FFF2-40B4-BE49-F238E27FC236}">
                <a16:creationId xmlns:a16="http://schemas.microsoft.com/office/drawing/2014/main" id="{4B84779F-8985-4E59-2185-24DC36559C69}"/>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2F0DD3D-A77A-A38E-B058-02A58E4451FA}"/>
              </a:ext>
            </a:extLst>
          </p:cNvPr>
          <p:cNvSpPr txBox="1"/>
          <p:nvPr/>
        </p:nvSpPr>
        <p:spPr>
          <a:xfrm>
            <a:off x="6085192" y="1037366"/>
            <a:ext cx="2502996" cy="3600986"/>
          </a:xfrm>
          <a:prstGeom prst="rect">
            <a:avLst/>
          </a:prstGeom>
          <a:noFill/>
        </p:spPr>
        <p:txBody>
          <a:bodyPr wrap="square" rtlCol="0">
            <a:spAutoFit/>
          </a:bodyPr>
          <a:lstStyle/>
          <a:p>
            <a:pPr marL="171450" indent="-171450">
              <a:buFont typeface="Arial" panose="020B0604020202020204" pitchFamily="34" charset="0"/>
              <a:buChar char="•"/>
            </a:pPr>
            <a:r>
              <a:rPr lang="en-US" sz="1200" dirty="0"/>
              <a:t>Fruits and Vegetables generate the highest total revenue among all product categories. </a:t>
            </a:r>
          </a:p>
          <a:p>
            <a:pPr marL="171450" indent="-171450">
              <a:buFont typeface="Arial" panose="020B0604020202020204" pitchFamily="34" charset="0"/>
              <a:buChar char="•"/>
            </a:pPr>
            <a:r>
              <a:rPr lang="en-US" sz="1200" dirty="0"/>
              <a:t>Snack Foods is the second-largest revenue contributor, indicating strong customer demand. </a:t>
            </a:r>
          </a:p>
          <a:p>
            <a:pPr marL="171450" indent="-171450">
              <a:buFont typeface="Arial" panose="020B0604020202020204" pitchFamily="34" charset="0"/>
              <a:buChar char="•"/>
            </a:pPr>
            <a:r>
              <a:rPr lang="en-US" sz="1200" dirty="0"/>
              <a:t>Dairy and Frozen Foods also contribute significantly to overall revenue performance. </a:t>
            </a:r>
          </a:p>
          <a:p>
            <a:pPr marL="171450" indent="-171450">
              <a:buFont typeface="Arial" panose="020B0604020202020204" pitchFamily="34" charset="0"/>
              <a:buChar char="•"/>
            </a:pPr>
            <a:r>
              <a:rPr lang="en-US" sz="1200" dirty="0"/>
              <a:t>Seafood, Breakfast, and Starchy Foods generate the lowest revenues across categories. </a:t>
            </a:r>
          </a:p>
          <a:p>
            <a:pPr marL="171450" indent="-171450">
              <a:buFont typeface="Arial" panose="020B0604020202020204" pitchFamily="34" charset="0"/>
              <a:buChar char="•"/>
            </a:pPr>
            <a:r>
              <a:rPr lang="en-US" sz="1200" dirty="0"/>
              <a:t>Revenue distribution is concentrated among a few major product categories, suggesting key dependence on high-performing food segments.</a:t>
            </a:r>
          </a:p>
        </p:txBody>
      </p:sp>
    </p:spTree>
    <p:extLst>
      <p:ext uri="{BB962C8B-B14F-4D97-AF65-F5344CB8AC3E}">
        <p14:creationId xmlns:p14="http://schemas.microsoft.com/office/powerpoint/2010/main" val="3659952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FD67F73A-7BAA-FE49-F094-484430B2EB3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F7814E8-ED05-4E71-9205-EB6DC72B66E0}"/>
              </a:ext>
            </a:extLst>
          </p:cNvPr>
          <p:cNvPicPr>
            <a:picLocks noChangeAspect="1"/>
          </p:cNvPicPr>
          <p:nvPr/>
        </p:nvPicPr>
        <p:blipFill>
          <a:blip r:embed="rId3"/>
          <a:stretch>
            <a:fillRect/>
          </a:stretch>
        </p:blipFill>
        <p:spPr>
          <a:xfrm>
            <a:off x="451556" y="958877"/>
            <a:ext cx="4491847" cy="3895344"/>
          </a:xfrm>
          <a:prstGeom prst="rect">
            <a:avLst/>
          </a:prstGeom>
        </p:spPr>
      </p:pic>
      <p:sp>
        <p:nvSpPr>
          <p:cNvPr id="5" name="Google Shape;130;g12508d39905_0_54">
            <a:extLst>
              <a:ext uri="{FF2B5EF4-FFF2-40B4-BE49-F238E27FC236}">
                <a16:creationId xmlns:a16="http://schemas.microsoft.com/office/drawing/2014/main" id="{C2678FB0-DBAE-CBFD-580C-C3A3F8540AEC}"/>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Revenue by Product Sugar Content</a:t>
            </a:r>
          </a:p>
        </p:txBody>
      </p:sp>
      <p:sp>
        <p:nvSpPr>
          <p:cNvPr id="6" name="Triangle 5">
            <a:extLst>
              <a:ext uri="{FF2B5EF4-FFF2-40B4-BE49-F238E27FC236}">
                <a16:creationId xmlns:a16="http://schemas.microsoft.com/office/drawing/2014/main" id="{43D223EB-D2D2-1A99-14FB-3040D42799DA}"/>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7BCAF51-6102-6BD1-27FB-6A6DA244D426}"/>
              </a:ext>
            </a:extLst>
          </p:cNvPr>
          <p:cNvSpPr txBox="1"/>
          <p:nvPr/>
        </p:nvSpPr>
        <p:spPr>
          <a:xfrm>
            <a:off x="6112085" y="1610306"/>
            <a:ext cx="2449209" cy="1754326"/>
          </a:xfrm>
          <a:prstGeom prst="rect">
            <a:avLst/>
          </a:prstGeom>
          <a:noFill/>
        </p:spPr>
        <p:txBody>
          <a:bodyPr wrap="square" rtlCol="0">
            <a:spAutoFit/>
          </a:bodyPr>
          <a:lstStyle/>
          <a:p>
            <a:pPr marL="171450" indent="-171450">
              <a:buFont typeface="Arial" panose="020B0604020202020204" pitchFamily="34" charset="0"/>
              <a:buChar char="•"/>
            </a:pPr>
            <a:r>
              <a:rPr lang="en-US" sz="1200" dirty="0"/>
              <a:t>Low Sugar products generate the highest total revenue by a significant margin. </a:t>
            </a:r>
          </a:p>
          <a:p>
            <a:pPr marL="171450" indent="-171450">
              <a:buFont typeface="Arial" panose="020B0604020202020204" pitchFamily="34" charset="0"/>
              <a:buChar char="•"/>
            </a:pPr>
            <a:r>
              <a:rPr lang="en-US" sz="1200" dirty="0"/>
              <a:t>Regular sugar products are the second-largest revenue contributors. </a:t>
            </a:r>
          </a:p>
          <a:p>
            <a:pPr marL="171450" indent="-171450">
              <a:buFont typeface="Arial" panose="020B0604020202020204" pitchFamily="34" charset="0"/>
              <a:buChar char="•"/>
            </a:pPr>
            <a:r>
              <a:rPr lang="en-US" sz="1200" dirty="0"/>
              <a:t>No Sugar products contribute moderate revenue compared to Low Sugar products. </a:t>
            </a:r>
          </a:p>
        </p:txBody>
      </p:sp>
    </p:spTree>
    <p:extLst>
      <p:ext uri="{BB962C8B-B14F-4D97-AF65-F5344CB8AC3E}">
        <p14:creationId xmlns:p14="http://schemas.microsoft.com/office/powerpoint/2010/main" val="2893215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42653196-EEE5-D9E6-0388-5186F5FE83EE}"/>
            </a:ext>
          </a:extLst>
        </p:cNvPr>
        <p:cNvGrpSpPr/>
        <p:nvPr/>
      </p:nvGrpSpPr>
      <p:grpSpPr>
        <a:xfrm>
          <a:off x="0" y="0"/>
          <a:ext cx="0" cy="0"/>
          <a:chOff x="0" y="0"/>
          <a:chExt cx="0" cy="0"/>
        </a:xfrm>
      </p:grpSpPr>
      <p:sp>
        <p:nvSpPr>
          <p:cNvPr id="5" name="Google Shape;130;g12508d39905_0_54">
            <a:extLst>
              <a:ext uri="{FF2B5EF4-FFF2-40B4-BE49-F238E27FC236}">
                <a16:creationId xmlns:a16="http://schemas.microsoft.com/office/drawing/2014/main" id="{3B72712C-5F9A-F61A-EF13-92AE8909B9A9}"/>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Revenue by Store</a:t>
            </a:r>
          </a:p>
        </p:txBody>
      </p:sp>
      <p:pic>
        <p:nvPicPr>
          <p:cNvPr id="3" name="Picture 2">
            <a:extLst>
              <a:ext uri="{FF2B5EF4-FFF2-40B4-BE49-F238E27FC236}">
                <a16:creationId xmlns:a16="http://schemas.microsoft.com/office/drawing/2014/main" id="{3FDE06E7-3BA6-8D66-92BE-4EDDBD219E53}"/>
              </a:ext>
            </a:extLst>
          </p:cNvPr>
          <p:cNvPicPr>
            <a:picLocks noChangeAspect="1"/>
          </p:cNvPicPr>
          <p:nvPr/>
        </p:nvPicPr>
        <p:blipFill>
          <a:blip r:embed="rId3"/>
          <a:stretch>
            <a:fillRect/>
          </a:stretch>
        </p:blipFill>
        <p:spPr>
          <a:xfrm>
            <a:off x="276895" y="1143000"/>
            <a:ext cx="4295105" cy="3621024"/>
          </a:xfrm>
          <a:prstGeom prst="rect">
            <a:avLst/>
          </a:prstGeom>
        </p:spPr>
      </p:pic>
      <p:sp>
        <p:nvSpPr>
          <p:cNvPr id="4" name="Triangle 3">
            <a:extLst>
              <a:ext uri="{FF2B5EF4-FFF2-40B4-BE49-F238E27FC236}">
                <a16:creationId xmlns:a16="http://schemas.microsoft.com/office/drawing/2014/main" id="{6D19AD70-2380-7D56-FCC7-10EA9FF26852}"/>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520516A-5640-78D7-7989-CFA6E633BD1E}"/>
              </a:ext>
            </a:extLst>
          </p:cNvPr>
          <p:cNvSpPr txBox="1"/>
          <p:nvPr/>
        </p:nvSpPr>
        <p:spPr>
          <a:xfrm>
            <a:off x="6049489" y="1546411"/>
            <a:ext cx="2817616" cy="2308324"/>
          </a:xfrm>
          <a:prstGeom prst="rect">
            <a:avLst/>
          </a:prstGeom>
          <a:noFill/>
        </p:spPr>
        <p:txBody>
          <a:bodyPr wrap="square" rtlCol="0">
            <a:spAutoFit/>
          </a:bodyPr>
          <a:lstStyle/>
          <a:p>
            <a:pPr marL="171450" indent="-171450">
              <a:buFont typeface="Arial" panose="020B0604020202020204" pitchFamily="34" charset="0"/>
              <a:buChar char="•"/>
            </a:pPr>
            <a:r>
              <a:rPr lang="en-US" sz="1200" dirty="0"/>
              <a:t>OUT004 generates the highest revenue among all stores by a substantial margin. </a:t>
            </a:r>
          </a:p>
          <a:p>
            <a:pPr marL="171450" indent="-171450">
              <a:buFont typeface="Arial" panose="020B0604020202020204" pitchFamily="34" charset="0"/>
              <a:buChar char="•"/>
            </a:pPr>
            <a:r>
              <a:rPr lang="en-US" sz="1200" dirty="0"/>
              <a:t>OUT003 and OUT001 produce moderate revenue levels, with relatively similar performance. </a:t>
            </a:r>
          </a:p>
          <a:p>
            <a:pPr marL="171450" indent="-171450">
              <a:buFont typeface="Arial" panose="020B0604020202020204" pitchFamily="34" charset="0"/>
              <a:buChar char="•"/>
            </a:pPr>
            <a:r>
              <a:rPr lang="en-US" sz="1200" dirty="0"/>
              <a:t>OUT002 generates the lowest revenue across the four stores. Revenue distribution is uneven across store locations, indicating significant differences in store performance.</a:t>
            </a:r>
          </a:p>
        </p:txBody>
      </p:sp>
    </p:spTree>
    <p:extLst>
      <p:ext uri="{BB962C8B-B14F-4D97-AF65-F5344CB8AC3E}">
        <p14:creationId xmlns:p14="http://schemas.microsoft.com/office/powerpoint/2010/main" val="1005640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106411EC-F3AA-1F47-F2D6-5A9292904D7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34199A0-0E72-5022-0E65-71AB8B3906C1}"/>
              </a:ext>
            </a:extLst>
          </p:cNvPr>
          <p:cNvPicPr>
            <a:picLocks noChangeAspect="1"/>
          </p:cNvPicPr>
          <p:nvPr/>
        </p:nvPicPr>
        <p:blipFill>
          <a:blip r:embed="rId3"/>
          <a:stretch>
            <a:fillRect/>
          </a:stretch>
        </p:blipFill>
        <p:spPr>
          <a:xfrm>
            <a:off x="295794" y="958877"/>
            <a:ext cx="4620492" cy="3895344"/>
          </a:xfrm>
          <a:prstGeom prst="rect">
            <a:avLst/>
          </a:prstGeom>
        </p:spPr>
      </p:pic>
      <p:sp>
        <p:nvSpPr>
          <p:cNvPr id="5" name="Google Shape;130;g12508d39905_0_54">
            <a:extLst>
              <a:ext uri="{FF2B5EF4-FFF2-40B4-BE49-F238E27FC236}">
                <a16:creationId xmlns:a16="http://schemas.microsoft.com/office/drawing/2014/main" id="{8DFB4533-295D-A814-EED5-D16C0EBCB506}"/>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Revenue by Product Store Size</a:t>
            </a:r>
          </a:p>
        </p:txBody>
      </p:sp>
      <p:sp>
        <p:nvSpPr>
          <p:cNvPr id="6" name="Triangle 5">
            <a:extLst>
              <a:ext uri="{FF2B5EF4-FFF2-40B4-BE49-F238E27FC236}">
                <a16:creationId xmlns:a16="http://schemas.microsoft.com/office/drawing/2014/main" id="{BDDEF9B7-A40C-8596-9B81-7172F27A4771}"/>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68577DF-2BCA-2635-6DA3-2007E12BC465}"/>
              </a:ext>
            </a:extLst>
          </p:cNvPr>
          <p:cNvSpPr txBox="1"/>
          <p:nvPr/>
        </p:nvSpPr>
        <p:spPr>
          <a:xfrm>
            <a:off x="6085192" y="1441661"/>
            <a:ext cx="2386455" cy="2492990"/>
          </a:xfrm>
          <a:prstGeom prst="rect">
            <a:avLst/>
          </a:prstGeom>
          <a:noFill/>
        </p:spPr>
        <p:txBody>
          <a:bodyPr wrap="square" rtlCol="0">
            <a:spAutoFit/>
          </a:bodyPr>
          <a:lstStyle/>
          <a:p>
            <a:pPr marL="171450" indent="-171450">
              <a:buFont typeface="Arial" panose="020B0604020202020204" pitchFamily="34" charset="0"/>
              <a:buChar char="•"/>
            </a:pPr>
            <a:r>
              <a:rPr lang="en-US" sz="1200" dirty="0"/>
              <a:t>Medium-sized stores generate the highest total revenue by a significant margin. </a:t>
            </a:r>
          </a:p>
          <a:p>
            <a:pPr marL="171450" indent="-171450">
              <a:buFont typeface="Arial" panose="020B0604020202020204" pitchFamily="34" charset="0"/>
              <a:buChar char="•"/>
            </a:pPr>
            <a:r>
              <a:rPr lang="en-US" sz="1200" dirty="0"/>
              <a:t>High-sized stores contribute moderate revenue compared to medium stores. </a:t>
            </a:r>
          </a:p>
          <a:p>
            <a:pPr marL="171450" indent="-171450">
              <a:buFont typeface="Arial" panose="020B0604020202020204" pitchFamily="34" charset="0"/>
              <a:buChar char="•"/>
            </a:pPr>
            <a:r>
              <a:rPr lang="en-US" sz="1200" dirty="0"/>
              <a:t>Small stores generate the lowest overall revenue.</a:t>
            </a:r>
          </a:p>
          <a:p>
            <a:pPr marL="171450" indent="-171450">
              <a:buFont typeface="Arial" panose="020B0604020202020204" pitchFamily="34" charset="0"/>
              <a:buChar char="•"/>
            </a:pPr>
            <a:r>
              <a:rPr lang="en-US" sz="1200" dirty="0"/>
              <a:t>Revenue distribution aligns closely with the higher concentration of medium-sized stores in the dataset.</a:t>
            </a:r>
          </a:p>
        </p:txBody>
      </p:sp>
    </p:spTree>
    <p:extLst>
      <p:ext uri="{BB962C8B-B14F-4D97-AF65-F5344CB8AC3E}">
        <p14:creationId xmlns:p14="http://schemas.microsoft.com/office/powerpoint/2010/main" val="3963487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540030A-E851-D217-9D55-2590F2BCD8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4BC2707-0845-4F54-65B4-7408DB0B76C7}"/>
              </a:ext>
            </a:extLst>
          </p:cNvPr>
          <p:cNvPicPr>
            <a:picLocks noChangeAspect="1"/>
          </p:cNvPicPr>
          <p:nvPr/>
        </p:nvPicPr>
        <p:blipFill>
          <a:blip r:embed="rId3"/>
          <a:stretch>
            <a:fillRect/>
          </a:stretch>
        </p:blipFill>
        <p:spPr>
          <a:xfrm>
            <a:off x="621792" y="1128170"/>
            <a:ext cx="3789882" cy="3644997"/>
          </a:xfrm>
          <a:prstGeom prst="rect">
            <a:avLst/>
          </a:prstGeom>
        </p:spPr>
      </p:pic>
      <p:sp>
        <p:nvSpPr>
          <p:cNvPr id="4" name="Google Shape;130;g12508d39905_0_54">
            <a:extLst>
              <a:ext uri="{FF2B5EF4-FFF2-40B4-BE49-F238E27FC236}">
                <a16:creationId xmlns:a16="http://schemas.microsoft.com/office/drawing/2014/main" id="{74126F18-64F4-10B7-501C-624B5AA55B3D}"/>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Revenue by Store Type</a:t>
            </a:r>
          </a:p>
        </p:txBody>
      </p:sp>
      <p:sp>
        <p:nvSpPr>
          <p:cNvPr id="6" name="Triangle 5">
            <a:extLst>
              <a:ext uri="{FF2B5EF4-FFF2-40B4-BE49-F238E27FC236}">
                <a16:creationId xmlns:a16="http://schemas.microsoft.com/office/drawing/2014/main" id="{5B7BD41F-5ED7-E1A7-9642-93A2EB1FD198}"/>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CD019B1-B49C-22F1-55EB-46FD0EE9C30C}"/>
              </a:ext>
            </a:extLst>
          </p:cNvPr>
          <p:cNvSpPr txBox="1"/>
          <p:nvPr/>
        </p:nvSpPr>
        <p:spPr>
          <a:xfrm>
            <a:off x="6054670" y="1529624"/>
            <a:ext cx="2730741" cy="2308324"/>
          </a:xfrm>
          <a:prstGeom prst="rect">
            <a:avLst/>
          </a:prstGeom>
          <a:noFill/>
        </p:spPr>
        <p:txBody>
          <a:bodyPr wrap="square" rtlCol="0">
            <a:spAutoFit/>
          </a:bodyPr>
          <a:lstStyle/>
          <a:p>
            <a:pPr marL="171450" indent="-171450">
              <a:buFont typeface="Arial" panose="020B0604020202020204" pitchFamily="34" charset="0"/>
              <a:buChar char="•"/>
            </a:pPr>
            <a:r>
              <a:rPr lang="en-US" sz="1200" dirty="0"/>
              <a:t>Supermarket Type2 generates the highest total revenue among all store types by a large margin.   </a:t>
            </a:r>
          </a:p>
          <a:p>
            <a:pPr marL="171450" indent="-171450">
              <a:buFont typeface="Arial" panose="020B0604020202020204" pitchFamily="34" charset="0"/>
              <a:buChar char="•"/>
            </a:pPr>
            <a:r>
              <a:rPr lang="en-US" sz="1200" dirty="0"/>
              <a:t>Department Stores and Supermarket Type1 contribute moderate and relatively similar revenue levels. </a:t>
            </a:r>
          </a:p>
          <a:p>
            <a:pPr marL="171450" indent="-171450">
              <a:buFont typeface="Arial" panose="020B0604020202020204" pitchFamily="34" charset="0"/>
              <a:buChar char="•"/>
            </a:pPr>
            <a:r>
              <a:rPr lang="en-US" sz="1200" dirty="0"/>
              <a:t>Food Mart produces the lowest overall revenue.</a:t>
            </a:r>
          </a:p>
          <a:p>
            <a:pPr marL="171450" indent="-171450">
              <a:buFont typeface="Arial" panose="020B0604020202020204" pitchFamily="34" charset="0"/>
              <a:buChar char="•"/>
            </a:pPr>
            <a:r>
              <a:rPr lang="en-US" sz="1200" dirty="0"/>
              <a:t>Revenue concentration is heavily skewed toward the Supermarket Type2 format.</a:t>
            </a:r>
          </a:p>
        </p:txBody>
      </p:sp>
    </p:spTree>
    <p:extLst>
      <p:ext uri="{BB962C8B-B14F-4D97-AF65-F5344CB8AC3E}">
        <p14:creationId xmlns:p14="http://schemas.microsoft.com/office/powerpoint/2010/main" val="2935780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D1C68216-2FE7-D2FD-2430-02837DBFE6E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C80467A-C18A-1D75-E540-64A0D326436C}"/>
              </a:ext>
            </a:extLst>
          </p:cNvPr>
          <p:cNvPicPr>
            <a:picLocks noChangeAspect="1"/>
          </p:cNvPicPr>
          <p:nvPr/>
        </p:nvPicPr>
        <p:blipFill>
          <a:blip r:embed="rId3"/>
          <a:stretch>
            <a:fillRect/>
          </a:stretch>
        </p:blipFill>
        <p:spPr>
          <a:xfrm>
            <a:off x="115860" y="1036565"/>
            <a:ext cx="5216473" cy="3513739"/>
          </a:xfrm>
          <a:prstGeom prst="rect">
            <a:avLst/>
          </a:prstGeom>
        </p:spPr>
      </p:pic>
      <p:sp>
        <p:nvSpPr>
          <p:cNvPr id="5" name="Google Shape;130;g12508d39905_0_54">
            <a:extLst>
              <a:ext uri="{FF2B5EF4-FFF2-40B4-BE49-F238E27FC236}">
                <a16:creationId xmlns:a16="http://schemas.microsoft.com/office/drawing/2014/main" id="{6FC353DD-25EB-739A-75B0-AFBC01B48B81}"/>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Store vs Product Store Sales</a:t>
            </a:r>
          </a:p>
        </p:txBody>
      </p:sp>
      <p:sp>
        <p:nvSpPr>
          <p:cNvPr id="6" name="Triangle 5">
            <a:extLst>
              <a:ext uri="{FF2B5EF4-FFF2-40B4-BE49-F238E27FC236}">
                <a16:creationId xmlns:a16="http://schemas.microsoft.com/office/drawing/2014/main" id="{05D44E86-71E0-A6D1-F4F6-8D7B6E51E197}"/>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5B89BA6-6E7F-4B90-26E8-61247D610C7B}"/>
              </a:ext>
            </a:extLst>
          </p:cNvPr>
          <p:cNvSpPr txBox="1"/>
          <p:nvPr/>
        </p:nvSpPr>
        <p:spPr>
          <a:xfrm>
            <a:off x="6165875" y="1232922"/>
            <a:ext cx="2386454" cy="2677656"/>
          </a:xfrm>
          <a:prstGeom prst="rect">
            <a:avLst/>
          </a:prstGeom>
          <a:noFill/>
        </p:spPr>
        <p:txBody>
          <a:bodyPr wrap="square" rtlCol="0">
            <a:spAutoFit/>
          </a:bodyPr>
          <a:lstStyle/>
          <a:p>
            <a:pPr marL="171450" indent="-171450">
              <a:buFont typeface="Arial" panose="020B0604020202020204" pitchFamily="34" charset="0"/>
              <a:buChar char="•"/>
            </a:pPr>
            <a:r>
              <a:rPr lang="en-US" sz="1200" dirty="0"/>
              <a:t>OUT003 has the highest median product sales among all stores. </a:t>
            </a:r>
          </a:p>
          <a:p>
            <a:pPr marL="171450" indent="-171450">
              <a:buFont typeface="Arial" panose="020B0604020202020204" pitchFamily="34" charset="0"/>
              <a:buChar char="•"/>
            </a:pPr>
            <a:r>
              <a:rPr lang="en-US" sz="1200" dirty="0"/>
              <a:t>OUT002 shows the lowest median sales and the narrowest sales distribution.  </a:t>
            </a:r>
          </a:p>
          <a:p>
            <a:pPr marL="171450" indent="-171450">
              <a:buFont typeface="Arial" panose="020B0604020202020204" pitchFamily="34" charset="0"/>
              <a:buChar char="•"/>
            </a:pPr>
            <a:r>
              <a:rPr lang="en-US" sz="1200" dirty="0"/>
              <a:t>OUT001 and OUT004 demonstrate moderate sales performance with relatively wider variability. </a:t>
            </a:r>
          </a:p>
          <a:p>
            <a:pPr marL="171450" indent="-171450">
              <a:buFont typeface="Arial" panose="020B0604020202020204" pitchFamily="34" charset="0"/>
              <a:buChar char="•"/>
            </a:pPr>
            <a:r>
              <a:rPr lang="en-US" sz="1200" dirty="0"/>
              <a:t>OUT003 and OUT004 contain several high-value outliers, indicating some exceptionally strong-selling products.</a:t>
            </a:r>
          </a:p>
        </p:txBody>
      </p:sp>
    </p:spTree>
    <p:extLst>
      <p:ext uri="{BB962C8B-B14F-4D97-AF65-F5344CB8AC3E}">
        <p14:creationId xmlns:p14="http://schemas.microsoft.com/office/powerpoint/2010/main" val="1182673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0DCFCD5A-B4A2-B16E-9181-785ED44421A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91822B-BAE9-D63B-A531-7FD6AABE3E54}"/>
              </a:ext>
            </a:extLst>
          </p:cNvPr>
          <p:cNvPicPr>
            <a:picLocks noChangeAspect="1"/>
          </p:cNvPicPr>
          <p:nvPr/>
        </p:nvPicPr>
        <p:blipFill>
          <a:blip r:embed="rId3"/>
          <a:stretch>
            <a:fillRect/>
          </a:stretch>
        </p:blipFill>
        <p:spPr>
          <a:xfrm>
            <a:off x="202551" y="947692"/>
            <a:ext cx="4966216" cy="3468860"/>
          </a:xfrm>
          <a:prstGeom prst="rect">
            <a:avLst/>
          </a:prstGeom>
        </p:spPr>
      </p:pic>
      <p:sp>
        <p:nvSpPr>
          <p:cNvPr id="5" name="Google Shape;130;g12508d39905_0_54">
            <a:extLst>
              <a:ext uri="{FF2B5EF4-FFF2-40B4-BE49-F238E27FC236}">
                <a16:creationId xmlns:a16="http://schemas.microsoft.com/office/drawing/2014/main" id="{71566646-A180-2041-331B-8CDF1FDE16E0}"/>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Store Size vs Product Store Sales</a:t>
            </a:r>
          </a:p>
        </p:txBody>
      </p:sp>
      <p:sp>
        <p:nvSpPr>
          <p:cNvPr id="6" name="Triangle 5">
            <a:extLst>
              <a:ext uri="{FF2B5EF4-FFF2-40B4-BE49-F238E27FC236}">
                <a16:creationId xmlns:a16="http://schemas.microsoft.com/office/drawing/2014/main" id="{6F116797-C4A8-36B0-0A89-40626B3B98D0}"/>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AF73914-B5CD-3476-946B-059F1EE70099}"/>
              </a:ext>
            </a:extLst>
          </p:cNvPr>
          <p:cNvSpPr txBox="1"/>
          <p:nvPr/>
        </p:nvSpPr>
        <p:spPr>
          <a:xfrm>
            <a:off x="6094156" y="1232922"/>
            <a:ext cx="2485068" cy="2677656"/>
          </a:xfrm>
          <a:prstGeom prst="rect">
            <a:avLst/>
          </a:prstGeom>
          <a:noFill/>
        </p:spPr>
        <p:txBody>
          <a:bodyPr wrap="square" rtlCol="0">
            <a:spAutoFit/>
          </a:bodyPr>
          <a:lstStyle/>
          <a:p>
            <a:pPr marL="171450" indent="-171450">
              <a:buFont typeface="Arial" panose="020B0604020202020204" pitchFamily="34" charset="0"/>
              <a:buChar char="•"/>
            </a:pPr>
            <a:r>
              <a:rPr lang="en-US" sz="1200" dirty="0"/>
              <a:t>High-sized stores have the highest median product sales among all store sizes. </a:t>
            </a:r>
          </a:p>
          <a:p>
            <a:pPr marL="171450" indent="-171450">
              <a:buFont typeface="Arial" panose="020B0604020202020204" pitchFamily="34" charset="0"/>
              <a:buChar char="•"/>
            </a:pPr>
            <a:r>
              <a:rPr lang="en-US" sz="1200" dirty="0"/>
              <a:t>Small stores show the lowest median sales and the narrowest sales distribution. </a:t>
            </a:r>
          </a:p>
          <a:p>
            <a:pPr marL="171450" indent="-171450">
              <a:buFont typeface="Arial" panose="020B0604020202020204" pitchFamily="34" charset="0"/>
              <a:buChar char="•"/>
            </a:pPr>
            <a:r>
              <a:rPr lang="en-US" sz="1200" dirty="0"/>
              <a:t>Medium-sized stores demonstrate moderate sales performance with a large number of high-value outliers. </a:t>
            </a:r>
          </a:p>
          <a:p>
            <a:pPr marL="171450" indent="-171450">
              <a:buFont typeface="Arial" panose="020B0604020202020204" pitchFamily="34" charset="0"/>
              <a:buChar char="•"/>
            </a:pPr>
            <a:r>
              <a:rPr lang="en-US" sz="1200" dirty="0"/>
              <a:t>Medium stores contain the highest variability in sales, indicating inconsistent product performance across locations.</a:t>
            </a:r>
          </a:p>
        </p:txBody>
      </p:sp>
    </p:spTree>
    <p:extLst>
      <p:ext uri="{BB962C8B-B14F-4D97-AF65-F5344CB8AC3E}">
        <p14:creationId xmlns:p14="http://schemas.microsoft.com/office/powerpoint/2010/main" val="3713804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2872A5A-6D15-0AD4-F75E-52D54B199EF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6BE0678-4DF6-66FE-4CE6-D5C023DE6464}"/>
              </a:ext>
            </a:extLst>
          </p:cNvPr>
          <p:cNvPicPr>
            <a:picLocks noChangeAspect="1"/>
          </p:cNvPicPr>
          <p:nvPr/>
        </p:nvPicPr>
        <p:blipFill>
          <a:blip r:embed="rId3"/>
          <a:stretch>
            <a:fillRect/>
          </a:stretch>
        </p:blipFill>
        <p:spPr>
          <a:xfrm>
            <a:off x="418067" y="955882"/>
            <a:ext cx="4687084" cy="3799727"/>
          </a:xfrm>
          <a:prstGeom prst="rect">
            <a:avLst/>
          </a:prstGeom>
        </p:spPr>
      </p:pic>
      <p:sp>
        <p:nvSpPr>
          <p:cNvPr id="9" name="Google Shape;130;g12508d39905_0_54">
            <a:extLst>
              <a:ext uri="{FF2B5EF4-FFF2-40B4-BE49-F238E27FC236}">
                <a16:creationId xmlns:a16="http://schemas.microsoft.com/office/drawing/2014/main" id="{42E6EA7B-E2B0-DAA2-1FBD-F19C3F990A6E}"/>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Product Type vs Product Weight</a:t>
            </a:r>
          </a:p>
        </p:txBody>
      </p:sp>
      <p:sp>
        <p:nvSpPr>
          <p:cNvPr id="10" name="Triangle 9">
            <a:extLst>
              <a:ext uri="{FF2B5EF4-FFF2-40B4-BE49-F238E27FC236}">
                <a16:creationId xmlns:a16="http://schemas.microsoft.com/office/drawing/2014/main" id="{319B3560-C53D-5D2C-85D0-2C9466BE1415}"/>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9672132-904C-508D-A0B0-726D4E6EE040}"/>
              </a:ext>
            </a:extLst>
          </p:cNvPr>
          <p:cNvSpPr txBox="1"/>
          <p:nvPr/>
        </p:nvSpPr>
        <p:spPr>
          <a:xfrm>
            <a:off x="6034677" y="1232922"/>
            <a:ext cx="2691256" cy="2677656"/>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weight distributions are relatively similar across most product categories, with medians centered around 12–13 units.  </a:t>
            </a:r>
          </a:p>
          <a:p>
            <a:pPr marL="171450" indent="-171450">
              <a:buFont typeface="Arial" panose="020B0604020202020204" pitchFamily="34" charset="0"/>
              <a:buChar char="•"/>
            </a:pPr>
            <a:r>
              <a:rPr lang="en-US" sz="1200" dirty="0"/>
              <a:t>Seafood, Starchy Foods, and Others show slightly higher median product weights compared to other categories. </a:t>
            </a:r>
          </a:p>
          <a:p>
            <a:pPr marL="171450" indent="-171450">
              <a:buFont typeface="Arial" panose="020B0604020202020204" pitchFamily="34" charset="0"/>
              <a:buChar char="•"/>
            </a:pPr>
            <a:r>
              <a:rPr lang="en-US" sz="1200" dirty="0"/>
              <a:t>Dairy and Fruits &amp; Vegetables exhibit several low-weight outliers. </a:t>
            </a:r>
          </a:p>
          <a:p>
            <a:pPr marL="171450" indent="-171450">
              <a:buFont typeface="Arial" panose="020B0604020202020204" pitchFamily="34" charset="0"/>
              <a:buChar char="•"/>
            </a:pPr>
            <a:r>
              <a:rPr lang="en-US" sz="1200" dirty="0"/>
              <a:t>Most categories contain outliers on both the lower and higher ends, indicating variability in packaging sizes within categories.</a:t>
            </a:r>
          </a:p>
        </p:txBody>
      </p:sp>
    </p:spTree>
    <p:extLst>
      <p:ext uri="{BB962C8B-B14F-4D97-AF65-F5344CB8AC3E}">
        <p14:creationId xmlns:p14="http://schemas.microsoft.com/office/powerpoint/2010/main" val="2779062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84F6F0C1-F005-EEA6-E7BC-674F7F89299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1D9F510-4BCA-1B73-40BF-B7508828AFB7}"/>
              </a:ext>
            </a:extLst>
          </p:cNvPr>
          <p:cNvPicPr>
            <a:picLocks noChangeAspect="1"/>
          </p:cNvPicPr>
          <p:nvPr/>
        </p:nvPicPr>
        <p:blipFill>
          <a:blip r:embed="rId3"/>
          <a:stretch>
            <a:fillRect/>
          </a:stretch>
        </p:blipFill>
        <p:spPr>
          <a:xfrm>
            <a:off x="599382" y="1036565"/>
            <a:ext cx="4621570" cy="3511470"/>
          </a:xfrm>
          <a:prstGeom prst="rect">
            <a:avLst/>
          </a:prstGeom>
        </p:spPr>
      </p:pic>
      <p:sp>
        <p:nvSpPr>
          <p:cNvPr id="6" name="Google Shape;130;g12508d39905_0_54">
            <a:extLst>
              <a:ext uri="{FF2B5EF4-FFF2-40B4-BE49-F238E27FC236}">
                <a16:creationId xmlns:a16="http://schemas.microsoft.com/office/drawing/2014/main" id="{898CDCBD-D97E-BDE6-1B0F-BC6D7A81B158}"/>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Sugar Content vs Product Weight</a:t>
            </a:r>
          </a:p>
        </p:txBody>
      </p:sp>
      <p:sp>
        <p:nvSpPr>
          <p:cNvPr id="7" name="Triangle 6">
            <a:extLst>
              <a:ext uri="{FF2B5EF4-FFF2-40B4-BE49-F238E27FC236}">
                <a16:creationId xmlns:a16="http://schemas.microsoft.com/office/drawing/2014/main" id="{DF64978F-46F3-E571-2FB6-CACFBC9B38A2}"/>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AB1EBBC-5AE4-7190-D2A7-F8EF4884717B}"/>
              </a:ext>
            </a:extLst>
          </p:cNvPr>
          <p:cNvSpPr txBox="1"/>
          <p:nvPr/>
        </p:nvSpPr>
        <p:spPr>
          <a:xfrm>
            <a:off x="6094157" y="1244573"/>
            <a:ext cx="2574714" cy="2862322"/>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weight distributions are very similar across all sugar content categories. </a:t>
            </a:r>
          </a:p>
          <a:p>
            <a:pPr marL="171450" indent="-171450">
              <a:buFont typeface="Arial" panose="020B0604020202020204" pitchFamily="34" charset="0"/>
              <a:buChar char="•"/>
            </a:pPr>
            <a:r>
              <a:rPr lang="en-US" sz="1200" dirty="0"/>
              <a:t>The “reg” category shows a slightly higher median product weight compared to the other groups. </a:t>
            </a:r>
          </a:p>
          <a:p>
            <a:pPr marL="171450" indent="-171450">
              <a:buFont typeface="Arial" panose="020B0604020202020204" pitchFamily="34" charset="0"/>
              <a:buChar char="•"/>
            </a:pPr>
            <a:r>
              <a:rPr lang="en-US" sz="1200" dirty="0"/>
              <a:t>Low Sugar products display the widest range of weight outliers on both the lower and higher ends. </a:t>
            </a:r>
          </a:p>
          <a:p>
            <a:pPr marL="171450" indent="-171450">
              <a:buFont typeface="Arial" panose="020B0604020202020204" pitchFamily="34" charset="0"/>
              <a:buChar char="•"/>
            </a:pPr>
            <a:r>
              <a:rPr lang="en-US" sz="1200" dirty="0"/>
              <a:t>No Sugar and Regular categories exhibit relatively consistent weight distributions with moderate variability.</a:t>
            </a:r>
          </a:p>
        </p:txBody>
      </p:sp>
    </p:spTree>
    <p:extLst>
      <p:ext uri="{BB962C8B-B14F-4D97-AF65-F5344CB8AC3E}">
        <p14:creationId xmlns:p14="http://schemas.microsoft.com/office/powerpoint/2010/main" val="1873407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83F04C06-ACB8-B31C-58B2-2D3434FCAC7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B5D8D68-ED5B-03BC-46B7-7D6608D0AE85}"/>
              </a:ext>
            </a:extLst>
          </p:cNvPr>
          <p:cNvPicPr>
            <a:picLocks noChangeAspect="1"/>
          </p:cNvPicPr>
          <p:nvPr/>
        </p:nvPicPr>
        <p:blipFill>
          <a:blip r:embed="rId3"/>
          <a:stretch>
            <a:fillRect/>
          </a:stretch>
        </p:blipFill>
        <p:spPr>
          <a:xfrm>
            <a:off x="418067" y="935131"/>
            <a:ext cx="4625571" cy="3895344"/>
          </a:xfrm>
          <a:prstGeom prst="rect">
            <a:avLst/>
          </a:prstGeom>
        </p:spPr>
      </p:pic>
      <p:sp>
        <p:nvSpPr>
          <p:cNvPr id="6" name="Google Shape;130;g12508d39905_0_54">
            <a:extLst>
              <a:ext uri="{FF2B5EF4-FFF2-40B4-BE49-F238E27FC236}">
                <a16:creationId xmlns:a16="http://schemas.microsoft.com/office/drawing/2014/main" id="{E3A4523D-7A04-8BA4-813A-E987C969FDC8}"/>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Sugar Content vs Product Type</a:t>
            </a:r>
          </a:p>
        </p:txBody>
      </p:sp>
      <p:sp>
        <p:nvSpPr>
          <p:cNvPr id="7" name="Triangle 6">
            <a:extLst>
              <a:ext uri="{FF2B5EF4-FFF2-40B4-BE49-F238E27FC236}">
                <a16:creationId xmlns:a16="http://schemas.microsoft.com/office/drawing/2014/main" id="{F744A0F5-F7C2-B2C1-8723-3ADCFA666A06}"/>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F1225E4-BFAF-BFE9-BEEF-62858037A504}"/>
              </a:ext>
            </a:extLst>
          </p:cNvPr>
          <p:cNvSpPr txBox="1"/>
          <p:nvPr/>
        </p:nvSpPr>
        <p:spPr>
          <a:xfrm>
            <a:off x="6073811" y="1411044"/>
            <a:ext cx="2652122" cy="2123658"/>
          </a:xfrm>
          <a:prstGeom prst="rect">
            <a:avLst/>
          </a:prstGeom>
          <a:noFill/>
        </p:spPr>
        <p:txBody>
          <a:bodyPr wrap="square" rtlCol="0">
            <a:spAutoFit/>
          </a:bodyPr>
          <a:lstStyle/>
          <a:p>
            <a:pPr marL="171450" indent="-171450">
              <a:buFont typeface="Arial" panose="020B0604020202020204" pitchFamily="34" charset="0"/>
              <a:buChar char="•"/>
            </a:pPr>
            <a:r>
              <a:rPr lang="en-US" sz="1200" dirty="0"/>
              <a:t>Low Sugar products dominate most product categories, particularly Fruits &amp; Vegetables and Snack Foods. </a:t>
            </a:r>
          </a:p>
          <a:p>
            <a:pPr marL="171450" indent="-171450">
              <a:buFont typeface="Arial" panose="020B0604020202020204" pitchFamily="34" charset="0"/>
              <a:buChar char="•"/>
            </a:pPr>
            <a:r>
              <a:rPr lang="en-US" sz="1200" dirty="0"/>
              <a:t>No Sugar products are heavily concentrated in Health &amp; Hygiene and Household categories. </a:t>
            </a:r>
          </a:p>
          <a:p>
            <a:pPr marL="171450" indent="-171450">
              <a:buFont typeface="Arial" panose="020B0604020202020204" pitchFamily="34" charset="0"/>
              <a:buChar char="•"/>
            </a:pPr>
            <a:r>
              <a:rPr lang="en-US" sz="1200" dirty="0"/>
              <a:t>Regular sugar products are present across many food-related categories but at lower counts than Low Sugar products.</a:t>
            </a:r>
          </a:p>
        </p:txBody>
      </p:sp>
    </p:spTree>
    <p:extLst>
      <p:ext uri="{BB962C8B-B14F-4D97-AF65-F5344CB8AC3E}">
        <p14:creationId xmlns:p14="http://schemas.microsoft.com/office/powerpoint/2010/main" val="2767305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FE191C6B-38FE-7899-EF0E-4F0A40841A2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87DAE9B-12EC-C6EA-FF58-0E8A680200C7}"/>
              </a:ext>
            </a:extLst>
          </p:cNvPr>
          <p:cNvPicPr>
            <a:picLocks noChangeAspect="1"/>
          </p:cNvPicPr>
          <p:nvPr/>
        </p:nvPicPr>
        <p:blipFill>
          <a:blip r:embed="rId3"/>
          <a:stretch>
            <a:fillRect/>
          </a:stretch>
        </p:blipFill>
        <p:spPr>
          <a:xfrm>
            <a:off x="259837" y="1036565"/>
            <a:ext cx="4841270" cy="3895344"/>
          </a:xfrm>
          <a:prstGeom prst="rect">
            <a:avLst/>
          </a:prstGeom>
        </p:spPr>
      </p:pic>
      <p:sp>
        <p:nvSpPr>
          <p:cNvPr id="6" name="Google Shape;130;g12508d39905_0_54">
            <a:extLst>
              <a:ext uri="{FF2B5EF4-FFF2-40B4-BE49-F238E27FC236}">
                <a16:creationId xmlns:a16="http://schemas.microsoft.com/office/drawing/2014/main" id="{CA53EC7A-6E9A-9CB8-9290-EF4401D62315}"/>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Product Type vs Stores</a:t>
            </a:r>
          </a:p>
        </p:txBody>
      </p:sp>
      <p:sp>
        <p:nvSpPr>
          <p:cNvPr id="7" name="Triangle 6">
            <a:extLst>
              <a:ext uri="{FF2B5EF4-FFF2-40B4-BE49-F238E27FC236}">
                <a16:creationId xmlns:a16="http://schemas.microsoft.com/office/drawing/2014/main" id="{32A35E08-3C5D-93FC-877B-B50472386949}"/>
              </a:ext>
            </a:extLst>
          </p:cNvPr>
          <p:cNvSpPr/>
          <p:nvPr/>
        </p:nvSpPr>
        <p:spPr>
          <a:xfrm rot="5400000">
            <a:off x="4129811"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3A812EC-B73C-B5B1-2BC2-D71CC9F8B0B3}"/>
              </a:ext>
            </a:extLst>
          </p:cNvPr>
          <p:cNvSpPr txBox="1"/>
          <p:nvPr/>
        </p:nvSpPr>
        <p:spPr>
          <a:xfrm>
            <a:off x="5968649" y="1232922"/>
            <a:ext cx="2467139" cy="2677656"/>
          </a:xfrm>
          <a:prstGeom prst="rect">
            <a:avLst/>
          </a:prstGeom>
          <a:noFill/>
        </p:spPr>
        <p:txBody>
          <a:bodyPr wrap="square" rtlCol="0">
            <a:spAutoFit/>
          </a:bodyPr>
          <a:lstStyle/>
          <a:p>
            <a:pPr marL="171450" indent="-171450">
              <a:buFont typeface="Arial" panose="020B0604020202020204" pitchFamily="34" charset="0"/>
              <a:buChar char="•"/>
            </a:pPr>
            <a:r>
              <a:rPr lang="en-US" sz="1200" dirty="0"/>
              <a:t>OUT004 has the highest product counts across nearly all product categories. </a:t>
            </a:r>
          </a:p>
          <a:p>
            <a:pPr marL="171450" indent="-171450">
              <a:buFont typeface="Arial" panose="020B0604020202020204" pitchFamily="34" charset="0"/>
              <a:buChar char="•"/>
            </a:pPr>
            <a:r>
              <a:rPr lang="en-US" sz="1200" dirty="0"/>
              <a:t>Fruits &amp; Vegetables and Snack Foods are the most represented categories across all stores. </a:t>
            </a:r>
          </a:p>
          <a:p>
            <a:pPr marL="171450" indent="-171450">
              <a:buFont typeface="Arial" panose="020B0604020202020204" pitchFamily="34" charset="0"/>
              <a:buChar char="•"/>
            </a:pPr>
            <a:r>
              <a:rPr lang="en-US" sz="1200" dirty="0"/>
              <a:t>OUT002 consistently shows the lowest product counts across most product types. </a:t>
            </a:r>
          </a:p>
          <a:p>
            <a:pPr marL="171450" indent="-171450">
              <a:buFont typeface="Arial" panose="020B0604020202020204" pitchFamily="34" charset="0"/>
              <a:buChar char="•"/>
            </a:pPr>
            <a:r>
              <a:rPr lang="en-US" sz="1200" dirty="0"/>
              <a:t>Product distribution patterns are relatively similar across stores, but inventory volume differs significantly.</a:t>
            </a:r>
          </a:p>
        </p:txBody>
      </p:sp>
    </p:spTree>
    <p:extLst>
      <p:ext uri="{BB962C8B-B14F-4D97-AF65-F5344CB8AC3E}">
        <p14:creationId xmlns:p14="http://schemas.microsoft.com/office/powerpoint/2010/main" val="2632443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42B00784-4765-3D11-3DE9-50FD11DC476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0A54C2C-3FD3-9EC4-0738-46DB059FF34C}"/>
              </a:ext>
            </a:extLst>
          </p:cNvPr>
          <p:cNvPicPr>
            <a:picLocks noChangeAspect="1"/>
          </p:cNvPicPr>
          <p:nvPr/>
        </p:nvPicPr>
        <p:blipFill>
          <a:blip r:embed="rId3"/>
          <a:stretch>
            <a:fillRect/>
          </a:stretch>
        </p:blipFill>
        <p:spPr>
          <a:xfrm>
            <a:off x="202550" y="861979"/>
            <a:ext cx="5023968" cy="3895344"/>
          </a:xfrm>
          <a:prstGeom prst="rect">
            <a:avLst/>
          </a:prstGeom>
        </p:spPr>
      </p:pic>
      <p:sp>
        <p:nvSpPr>
          <p:cNvPr id="6" name="Google Shape;130;g12508d39905_0_54">
            <a:extLst>
              <a:ext uri="{FF2B5EF4-FFF2-40B4-BE49-F238E27FC236}">
                <a16:creationId xmlns:a16="http://schemas.microsoft.com/office/drawing/2014/main" id="{56D80AB1-2DE6-5F4F-101B-EC96C22B2FAC}"/>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Product Type vs Product MRP</a:t>
            </a:r>
          </a:p>
        </p:txBody>
      </p:sp>
      <p:sp>
        <p:nvSpPr>
          <p:cNvPr id="7" name="Triangle 6">
            <a:extLst>
              <a:ext uri="{FF2B5EF4-FFF2-40B4-BE49-F238E27FC236}">
                <a16:creationId xmlns:a16="http://schemas.microsoft.com/office/drawing/2014/main" id="{82EF71A5-3FC8-43DF-3084-3B0E03CEE51C}"/>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8537A79-9808-A4F8-F530-D3444971CBD5}"/>
              </a:ext>
            </a:extLst>
          </p:cNvPr>
          <p:cNvSpPr txBox="1"/>
          <p:nvPr/>
        </p:nvSpPr>
        <p:spPr>
          <a:xfrm>
            <a:off x="6085191" y="1172720"/>
            <a:ext cx="2359561" cy="3046988"/>
          </a:xfrm>
          <a:prstGeom prst="rect">
            <a:avLst/>
          </a:prstGeom>
          <a:noFill/>
        </p:spPr>
        <p:txBody>
          <a:bodyPr wrap="square" rtlCol="0">
            <a:spAutoFit/>
          </a:bodyPr>
          <a:lstStyle/>
          <a:p>
            <a:pPr marL="171450" indent="-171450">
              <a:buFont typeface="Arial" panose="020B0604020202020204" pitchFamily="34" charset="0"/>
              <a:buChar char="•"/>
            </a:pPr>
            <a:r>
              <a:rPr lang="en-US" sz="1200" dirty="0"/>
              <a:t>Product MRP distributions are relatively similar across most product categories, with median prices generally centered around 140–150.  </a:t>
            </a:r>
          </a:p>
          <a:p>
            <a:pPr marL="171450" indent="-171450">
              <a:buFont typeface="Arial" panose="020B0604020202020204" pitchFamily="34" charset="0"/>
              <a:buChar char="•"/>
            </a:pPr>
            <a:r>
              <a:rPr lang="en-US" sz="1200" dirty="0"/>
              <a:t>Starchy Foods and Others show slightly higher median MRPs compared to other categories. </a:t>
            </a:r>
          </a:p>
          <a:p>
            <a:pPr marL="171450" indent="-171450">
              <a:buFont typeface="Arial" panose="020B0604020202020204" pitchFamily="34" charset="0"/>
              <a:buChar char="•"/>
            </a:pPr>
            <a:r>
              <a:rPr lang="en-US" sz="1200" dirty="0"/>
              <a:t>Breakfast and Hard Drinks exhibit slightly lower median price distributions. </a:t>
            </a:r>
          </a:p>
          <a:p>
            <a:pPr marL="171450" indent="-171450">
              <a:buFont typeface="Arial" panose="020B0604020202020204" pitchFamily="34" charset="0"/>
              <a:buChar char="•"/>
            </a:pPr>
            <a:r>
              <a:rPr lang="en-US" sz="1200" dirty="0"/>
              <a:t>Several categories contain high-price outliers above 220, indicating the presence of premium-priced products.</a:t>
            </a:r>
          </a:p>
        </p:txBody>
      </p:sp>
    </p:spTree>
    <p:extLst>
      <p:ext uri="{BB962C8B-B14F-4D97-AF65-F5344CB8AC3E}">
        <p14:creationId xmlns:p14="http://schemas.microsoft.com/office/powerpoint/2010/main" val="2879012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93E57039-842C-E1DB-E217-F826F301F73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B035E7D-A710-4EF9-6A99-B033E887B5C5}"/>
              </a:ext>
            </a:extLst>
          </p:cNvPr>
          <p:cNvPicPr>
            <a:picLocks noChangeAspect="1"/>
          </p:cNvPicPr>
          <p:nvPr/>
        </p:nvPicPr>
        <p:blipFill>
          <a:blip r:embed="rId3"/>
          <a:stretch>
            <a:fillRect/>
          </a:stretch>
        </p:blipFill>
        <p:spPr>
          <a:xfrm>
            <a:off x="202550" y="1094719"/>
            <a:ext cx="4889214" cy="3433008"/>
          </a:xfrm>
          <a:prstGeom prst="rect">
            <a:avLst/>
          </a:prstGeom>
        </p:spPr>
      </p:pic>
      <p:sp>
        <p:nvSpPr>
          <p:cNvPr id="6" name="Google Shape;130;g12508d39905_0_54">
            <a:extLst>
              <a:ext uri="{FF2B5EF4-FFF2-40B4-BE49-F238E27FC236}">
                <a16:creationId xmlns:a16="http://schemas.microsoft.com/office/drawing/2014/main" id="{84E7E481-0652-40BD-3FE9-B4CA381D4894}"/>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Bivariate Analysis: Boxplot Store ID vs Product MRP</a:t>
            </a:r>
          </a:p>
        </p:txBody>
      </p:sp>
      <p:sp>
        <p:nvSpPr>
          <p:cNvPr id="7" name="Triangle 6">
            <a:extLst>
              <a:ext uri="{FF2B5EF4-FFF2-40B4-BE49-F238E27FC236}">
                <a16:creationId xmlns:a16="http://schemas.microsoft.com/office/drawing/2014/main" id="{79D23789-86B0-A466-441B-DA591F0C5AEE}"/>
              </a:ext>
            </a:extLst>
          </p:cNvPr>
          <p:cNvSpPr/>
          <p:nvPr/>
        </p:nvSpPr>
        <p:spPr>
          <a:xfrm rot="5400000">
            <a:off x="4242697" y="2409308"/>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96E74C-F2DF-628D-F754-741CBA673D42}"/>
              </a:ext>
            </a:extLst>
          </p:cNvPr>
          <p:cNvSpPr txBox="1"/>
          <p:nvPr/>
        </p:nvSpPr>
        <p:spPr>
          <a:xfrm>
            <a:off x="6094157" y="1325255"/>
            <a:ext cx="2574714" cy="2492990"/>
          </a:xfrm>
          <a:prstGeom prst="rect">
            <a:avLst/>
          </a:prstGeom>
          <a:noFill/>
        </p:spPr>
        <p:txBody>
          <a:bodyPr wrap="square" rtlCol="0">
            <a:spAutoFit/>
          </a:bodyPr>
          <a:lstStyle/>
          <a:p>
            <a:pPr marL="171450" indent="-171450">
              <a:buFont typeface="Arial" panose="020B0604020202020204" pitchFamily="34" charset="0"/>
              <a:buChar char="•"/>
            </a:pPr>
            <a:r>
              <a:rPr lang="en-US" sz="1200" dirty="0"/>
              <a:t>OUT003 has the highest median product MRP among all stores. </a:t>
            </a:r>
          </a:p>
          <a:p>
            <a:pPr marL="171450" indent="-171450">
              <a:buFont typeface="Arial" panose="020B0604020202020204" pitchFamily="34" charset="0"/>
              <a:buChar char="•"/>
            </a:pPr>
            <a:r>
              <a:rPr lang="en-US" sz="1200" dirty="0"/>
              <a:t>OUT002 shows the lowest median MRP and the widest concentration of lower-priced products. </a:t>
            </a:r>
          </a:p>
          <a:p>
            <a:pPr marL="171450" indent="-171450">
              <a:buFont typeface="Arial" panose="020B0604020202020204" pitchFamily="34" charset="0"/>
              <a:buChar char="•"/>
            </a:pPr>
            <a:r>
              <a:rPr lang="en-US" sz="1200" dirty="0"/>
              <a:t>OUT001 and OUT004 maintain moderate pricing distributions compared to the other stores. </a:t>
            </a:r>
          </a:p>
          <a:p>
            <a:pPr marL="171450" indent="-171450">
              <a:buFont typeface="Arial" panose="020B0604020202020204" pitchFamily="34" charset="0"/>
              <a:buChar char="•"/>
            </a:pPr>
            <a:r>
              <a:rPr lang="en-US" sz="1200" dirty="0"/>
              <a:t>OUT003 contains several high-price outliers above 240, indicating a stronger presence of premium-priced products.</a:t>
            </a:r>
          </a:p>
        </p:txBody>
      </p:sp>
    </p:spTree>
    <p:extLst>
      <p:ext uri="{BB962C8B-B14F-4D97-AF65-F5344CB8AC3E}">
        <p14:creationId xmlns:p14="http://schemas.microsoft.com/office/powerpoint/2010/main" val="119708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E573F80E-5759-8720-A3E5-A429F54C3510}"/>
            </a:ext>
          </a:extLst>
        </p:cNvPr>
        <p:cNvGrpSpPr/>
        <p:nvPr/>
      </p:nvGrpSpPr>
      <p:grpSpPr>
        <a:xfrm>
          <a:off x="0" y="0"/>
          <a:ext cx="0" cy="0"/>
          <a:chOff x="0" y="0"/>
          <a:chExt cx="0" cy="0"/>
        </a:xfrm>
      </p:grpSpPr>
      <p:sp>
        <p:nvSpPr>
          <p:cNvPr id="6" name="Google Shape;130;g12508d39905_0_54">
            <a:extLst>
              <a:ext uri="{FF2B5EF4-FFF2-40B4-BE49-F238E27FC236}">
                <a16:creationId xmlns:a16="http://schemas.microsoft.com/office/drawing/2014/main" id="{188E0C72-9F02-4A9A-C4C2-6CD17BAAAB7B}"/>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EDA Results</a:t>
            </a:r>
            <a:br>
              <a:rPr lang="en-US" dirty="0">
                <a:solidFill>
                  <a:srgbClr val="1974D2"/>
                </a:solidFill>
              </a:rPr>
            </a:br>
            <a:r>
              <a:rPr lang="en-US" dirty="0">
                <a:solidFill>
                  <a:srgbClr val="1974D2"/>
                </a:solidFill>
              </a:rPr>
              <a:t>Revenue by store analysis</a:t>
            </a:r>
          </a:p>
        </p:txBody>
      </p:sp>
      <p:pic>
        <p:nvPicPr>
          <p:cNvPr id="3" name="Picture 2">
            <a:extLst>
              <a:ext uri="{FF2B5EF4-FFF2-40B4-BE49-F238E27FC236}">
                <a16:creationId xmlns:a16="http://schemas.microsoft.com/office/drawing/2014/main" id="{3C4ECA57-3737-541B-D0B1-114F2296E458}"/>
              </a:ext>
            </a:extLst>
          </p:cNvPr>
          <p:cNvPicPr>
            <a:picLocks noChangeAspect="1"/>
          </p:cNvPicPr>
          <p:nvPr/>
        </p:nvPicPr>
        <p:blipFill>
          <a:blip r:embed="rId3"/>
          <a:stretch>
            <a:fillRect/>
          </a:stretch>
        </p:blipFill>
        <p:spPr>
          <a:xfrm>
            <a:off x="220226" y="924559"/>
            <a:ext cx="2805770" cy="1977838"/>
          </a:xfrm>
          <a:prstGeom prst="rect">
            <a:avLst/>
          </a:prstGeom>
        </p:spPr>
      </p:pic>
      <p:pic>
        <p:nvPicPr>
          <p:cNvPr id="4" name="Picture 3">
            <a:extLst>
              <a:ext uri="{FF2B5EF4-FFF2-40B4-BE49-F238E27FC236}">
                <a16:creationId xmlns:a16="http://schemas.microsoft.com/office/drawing/2014/main" id="{03BB725D-ADC9-BC1B-0F76-A5E01FEA727B}"/>
              </a:ext>
            </a:extLst>
          </p:cNvPr>
          <p:cNvPicPr>
            <a:picLocks noChangeAspect="1"/>
          </p:cNvPicPr>
          <p:nvPr/>
        </p:nvPicPr>
        <p:blipFill>
          <a:blip r:embed="rId4"/>
          <a:stretch>
            <a:fillRect/>
          </a:stretch>
        </p:blipFill>
        <p:spPr>
          <a:xfrm>
            <a:off x="3134776" y="845144"/>
            <a:ext cx="2918428" cy="2057253"/>
          </a:xfrm>
          <a:prstGeom prst="rect">
            <a:avLst/>
          </a:prstGeom>
        </p:spPr>
      </p:pic>
      <p:pic>
        <p:nvPicPr>
          <p:cNvPr id="5" name="Picture 4">
            <a:extLst>
              <a:ext uri="{FF2B5EF4-FFF2-40B4-BE49-F238E27FC236}">
                <a16:creationId xmlns:a16="http://schemas.microsoft.com/office/drawing/2014/main" id="{DD45C781-159E-10FC-1001-89E66325CD1B}"/>
              </a:ext>
            </a:extLst>
          </p:cNvPr>
          <p:cNvPicPr>
            <a:picLocks noChangeAspect="1"/>
          </p:cNvPicPr>
          <p:nvPr/>
        </p:nvPicPr>
        <p:blipFill>
          <a:blip r:embed="rId5"/>
          <a:stretch>
            <a:fillRect/>
          </a:stretch>
        </p:blipFill>
        <p:spPr>
          <a:xfrm>
            <a:off x="220226" y="2942104"/>
            <a:ext cx="2805770" cy="1977838"/>
          </a:xfrm>
          <a:prstGeom prst="rect">
            <a:avLst/>
          </a:prstGeom>
        </p:spPr>
      </p:pic>
      <p:pic>
        <p:nvPicPr>
          <p:cNvPr id="9" name="Picture 8">
            <a:extLst>
              <a:ext uri="{FF2B5EF4-FFF2-40B4-BE49-F238E27FC236}">
                <a16:creationId xmlns:a16="http://schemas.microsoft.com/office/drawing/2014/main" id="{8E6FD3EA-AB25-37B8-BFDA-EA19A936A739}"/>
              </a:ext>
            </a:extLst>
          </p:cNvPr>
          <p:cNvPicPr>
            <a:picLocks noChangeAspect="1"/>
          </p:cNvPicPr>
          <p:nvPr/>
        </p:nvPicPr>
        <p:blipFill>
          <a:blip r:embed="rId6"/>
          <a:stretch>
            <a:fillRect/>
          </a:stretch>
        </p:blipFill>
        <p:spPr>
          <a:xfrm>
            <a:off x="3134776" y="2988544"/>
            <a:ext cx="2918428" cy="1884958"/>
          </a:xfrm>
          <a:prstGeom prst="rect">
            <a:avLst/>
          </a:prstGeom>
        </p:spPr>
      </p:pic>
      <p:sp>
        <p:nvSpPr>
          <p:cNvPr id="2" name="Triangle 1">
            <a:extLst>
              <a:ext uri="{FF2B5EF4-FFF2-40B4-BE49-F238E27FC236}">
                <a16:creationId xmlns:a16="http://schemas.microsoft.com/office/drawing/2014/main" id="{8A41640A-E575-64AE-45F6-E819A2DFD7D9}"/>
              </a:ext>
            </a:extLst>
          </p:cNvPr>
          <p:cNvSpPr/>
          <p:nvPr/>
        </p:nvSpPr>
        <p:spPr>
          <a:xfrm rot="5400000">
            <a:off x="4888151" y="2481026"/>
            <a:ext cx="3120390" cy="374904"/>
          </a:xfrm>
          <a:prstGeom prst="triangle">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DDDB462-7382-607B-CFED-F18D30DC2B61}"/>
              </a:ext>
            </a:extLst>
          </p:cNvPr>
          <p:cNvSpPr txBox="1"/>
          <p:nvPr/>
        </p:nvSpPr>
        <p:spPr>
          <a:xfrm>
            <a:off x="6620905" y="889894"/>
            <a:ext cx="2302869" cy="3970318"/>
          </a:xfrm>
          <a:prstGeom prst="rect">
            <a:avLst/>
          </a:prstGeom>
          <a:noFill/>
        </p:spPr>
        <p:txBody>
          <a:bodyPr wrap="square" rtlCol="0">
            <a:spAutoFit/>
          </a:bodyPr>
          <a:lstStyle/>
          <a:p>
            <a:pPr marL="171450" indent="-171450">
              <a:buFont typeface="Arial" panose="020B0604020202020204" pitchFamily="34" charset="0"/>
              <a:buChar char="•"/>
            </a:pPr>
            <a:r>
              <a:rPr lang="en-US" sz="1200" dirty="0"/>
              <a:t>OUT004 consistently outperforms all other stores across nearly every product category, making it the strongest revenue-generating store in the portfolio. </a:t>
            </a:r>
          </a:p>
          <a:p>
            <a:pPr marL="171450" indent="-171450">
              <a:buFont typeface="Arial" panose="020B0604020202020204" pitchFamily="34" charset="0"/>
              <a:buChar char="•"/>
            </a:pPr>
            <a:r>
              <a:rPr lang="en-US" sz="1200" dirty="0"/>
              <a:t>Fruits &amp; Vegetables and Snack Foods are the top-performing categories across all four stores, indicating they are the primary drivers of overall sales performance. </a:t>
            </a:r>
          </a:p>
          <a:p>
            <a:pPr marL="171450" indent="-171450">
              <a:buFont typeface="Arial" panose="020B0604020202020204" pitchFamily="34" charset="0"/>
              <a:buChar char="•"/>
            </a:pPr>
            <a:r>
              <a:rPr lang="en-US" sz="1200" dirty="0"/>
              <a:t>OUT002 generates substantially lower revenues compared to the other stores, while OUT001 and OUT003 demonstrate more balanced and diversified category performance.</a:t>
            </a:r>
          </a:p>
        </p:txBody>
      </p:sp>
    </p:spTree>
    <p:extLst>
      <p:ext uri="{BB962C8B-B14F-4D97-AF65-F5344CB8AC3E}">
        <p14:creationId xmlns:p14="http://schemas.microsoft.com/office/powerpoint/2010/main" val="2503485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D0683CAD-9C81-B458-EB1F-B1358F0291FC}"/>
            </a:ext>
          </a:extLst>
        </p:cNvPr>
        <p:cNvGrpSpPr/>
        <p:nvPr/>
      </p:nvGrpSpPr>
      <p:grpSpPr>
        <a:xfrm>
          <a:off x="0" y="0"/>
          <a:ext cx="0" cy="0"/>
          <a:chOff x="0" y="0"/>
          <a:chExt cx="0" cy="0"/>
        </a:xfrm>
      </p:grpSpPr>
      <p:sp>
        <p:nvSpPr>
          <p:cNvPr id="4" name="Google Shape;130;g12508d39905_0_54">
            <a:extLst>
              <a:ext uri="{FF2B5EF4-FFF2-40B4-BE49-F238E27FC236}">
                <a16:creationId xmlns:a16="http://schemas.microsoft.com/office/drawing/2014/main" id="{A1911A75-0BB9-6EFC-A1EB-09D8AD2A1F54}"/>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Data Preprocessing</a:t>
            </a:r>
            <a:endParaRPr lang="en-US" dirty="0">
              <a:solidFill>
                <a:srgbClr val="1974D2"/>
              </a:solidFill>
            </a:endParaRPr>
          </a:p>
        </p:txBody>
      </p:sp>
      <p:sp>
        <p:nvSpPr>
          <p:cNvPr id="5" name="Rectangle 6">
            <a:extLst>
              <a:ext uri="{FF2B5EF4-FFF2-40B4-BE49-F238E27FC236}">
                <a16:creationId xmlns:a16="http://schemas.microsoft.com/office/drawing/2014/main" id="{4A2408F4-F435-C0EE-FC04-2BDD06F78A0A}"/>
              </a:ext>
            </a:extLst>
          </p:cNvPr>
          <p:cNvSpPr>
            <a:spLocks noChangeArrowheads="1"/>
          </p:cNvSpPr>
          <p:nvPr/>
        </p:nvSpPr>
        <p:spPr bwMode="gray">
          <a:xfrm>
            <a:off x="276021" y="617218"/>
            <a:ext cx="2089150" cy="4400054"/>
          </a:xfrm>
          <a:prstGeom prst="rect">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342900" indent="-342900">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1588" indent="112713">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lvl="1"/>
            <a:endParaRPr lang="en-US" altLang="en-US" dirty="0">
              <a:solidFill>
                <a:schemeClr val="lt1"/>
              </a:solidFill>
              <a:latin typeface="+mn-lt"/>
              <a:ea typeface="+mn-ea"/>
              <a:cs typeface="+mn-cs"/>
            </a:endParaRPr>
          </a:p>
        </p:txBody>
      </p:sp>
      <p:sp>
        <p:nvSpPr>
          <p:cNvPr id="6" name="Line 7">
            <a:extLst>
              <a:ext uri="{FF2B5EF4-FFF2-40B4-BE49-F238E27FC236}">
                <a16:creationId xmlns:a16="http://schemas.microsoft.com/office/drawing/2014/main" id="{70D4AAC8-9759-2411-4FC8-012DBB4F5708}"/>
              </a:ext>
            </a:extLst>
          </p:cNvPr>
          <p:cNvSpPr>
            <a:spLocks noChangeShapeType="1"/>
          </p:cNvSpPr>
          <p:nvPr/>
        </p:nvSpPr>
        <p:spPr bwMode="gray">
          <a:xfrm>
            <a:off x="3566908" y="883917"/>
            <a:ext cx="49720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7" name="Text Box 8">
            <a:extLst>
              <a:ext uri="{FF2B5EF4-FFF2-40B4-BE49-F238E27FC236}">
                <a16:creationId xmlns:a16="http://schemas.microsoft.com/office/drawing/2014/main" id="{56B1E7E8-960D-C123-D2F2-B78B4F54D6FF}"/>
              </a:ext>
            </a:extLst>
          </p:cNvPr>
          <p:cNvSpPr txBox="1">
            <a:spLocks noChangeArrowheads="1"/>
          </p:cNvSpPr>
          <p:nvPr/>
        </p:nvSpPr>
        <p:spPr bwMode="gray">
          <a:xfrm>
            <a:off x="3471658" y="609280"/>
            <a:ext cx="1138751" cy="30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eaLnBrk="1" hangingPunct="1">
              <a:spcAft>
                <a:spcPts val="0"/>
              </a:spcAft>
              <a:buClr>
                <a:srgbClr val="434343"/>
              </a:buClr>
              <a:buSzPts val="2200"/>
              <a:buNone/>
            </a:pPr>
            <a:r>
              <a:rPr lang="en-US" altLang="en-US" sz="1400" b="1" dirty="0">
                <a:solidFill>
                  <a:srgbClr val="1974D2"/>
                </a:solidFill>
                <a:latin typeface="Nunito"/>
                <a:sym typeface="Nunito"/>
              </a:rPr>
              <a:t>Description</a:t>
            </a:r>
          </a:p>
        </p:txBody>
      </p:sp>
      <p:sp>
        <p:nvSpPr>
          <p:cNvPr id="8" name="AutoShape 9">
            <a:extLst>
              <a:ext uri="{FF2B5EF4-FFF2-40B4-BE49-F238E27FC236}">
                <a16:creationId xmlns:a16="http://schemas.microsoft.com/office/drawing/2014/main" id="{3B9CBFD7-945D-93AE-45B7-7DE1CF1508C9}"/>
              </a:ext>
            </a:extLst>
          </p:cNvPr>
          <p:cNvSpPr>
            <a:spLocks noChangeArrowheads="1"/>
          </p:cNvSpPr>
          <p:nvPr/>
        </p:nvSpPr>
        <p:spPr bwMode="gray">
          <a:xfrm>
            <a:off x="636383" y="1036317"/>
            <a:ext cx="2520950" cy="719138"/>
          </a:xfrm>
          <a:prstGeom prst="homePlate">
            <a:avLst>
              <a:gd name="adj" fmla="val 31420"/>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Font typeface="Wingdings" pitchFamily="2" charset="2"/>
              <a:buNone/>
            </a:pPr>
            <a:r>
              <a:rPr lang="en-US" altLang="en-US" sz="1200" b="1" dirty="0"/>
              <a:t>Column Transformation</a:t>
            </a:r>
          </a:p>
        </p:txBody>
      </p:sp>
      <p:sp>
        <p:nvSpPr>
          <p:cNvPr id="9" name="AutoShape 10">
            <a:extLst>
              <a:ext uri="{FF2B5EF4-FFF2-40B4-BE49-F238E27FC236}">
                <a16:creationId xmlns:a16="http://schemas.microsoft.com/office/drawing/2014/main" id="{1ECDF589-819B-3EBD-DEFD-02AC424B9DF0}"/>
              </a:ext>
            </a:extLst>
          </p:cNvPr>
          <p:cNvSpPr>
            <a:spLocks noChangeArrowheads="1"/>
          </p:cNvSpPr>
          <p:nvPr/>
        </p:nvSpPr>
        <p:spPr bwMode="gray">
          <a:xfrm>
            <a:off x="636383" y="2034855"/>
            <a:ext cx="2520950" cy="720725"/>
          </a:xfrm>
          <a:prstGeom prst="homePlate">
            <a:avLst>
              <a:gd name="adj" fmla="val 31351"/>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None/>
            </a:pPr>
            <a:r>
              <a:rPr lang="en-US" altLang="en-US" sz="1200" b="1" dirty="0"/>
              <a:t>Separate Features and the target column</a:t>
            </a:r>
          </a:p>
        </p:txBody>
      </p:sp>
      <p:sp>
        <p:nvSpPr>
          <p:cNvPr id="11" name="AutoShape 12">
            <a:extLst>
              <a:ext uri="{FF2B5EF4-FFF2-40B4-BE49-F238E27FC236}">
                <a16:creationId xmlns:a16="http://schemas.microsoft.com/office/drawing/2014/main" id="{1F08387C-195B-C6F3-0FCF-EAF76B5118DC}"/>
              </a:ext>
            </a:extLst>
          </p:cNvPr>
          <p:cNvSpPr>
            <a:spLocks noChangeArrowheads="1"/>
          </p:cNvSpPr>
          <p:nvPr/>
        </p:nvSpPr>
        <p:spPr bwMode="gray">
          <a:xfrm>
            <a:off x="636383" y="3042917"/>
            <a:ext cx="2520950" cy="720725"/>
          </a:xfrm>
          <a:prstGeom prst="homePlate">
            <a:avLst>
              <a:gd name="adj" fmla="val 31351"/>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Font typeface="Wingdings" pitchFamily="2" charset="2"/>
              <a:buNone/>
            </a:pPr>
            <a:r>
              <a:rPr lang="en-US" altLang="en-US" sz="1200" b="1" dirty="0"/>
              <a:t>Split the data into train and test sets</a:t>
            </a:r>
          </a:p>
        </p:txBody>
      </p:sp>
      <p:sp>
        <p:nvSpPr>
          <p:cNvPr id="13" name="AutoShape 14">
            <a:extLst>
              <a:ext uri="{FF2B5EF4-FFF2-40B4-BE49-F238E27FC236}">
                <a16:creationId xmlns:a16="http://schemas.microsoft.com/office/drawing/2014/main" id="{145626F3-230B-2453-40D0-F9308F1CEF1E}"/>
              </a:ext>
            </a:extLst>
          </p:cNvPr>
          <p:cNvSpPr>
            <a:spLocks noChangeArrowheads="1"/>
          </p:cNvSpPr>
          <p:nvPr/>
        </p:nvSpPr>
        <p:spPr bwMode="gray">
          <a:xfrm>
            <a:off x="636383" y="4060505"/>
            <a:ext cx="2520950" cy="720725"/>
          </a:xfrm>
          <a:prstGeom prst="homePlate">
            <a:avLst>
              <a:gd name="adj" fmla="val 31351"/>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Font typeface="Wingdings" pitchFamily="2" charset="2"/>
              <a:buNone/>
            </a:pPr>
            <a:r>
              <a:rPr lang="en-US" altLang="en-US" sz="1200" b="1" dirty="0"/>
              <a:t>Data Pre-processing Pipeline</a:t>
            </a:r>
          </a:p>
        </p:txBody>
      </p:sp>
      <p:sp>
        <p:nvSpPr>
          <p:cNvPr id="18" name="Oval 17">
            <a:extLst>
              <a:ext uri="{FF2B5EF4-FFF2-40B4-BE49-F238E27FC236}">
                <a16:creationId xmlns:a16="http://schemas.microsoft.com/office/drawing/2014/main" id="{F1A4E0A5-602F-0D98-66E4-1AA92862F84A}"/>
              </a:ext>
            </a:extLst>
          </p:cNvPr>
          <p:cNvSpPr/>
          <p:nvPr/>
        </p:nvSpPr>
        <p:spPr>
          <a:xfrm>
            <a:off x="509162" y="972580"/>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9" name="Oval 18">
            <a:extLst>
              <a:ext uri="{FF2B5EF4-FFF2-40B4-BE49-F238E27FC236}">
                <a16:creationId xmlns:a16="http://schemas.microsoft.com/office/drawing/2014/main" id="{AFE32369-435F-CEFF-AA0F-B481EA84613C}"/>
              </a:ext>
            </a:extLst>
          </p:cNvPr>
          <p:cNvSpPr/>
          <p:nvPr/>
        </p:nvSpPr>
        <p:spPr>
          <a:xfrm>
            <a:off x="546624" y="1964255"/>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Oval 19">
            <a:extLst>
              <a:ext uri="{FF2B5EF4-FFF2-40B4-BE49-F238E27FC236}">
                <a16:creationId xmlns:a16="http://schemas.microsoft.com/office/drawing/2014/main" id="{A57B18B9-5498-2422-F802-63AAB3F0D951}"/>
              </a:ext>
            </a:extLst>
          </p:cNvPr>
          <p:cNvSpPr/>
          <p:nvPr/>
        </p:nvSpPr>
        <p:spPr>
          <a:xfrm>
            <a:off x="509162" y="2954478"/>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1" name="Oval 20">
            <a:extLst>
              <a:ext uri="{FF2B5EF4-FFF2-40B4-BE49-F238E27FC236}">
                <a16:creationId xmlns:a16="http://schemas.microsoft.com/office/drawing/2014/main" id="{1EB09944-8489-A22D-4A68-555C7C5352E1}"/>
              </a:ext>
            </a:extLst>
          </p:cNvPr>
          <p:cNvSpPr/>
          <p:nvPr/>
        </p:nvSpPr>
        <p:spPr>
          <a:xfrm>
            <a:off x="513971" y="3981447"/>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 name="TextBox 1">
            <a:extLst>
              <a:ext uri="{FF2B5EF4-FFF2-40B4-BE49-F238E27FC236}">
                <a16:creationId xmlns:a16="http://schemas.microsoft.com/office/drawing/2014/main" id="{74912379-A9B8-FDFE-D1F1-B05FDB2948DF}"/>
              </a:ext>
            </a:extLst>
          </p:cNvPr>
          <p:cNvSpPr txBox="1"/>
          <p:nvPr/>
        </p:nvSpPr>
        <p:spPr>
          <a:xfrm>
            <a:off x="3400970" y="1066054"/>
            <a:ext cx="5467009" cy="461665"/>
          </a:xfrm>
          <a:prstGeom prst="rect">
            <a:avLst/>
          </a:prstGeom>
          <a:noFill/>
        </p:spPr>
        <p:txBody>
          <a:bodyPr wrap="square" rtlCol="0">
            <a:spAutoFit/>
          </a:bodyPr>
          <a:lstStyle/>
          <a:p>
            <a:pPr marL="285750" indent="-285750">
              <a:buFont typeface="Wingdings" pitchFamily="2" charset="2"/>
              <a:buChar char="ü"/>
            </a:pPr>
            <a:r>
              <a:rPr lang="en-US" sz="1200" dirty="0"/>
              <a:t>Drop columns ‘</a:t>
            </a:r>
            <a:r>
              <a:rPr lang="en-US" sz="1200" dirty="0" err="1"/>
              <a:t>Product_ID</a:t>
            </a:r>
            <a:r>
              <a:rPr lang="en-US" sz="1200" dirty="0"/>
              <a:t>’, ‘</a:t>
            </a:r>
            <a:r>
              <a:rPr lang="en-US" sz="1200" dirty="0" err="1"/>
              <a:t>Product_Type</a:t>
            </a:r>
            <a:r>
              <a:rPr lang="en-US" sz="1200" dirty="0"/>
              <a:t>’, ‘</a:t>
            </a:r>
            <a:r>
              <a:rPr lang="en-US" sz="1200" dirty="0" err="1"/>
              <a:t>Store_ID</a:t>
            </a:r>
            <a:r>
              <a:rPr lang="en-US" sz="1200" dirty="0"/>
              <a:t>’, ‘</a:t>
            </a:r>
            <a:r>
              <a:rPr lang="en-US" sz="1200" dirty="0" err="1"/>
              <a:t>Store_Establishment_Year</a:t>
            </a:r>
            <a:r>
              <a:rPr lang="en-US" sz="1200" dirty="0"/>
              <a:t>’</a:t>
            </a:r>
            <a:endParaRPr lang="en-US" sz="1100" dirty="0">
              <a:solidFill>
                <a:srgbClr val="FF0000"/>
              </a:solidFill>
            </a:endParaRPr>
          </a:p>
        </p:txBody>
      </p:sp>
      <p:sp>
        <p:nvSpPr>
          <p:cNvPr id="3" name="TextBox 2">
            <a:extLst>
              <a:ext uri="{FF2B5EF4-FFF2-40B4-BE49-F238E27FC236}">
                <a16:creationId xmlns:a16="http://schemas.microsoft.com/office/drawing/2014/main" id="{12749125-5808-3477-481E-01073853C0D0}"/>
              </a:ext>
            </a:extLst>
          </p:cNvPr>
          <p:cNvSpPr txBox="1"/>
          <p:nvPr/>
        </p:nvSpPr>
        <p:spPr>
          <a:xfrm>
            <a:off x="3400970" y="2002473"/>
            <a:ext cx="5467009" cy="646331"/>
          </a:xfrm>
          <a:prstGeom prst="rect">
            <a:avLst/>
          </a:prstGeom>
          <a:noFill/>
        </p:spPr>
        <p:txBody>
          <a:bodyPr wrap="square" rtlCol="0">
            <a:spAutoFit/>
          </a:bodyPr>
          <a:lstStyle/>
          <a:p>
            <a:pPr marL="285750" indent="-285750">
              <a:buFont typeface="Wingdings" pitchFamily="2" charset="2"/>
              <a:buChar char="ü"/>
            </a:pPr>
            <a:r>
              <a:rPr lang="en-US" sz="1200" dirty="0"/>
              <a:t>The dataset is separated into features (X) and target (y), where X contains all predictor variables and y contains the sales column. (</a:t>
            </a:r>
            <a:r>
              <a:rPr lang="en-US" sz="1200" dirty="0" err="1"/>
              <a:t>Product_Store_Sales_Total</a:t>
            </a:r>
            <a:r>
              <a:rPr lang="en-US" sz="1200" dirty="0"/>
              <a:t>) that the model will learn to predict.</a:t>
            </a:r>
          </a:p>
        </p:txBody>
      </p:sp>
      <p:sp>
        <p:nvSpPr>
          <p:cNvPr id="12" name="TextBox 11">
            <a:extLst>
              <a:ext uri="{FF2B5EF4-FFF2-40B4-BE49-F238E27FC236}">
                <a16:creationId xmlns:a16="http://schemas.microsoft.com/office/drawing/2014/main" id="{E2660B11-26D7-ED52-F48A-B5DCE2326656}"/>
              </a:ext>
            </a:extLst>
          </p:cNvPr>
          <p:cNvSpPr txBox="1"/>
          <p:nvPr/>
        </p:nvSpPr>
        <p:spPr>
          <a:xfrm>
            <a:off x="3400970" y="3021306"/>
            <a:ext cx="5467009" cy="461665"/>
          </a:xfrm>
          <a:prstGeom prst="rect">
            <a:avLst/>
          </a:prstGeom>
          <a:noFill/>
        </p:spPr>
        <p:txBody>
          <a:bodyPr wrap="square" rtlCol="0">
            <a:spAutoFit/>
          </a:bodyPr>
          <a:lstStyle/>
          <a:p>
            <a:pPr marL="285750" indent="-285750">
              <a:buFont typeface="Wingdings" pitchFamily="2" charset="2"/>
              <a:buChar char="ü"/>
            </a:pPr>
            <a:r>
              <a:rPr lang="en-US" sz="1200" dirty="0" err="1"/>
              <a:t>X_train.shape</a:t>
            </a:r>
            <a:r>
              <a:rPr lang="en-US" sz="1200" dirty="0"/>
              <a:t> (6134, 10) –&gt;Test 70%</a:t>
            </a:r>
          </a:p>
          <a:p>
            <a:pPr marL="285750" indent="-285750">
              <a:buFont typeface="Wingdings" pitchFamily="2" charset="2"/>
              <a:buChar char="ü"/>
            </a:pPr>
            <a:r>
              <a:rPr lang="en-US" sz="1200" dirty="0" err="1"/>
              <a:t>X_test.shape</a:t>
            </a:r>
            <a:r>
              <a:rPr lang="en-US" sz="1200" dirty="0"/>
              <a:t> (2629, 10) –&gt;Test 30%</a:t>
            </a:r>
          </a:p>
        </p:txBody>
      </p:sp>
      <p:sp>
        <p:nvSpPr>
          <p:cNvPr id="22" name="TextBox 21">
            <a:extLst>
              <a:ext uri="{FF2B5EF4-FFF2-40B4-BE49-F238E27FC236}">
                <a16:creationId xmlns:a16="http://schemas.microsoft.com/office/drawing/2014/main" id="{BBA91F26-7F3B-1D72-2D4E-4992FB45369C}"/>
              </a:ext>
            </a:extLst>
          </p:cNvPr>
          <p:cNvSpPr txBox="1"/>
          <p:nvPr/>
        </p:nvSpPr>
        <p:spPr>
          <a:xfrm>
            <a:off x="3400970" y="3855473"/>
            <a:ext cx="5537697" cy="1169551"/>
          </a:xfrm>
          <a:prstGeom prst="rect">
            <a:avLst/>
          </a:prstGeom>
          <a:noFill/>
        </p:spPr>
        <p:txBody>
          <a:bodyPr wrap="square" rtlCol="0">
            <a:spAutoFit/>
          </a:bodyPr>
          <a:lstStyle/>
          <a:p>
            <a:pPr marL="285750" indent="-285750">
              <a:buFont typeface="Wingdings" pitchFamily="2" charset="2"/>
              <a:buChar char="ü"/>
            </a:pPr>
            <a:r>
              <a:rPr lang="en-US" sz="1200" dirty="0"/>
              <a:t>A preprocessing transformer is created using </a:t>
            </a:r>
            <a:r>
              <a:rPr lang="en-US" sz="1200" dirty="0" err="1"/>
              <a:t>make_column_transformer</a:t>
            </a:r>
            <a:r>
              <a:rPr lang="en-US" sz="1200" dirty="0"/>
              <a:t> and </a:t>
            </a:r>
            <a:r>
              <a:rPr lang="en-US" sz="1200" dirty="0" err="1"/>
              <a:t>OneHotEncoder</a:t>
            </a:r>
            <a:r>
              <a:rPr lang="en-US" sz="1200" dirty="0"/>
              <a:t> to convert categorical variables into numerical columns.</a:t>
            </a:r>
          </a:p>
          <a:p>
            <a:pPr marL="285750" indent="-285750">
              <a:buFont typeface="Wingdings" pitchFamily="2" charset="2"/>
              <a:buChar char="ü"/>
            </a:pPr>
            <a:r>
              <a:rPr lang="en-US" sz="1200" dirty="0"/>
              <a:t>Categorical values: </a:t>
            </a:r>
            <a:r>
              <a:rPr lang="en-US" sz="1000" dirty="0"/>
              <a:t>(</a:t>
            </a:r>
            <a:r>
              <a:rPr lang="en-US" sz="1000" dirty="0" err="1"/>
              <a:t>Product_Sugar_Content</a:t>
            </a:r>
            <a:r>
              <a:rPr lang="en-US" sz="1000" dirty="0"/>
              <a:t>, </a:t>
            </a:r>
            <a:r>
              <a:rPr lang="en-US" sz="1000" dirty="0" err="1"/>
              <a:t>Store_Size</a:t>
            </a:r>
            <a:r>
              <a:rPr lang="en-US" sz="1000" dirty="0"/>
              <a:t>, </a:t>
            </a:r>
            <a:r>
              <a:rPr lang="en-US" sz="1000" dirty="0" err="1"/>
              <a:t>Store_Location_City_Type</a:t>
            </a:r>
            <a:r>
              <a:rPr lang="en-US" sz="1000" dirty="0"/>
              <a:t>, </a:t>
            </a:r>
            <a:r>
              <a:rPr lang="en-US" sz="1000" dirty="0" err="1"/>
              <a:t>Store_Type</a:t>
            </a:r>
            <a:r>
              <a:rPr lang="en-US" sz="1000" dirty="0"/>
              <a:t>, </a:t>
            </a:r>
            <a:r>
              <a:rPr lang="en-US" sz="1000" dirty="0" err="1"/>
              <a:t>Product_Id_char</a:t>
            </a:r>
            <a:r>
              <a:rPr lang="en-US" sz="1000" dirty="0"/>
              <a:t>, and </a:t>
            </a:r>
            <a:r>
              <a:rPr lang="en-US" sz="1000" dirty="0" err="1"/>
              <a:t>Product_Type_Category</a:t>
            </a:r>
            <a:r>
              <a:rPr lang="en-US" sz="1000" dirty="0"/>
              <a:t>)</a:t>
            </a:r>
          </a:p>
          <a:p>
            <a:pPr lvl="1"/>
            <a:endParaRPr lang="en-US" sz="1200" dirty="0"/>
          </a:p>
        </p:txBody>
      </p:sp>
    </p:spTree>
    <p:extLst>
      <p:ext uri="{BB962C8B-B14F-4D97-AF65-F5344CB8AC3E}">
        <p14:creationId xmlns:p14="http://schemas.microsoft.com/office/powerpoint/2010/main" val="962407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2D53B8B0-1652-88B5-E827-B2D00C0E30E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9340B19-0127-9BD1-2FE5-54AFE9C15AD6}"/>
              </a:ext>
            </a:extLst>
          </p:cNvPr>
          <p:cNvSpPr/>
          <p:nvPr/>
        </p:nvSpPr>
        <p:spPr>
          <a:xfrm>
            <a:off x="6910451" y="2515203"/>
            <a:ext cx="1645151" cy="125996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A30CE313-69E4-AF37-A158-D619264E4112}"/>
              </a:ext>
            </a:extLst>
          </p:cNvPr>
          <p:cNvSpPr/>
          <p:nvPr/>
        </p:nvSpPr>
        <p:spPr>
          <a:xfrm>
            <a:off x="6910452" y="1145024"/>
            <a:ext cx="1645151" cy="125996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30;g12508d39905_0_54">
            <a:extLst>
              <a:ext uri="{FF2B5EF4-FFF2-40B4-BE49-F238E27FC236}">
                <a16:creationId xmlns:a16="http://schemas.microsoft.com/office/drawing/2014/main" id="{ECD6A5E3-8F96-7153-1FFB-C288C90909D2}"/>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Model Building: Random Forest Model</a:t>
            </a:r>
            <a:br>
              <a:rPr lang="en-US" dirty="0">
                <a:solidFill>
                  <a:srgbClr val="1974D2"/>
                </a:solidFill>
              </a:rPr>
            </a:br>
            <a:endParaRPr lang="en-US" dirty="0">
              <a:solidFill>
                <a:srgbClr val="1974D2"/>
              </a:solidFill>
            </a:endParaRPr>
          </a:p>
        </p:txBody>
      </p:sp>
      <p:sp>
        <p:nvSpPr>
          <p:cNvPr id="3" name="TextBox 2">
            <a:extLst>
              <a:ext uri="{FF2B5EF4-FFF2-40B4-BE49-F238E27FC236}">
                <a16:creationId xmlns:a16="http://schemas.microsoft.com/office/drawing/2014/main" id="{EE53E42D-B3CB-FA9E-8294-71E890C2B4F8}"/>
              </a:ext>
            </a:extLst>
          </p:cNvPr>
          <p:cNvSpPr txBox="1"/>
          <p:nvPr/>
        </p:nvSpPr>
        <p:spPr>
          <a:xfrm rot="16200000">
            <a:off x="-52193" y="1627912"/>
            <a:ext cx="830766" cy="276999"/>
          </a:xfrm>
          <a:prstGeom prst="rect">
            <a:avLst/>
          </a:prstGeom>
          <a:noFill/>
        </p:spPr>
        <p:txBody>
          <a:bodyPr wrap="square" rtlCol="0">
            <a:spAutoFit/>
          </a:bodyPr>
          <a:lstStyle/>
          <a:p>
            <a:r>
              <a:rPr lang="en-US" sz="1200" dirty="0">
                <a:solidFill>
                  <a:srgbClr val="00B0F0"/>
                </a:solidFill>
              </a:rPr>
              <a:t>Training </a:t>
            </a:r>
          </a:p>
        </p:txBody>
      </p:sp>
      <p:sp>
        <p:nvSpPr>
          <p:cNvPr id="5" name="TextBox 4">
            <a:extLst>
              <a:ext uri="{FF2B5EF4-FFF2-40B4-BE49-F238E27FC236}">
                <a16:creationId xmlns:a16="http://schemas.microsoft.com/office/drawing/2014/main" id="{5376C6B1-B352-1CA0-531A-8F3A41D80CD8}"/>
              </a:ext>
            </a:extLst>
          </p:cNvPr>
          <p:cNvSpPr txBox="1"/>
          <p:nvPr/>
        </p:nvSpPr>
        <p:spPr>
          <a:xfrm rot="16200000">
            <a:off x="69802" y="2863297"/>
            <a:ext cx="586777" cy="276999"/>
          </a:xfrm>
          <a:prstGeom prst="rect">
            <a:avLst/>
          </a:prstGeom>
          <a:noFill/>
        </p:spPr>
        <p:txBody>
          <a:bodyPr wrap="square" rtlCol="0">
            <a:spAutoFit/>
          </a:bodyPr>
          <a:lstStyle/>
          <a:p>
            <a:pPr algn="ctr"/>
            <a:r>
              <a:rPr lang="en-US" sz="1200" dirty="0">
                <a:solidFill>
                  <a:srgbClr val="00B0F0"/>
                </a:solidFill>
              </a:rPr>
              <a:t>Test </a:t>
            </a:r>
          </a:p>
        </p:txBody>
      </p:sp>
      <p:sp>
        <p:nvSpPr>
          <p:cNvPr id="6" name="TextBox 5">
            <a:extLst>
              <a:ext uri="{FF2B5EF4-FFF2-40B4-BE49-F238E27FC236}">
                <a16:creationId xmlns:a16="http://schemas.microsoft.com/office/drawing/2014/main" id="{4A47C94C-68A2-B16D-092A-EB71A913699E}"/>
              </a:ext>
            </a:extLst>
          </p:cNvPr>
          <p:cNvSpPr txBox="1"/>
          <p:nvPr/>
        </p:nvSpPr>
        <p:spPr>
          <a:xfrm>
            <a:off x="6997390" y="868027"/>
            <a:ext cx="1632623" cy="276999"/>
          </a:xfrm>
          <a:prstGeom prst="rect">
            <a:avLst/>
          </a:prstGeom>
          <a:noFill/>
        </p:spPr>
        <p:txBody>
          <a:bodyPr wrap="square" rtlCol="0">
            <a:spAutoFit/>
          </a:bodyPr>
          <a:lstStyle/>
          <a:p>
            <a:r>
              <a:rPr lang="en-US" sz="1200" dirty="0">
                <a:solidFill>
                  <a:srgbClr val="00B0F0"/>
                </a:solidFill>
              </a:rPr>
              <a:t>Performance Metrics</a:t>
            </a:r>
          </a:p>
        </p:txBody>
      </p:sp>
      <p:sp>
        <p:nvSpPr>
          <p:cNvPr id="7" name="TextBox 6">
            <a:extLst>
              <a:ext uri="{FF2B5EF4-FFF2-40B4-BE49-F238E27FC236}">
                <a16:creationId xmlns:a16="http://schemas.microsoft.com/office/drawing/2014/main" id="{E84A66AB-E251-A8BC-4D1C-B7F1C249A47E}"/>
              </a:ext>
            </a:extLst>
          </p:cNvPr>
          <p:cNvSpPr txBox="1"/>
          <p:nvPr/>
        </p:nvSpPr>
        <p:spPr>
          <a:xfrm>
            <a:off x="6910452" y="1204660"/>
            <a:ext cx="1806498" cy="1200329"/>
          </a:xfrm>
          <a:prstGeom prst="rect">
            <a:avLst/>
          </a:prstGeom>
          <a:noFill/>
        </p:spPr>
        <p:txBody>
          <a:bodyPr wrap="square" rtlCol="0">
            <a:spAutoFit/>
          </a:bodyPr>
          <a:lstStyle/>
          <a:p>
            <a:pPr marL="171450" indent="-171450">
              <a:buFont typeface="Arial" panose="020B0604020202020204" pitchFamily="34" charset="0"/>
              <a:buChar char="•"/>
            </a:pPr>
            <a:r>
              <a:rPr lang="en-US" sz="800" dirty="0"/>
              <a:t>RMSE: 596.99</a:t>
            </a:r>
          </a:p>
          <a:p>
            <a:endParaRPr lang="en-US" sz="800" dirty="0"/>
          </a:p>
          <a:p>
            <a:pPr marL="171450" indent="-171450">
              <a:buFont typeface="Arial" panose="020B0604020202020204" pitchFamily="34" charset="0"/>
              <a:buChar char="•"/>
            </a:pPr>
            <a:r>
              <a:rPr lang="en-US" sz="800" dirty="0"/>
              <a:t>MAE: 468.87</a:t>
            </a:r>
          </a:p>
          <a:p>
            <a:endParaRPr lang="en-US" sz="800" dirty="0"/>
          </a:p>
          <a:p>
            <a:pPr marL="171450" indent="-171450">
              <a:buFont typeface="Arial" panose="020B0604020202020204" pitchFamily="34" charset="0"/>
              <a:buChar char="•"/>
            </a:pPr>
            <a:r>
              <a:rPr lang="en-US" sz="800" dirty="0"/>
              <a:t>R-Squared: 0.685</a:t>
            </a:r>
          </a:p>
          <a:p>
            <a:pPr marL="171450" indent="-171450">
              <a:buFont typeface="Arial" panose="020B0604020202020204" pitchFamily="34" charset="0"/>
              <a:buChar char="•"/>
            </a:pPr>
            <a:endParaRPr lang="en-US" sz="800" dirty="0"/>
          </a:p>
          <a:p>
            <a:pPr marL="171450" indent="-171450">
              <a:buFont typeface="Arial" panose="020B0604020202020204" pitchFamily="34" charset="0"/>
              <a:buChar char="•"/>
            </a:pPr>
            <a:r>
              <a:rPr lang="en-US" sz="800" dirty="0"/>
              <a:t>Adj R-Squared: 0.684</a:t>
            </a:r>
          </a:p>
          <a:p>
            <a:endParaRPr lang="en-US" sz="800" dirty="0"/>
          </a:p>
          <a:p>
            <a:pPr marL="171450" indent="-171450">
              <a:buFont typeface="Arial" panose="020B0604020202020204" pitchFamily="34" charset="0"/>
              <a:buChar char="•"/>
            </a:pPr>
            <a:r>
              <a:rPr lang="en-US" sz="800" dirty="0"/>
              <a:t>MAPE: 0.165</a:t>
            </a:r>
          </a:p>
        </p:txBody>
      </p:sp>
      <p:sp>
        <p:nvSpPr>
          <p:cNvPr id="8" name="TextBox 7">
            <a:extLst>
              <a:ext uri="{FF2B5EF4-FFF2-40B4-BE49-F238E27FC236}">
                <a16:creationId xmlns:a16="http://schemas.microsoft.com/office/drawing/2014/main" id="{F9BB5044-F307-811D-A5CB-A7A66D5F5A13}"/>
              </a:ext>
            </a:extLst>
          </p:cNvPr>
          <p:cNvSpPr txBox="1"/>
          <p:nvPr/>
        </p:nvSpPr>
        <p:spPr>
          <a:xfrm>
            <a:off x="3393961" y="868025"/>
            <a:ext cx="2650687" cy="276999"/>
          </a:xfrm>
          <a:prstGeom prst="rect">
            <a:avLst/>
          </a:prstGeom>
          <a:noFill/>
        </p:spPr>
        <p:txBody>
          <a:bodyPr wrap="square" rtlCol="0">
            <a:spAutoFit/>
          </a:bodyPr>
          <a:lstStyle/>
          <a:p>
            <a:r>
              <a:rPr lang="en-US" sz="1200" dirty="0">
                <a:solidFill>
                  <a:srgbClr val="00B0F0"/>
                </a:solidFill>
              </a:rPr>
              <a:t>Random Forest Regressor Model</a:t>
            </a:r>
          </a:p>
        </p:txBody>
      </p:sp>
      <p:sp>
        <p:nvSpPr>
          <p:cNvPr id="10" name="Triangle 9">
            <a:extLst>
              <a:ext uri="{FF2B5EF4-FFF2-40B4-BE49-F238E27FC236}">
                <a16:creationId xmlns:a16="http://schemas.microsoft.com/office/drawing/2014/main" id="{D2B3E7E6-50D5-503A-7E05-8B7594C275E2}"/>
              </a:ext>
            </a:extLst>
          </p:cNvPr>
          <p:cNvSpPr/>
          <p:nvPr/>
        </p:nvSpPr>
        <p:spPr>
          <a:xfrm rot="5400000">
            <a:off x="5640216" y="1645974"/>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7A64A428-4AA5-ABBC-DF31-57F3665A7E5A}"/>
              </a:ext>
            </a:extLst>
          </p:cNvPr>
          <p:cNvSpPr/>
          <p:nvPr/>
        </p:nvSpPr>
        <p:spPr>
          <a:xfrm rot="5400000">
            <a:off x="5641944" y="3052164"/>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1478352B-F2F6-8DFB-062B-F9ACA7A921D3}"/>
              </a:ext>
            </a:extLst>
          </p:cNvPr>
          <p:cNvSpPr/>
          <p:nvPr/>
        </p:nvSpPr>
        <p:spPr>
          <a:xfrm rot="5400000">
            <a:off x="173893" y="1631513"/>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B872D181-0F11-966F-AAC5-D0673C0B3F6F}"/>
              </a:ext>
            </a:extLst>
          </p:cNvPr>
          <p:cNvSpPr/>
          <p:nvPr/>
        </p:nvSpPr>
        <p:spPr>
          <a:xfrm rot="5400000">
            <a:off x="175621" y="2942289"/>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E846776-6F54-928E-46E6-E835883794AA}"/>
              </a:ext>
            </a:extLst>
          </p:cNvPr>
          <p:cNvSpPr txBox="1"/>
          <p:nvPr/>
        </p:nvSpPr>
        <p:spPr>
          <a:xfrm>
            <a:off x="743274" y="882487"/>
            <a:ext cx="2650687" cy="276999"/>
          </a:xfrm>
          <a:prstGeom prst="rect">
            <a:avLst/>
          </a:prstGeom>
          <a:noFill/>
        </p:spPr>
        <p:txBody>
          <a:bodyPr wrap="square" rtlCol="0">
            <a:spAutoFit/>
          </a:bodyPr>
          <a:lstStyle/>
          <a:p>
            <a:pPr algn="ctr"/>
            <a:r>
              <a:rPr lang="en-US" sz="1200" dirty="0">
                <a:solidFill>
                  <a:srgbClr val="00B0F0"/>
                </a:solidFill>
              </a:rPr>
              <a:t>Hyperparameter Tuning</a:t>
            </a:r>
          </a:p>
        </p:txBody>
      </p:sp>
      <p:sp>
        <p:nvSpPr>
          <p:cNvPr id="16" name="TextBox 15">
            <a:extLst>
              <a:ext uri="{FF2B5EF4-FFF2-40B4-BE49-F238E27FC236}">
                <a16:creationId xmlns:a16="http://schemas.microsoft.com/office/drawing/2014/main" id="{37844B52-E84B-B14E-A83F-29E2680D1671}"/>
              </a:ext>
            </a:extLst>
          </p:cNvPr>
          <p:cNvSpPr txBox="1"/>
          <p:nvPr/>
        </p:nvSpPr>
        <p:spPr>
          <a:xfrm>
            <a:off x="6910452" y="2592658"/>
            <a:ext cx="1806498" cy="1200329"/>
          </a:xfrm>
          <a:prstGeom prst="rect">
            <a:avLst/>
          </a:prstGeom>
          <a:noFill/>
        </p:spPr>
        <p:txBody>
          <a:bodyPr wrap="square" rtlCol="0">
            <a:spAutoFit/>
          </a:bodyPr>
          <a:lstStyle/>
          <a:p>
            <a:pPr marL="171450" indent="-171450">
              <a:buFont typeface="Arial" panose="020B0604020202020204" pitchFamily="34" charset="0"/>
              <a:buChar char="•"/>
            </a:pPr>
            <a:r>
              <a:rPr lang="en-US" sz="800" dirty="0"/>
              <a:t>RMSE: 615.90</a:t>
            </a:r>
          </a:p>
          <a:p>
            <a:endParaRPr lang="en-US" sz="800" dirty="0"/>
          </a:p>
          <a:p>
            <a:pPr marL="171450" indent="-171450">
              <a:buFont typeface="Arial" panose="020B0604020202020204" pitchFamily="34" charset="0"/>
              <a:buChar char="•"/>
            </a:pPr>
            <a:r>
              <a:rPr lang="en-US" sz="800" dirty="0"/>
              <a:t>MAE: 485.31</a:t>
            </a:r>
          </a:p>
          <a:p>
            <a:endParaRPr lang="en-US" sz="800" dirty="0"/>
          </a:p>
          <a:p>
            <a:pPr marL="171450" indent="-171450">
              <a:buFont typeface="Arial" panose="020B0604020202020204" pitchFamily="34" charset="0"/>
              <a:buChar char="•"/>
            </a:pPr>
            <a:r>
              <a:rPr lang="en-US" sz="800" dirty="0"/>
              <a:t>R-Squared: 0.6685</a:t>
            </a:r>
          </a:p>
          <a:p>
            <a:pPr marL="171450" indent="-171450">
              <a:buFont typeface="Arial" panose="020B0604020202020204" pitchFamily="34" charset="0"/>
              <a:buChar char="•"/>
            </a:pPr>
            <a:endParaRPr lang="en-US" sz="800" dirty="0"/>
          </a:p>
          <a:p>
            <a:pPr marL="171450" indent="-171450">
              <a:buFont typeface="Arial" panose="020B0604020202020204" pitchFamily="34" charset="0"/>
              <a:buChar char="•"/>
            </a:pPr>
            <a:r>
              <a:rPr lang="en-US" sz="800" dirty="0"/>
              <a:t>Adj R-Squared: 0.6672</a:t>
            </a:r>
          </a:p>
          <a:p>
            <a:endParaRPr lang="en-US" sz="800" dirty="0"/>
          </a:p>
          <a:p>
            <a:pPr marL="171450" indent="-171450">
              <a:buFont typeface="Arial" panose="020B0604020202020204" pitchFamily="34" charset="0"/>
              <a:buChar char="•"/>
            </a:pPr>
            <a:r>
              <a:rPr lang="en-US" sz="800" dirty="0"/>
              <a:t>MAPE: 0.1873</a:t>
            </a:r>
          </a:p>
        </p:txBody>
      </p:sp>
      <p:sp>
        <p:nvSpPr>
          <p:cNvPr id="17" name="TextBox 16">
            <a:extLst>
              <a:ext uri="{FF2B5EF4-FFF2-40B4-BE49-F238E27FC236}">
                <a16:creationId xmlns:a16="http://schemas.microsoft.com/office/drawing/2014/main" id="{FDB89E04-242A-5221-5B1D-D0D02D06BE43}"/>
              </a:ext>
            </a:extLst>
          </p:cNvPr>
          <p:cNvSpPr txBox="1"/>
          <p:nvPr/>
        </p:nvSpPr>
        <p:spPr>
          <a:xfrm>
            <a:off x="538571" y="3887685"/>
            <a:ext cx="8200442" cy="830997"/>
          </a:xfrm>
          <a:prstGeom prst="rect">
            <a:avLst/>
          </a:prstGeom>
          <a:solidFill>
            <a:schemeClr val="bg1">
              <a:lumMod val="85000"/>
            </a:schemeClr>
          </a:solidFill>
        </p:spPr>
        <p:txBody>
          <a:bodyPr wrap="square" rtlCol="0">
            <a:spAutoFit/>
          </a:bodyPr>
          <a:lstStyle/>
          <a:p>
            <a:r>
              <a:rPr lang="en-US" sz="1200" dirty="0"/>
              <a:t>The Random Forest Regressor model delivered stable predictive performance, achieving an R-Squared of approximately 0.67–0.69 across training and test datasets. Similar performance metrics between both datasets indicate good generalization with minimal overfitting. Overall, the model provides a reliable regression solution capable of capturing complex nonlinear relationships.</a:t>
            </a:r>
          </a:p>
        </p:txBody>
      </p:sp>
      <p:pic>
        <p:nvPicPr>
          <p:cNvPr id="19" name="Picture 18">
            <a:extLst>
              <a:ext uri="{FF2B5EF4-FFF2-40B4-BE49-F238E27FC236}">
                <a16:creationId xmlns:a16="http://schemas.microsoft.com/office/drawing/2014/main" id="{F8C4C958-BCAE-1D31-858F-5E1C9BE6AFA2}"/>
              </a:ext>
            </a:extLst>
          </p:cNvPr>
          <p:cNvPicPr>
            <a:picLocks noChangeAspect="1"/>
          </p:cNvPicPr>
          <p:nvPr/>
        </p:nvPicPr>
        <p:blipFill>
          <a:blip r:embed="rId3"/>
          <a:stretch>
            <a:fillRect/>
          </a:stretch>
        </p:blipFill>
        <p:spPr>
          <a:xfrm>
            <a:off x="3393961" y="1527170"/>
            <a:ext cx="2489663" cy="1755637"/>
          </a:xfrm>
          <a:prstGeom prst="rect">
            <a:avLst/>
          </a:prstGeom>
        </p:spPr>
      </p:pic>
      <p:sp>
        <p:nvSpPr>
          <p:cNvPr id="20" name="TextBox 19">
            <a:extLst>
              <a:ext uri="{FF2B5EF4-FFF2-40B4-BE49-F238E27FC236}">
                <a16:creationId xmlns:a16="http://schemas.microsoft.com/office/drawing/2014/main" id="{6FDB9525-5411-0B20-9CE9-96A8AB1D8136}"/>
              </a:ext>
            </a:extLst>
          </p:cNvPr>
          <p:cNvSpPr txBox="1"/>
          <p:nvPr/>
        </p:nvSpPr>
        <p:spPr>
          <a:xfrm>
            <a:off x="1292273" y="1493331"/>
            <a:ext cx="1359673" cy="307777"/>
          </a:xfrm>
          <a:prstGeom prst="rect">
            <a:avLst/>
          </a:prstGeom>
          <a:noFill/>
        </p:spPr>
        <p:txBody>
          <a:bodyPr wrap="square" rtlCol="0">
            <a:spAutoFit/>
          </a:bodyPr>
          <a:lstStyle/>
          <a:p>
            <a:pPr algn="ctr"/>
            <a:r>
              <a:rPr lang="en-US" dirty="0"/>
              <a:t>N/A</a:t>
            </a:r>
          </a:p>
        </p:txBody>
      </p:sp>
      <p:sp>
        <p:nvSpPr>
          <p:cNvPr id="21" name="TextBox 20">
            <a:extLst>
              <a:ext uri="{FF2B5EF4-FFF2-40B4-BE49-F238E27FC236}">
                <a16:creationId xmlns:a16="http://schemas.microsoft.com/office/drawing/2014/main" id="{E4A66F3A-EB0E-F78A-574C-9BD87BCF78BA}"/>
              </a:ext>
            </a:extLst>
          </p:cNvPr>
          <p:cNvSpPr txBox="1"/>
          <p:nvPr/>
        </p:nvSpPr>
        <p:spPr>
          <a:xfrm>
            <a:off x="1283279" y="2642182"/>
            <a:ext cx="1359673" cy="307777"/>
          </a:xfrm>
          <a:prstGeom prst="rect">
            <a:avLst/>
          </a:prstGeom>
          <a:noFill/>
        </p:spPr>
        <p:txBody>
          <a:bodyPr wrap="square" rtlCol="0">
            <a:spAutoFit/>
          </a:bodyPr>
          <a:lstStyle/>
          <a:p>
            <a:pPr algn="ctr"/>
            <a:r>
              <a:rPr lang="en-US" dirty="0"/>
              <a:t>N/A</a:t>
            </a:r>
          </a:p>
        </p:txBody>
      </p:sp>
    </p:spTree>
    <p:extLst>
      <p:ext uri="{BB962C8B-B14F-4D97-AF65-F5344CB8AC3E}">
        <p14:creationId xmlns:p14="http://schemas.microsoft.com/office/powerpoint/2010/main" val="4030823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04928A32-3572-831B-82E7-1892779B55B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921F113-46DA-88FB-0F2C-8DA588E36149}"/>
              </a:ext>
            </a:extLst>
          </p:cNvPr>
          <p:cNvSpPr/>
          <p:nvPr/>
        </p:nvSpPr>
        <p:spPr>
          <a:xfrm>
            <a:off x="6910451" y="1204660"/>
            <a:ext cx="1645151" cy="125996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68FAEE4-C920-2AEB-1F0E-40F15C9DBDA6}"/>
              </a:ext>
            </a:extLst>
          </p:cNvPr>
          <p:cNvSpPr/>
          <p:nvPr/>
        </p:nvSpPr>
        <p:spPr>
          <a:xfrm>
            <a:off x="6910451" y="2515203"/>
            <a:ext cx="1645151" cy="125996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30;g12508d39905_0_54">
            <a:extLst>
              <a:ext uri="{FF2B5EF4-FFF2-40B4-BE49-F238E27FC236}">
                <a16:creationId xmlns:a16="http://schemas.microsoft.com/office/drawing/2014/main" id="{4C876F8C-61CF-5B80-97DD-B5A97EC60372}"/>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Model Building: </a:t>
            </a:r>
            <a:r>
              <a:rPr lang="en" dirty="0" err="1">
                <a:solidFill>
                  <a:srgbClr val="1974D2"/>
                </a:solidFill>
              </a:rPr>
              <a:t>XGBoost</a:t>
            </a:r>
            <a:r>
              <a:rPr lang="en" dirty="0">
                <a:solidFill>
                  <a:srgbClr val="1974D2"/>
                </a:solidFill>
              </a:rPr>
              <a:t> Regressor</a:t>
            </a:r>
            <a:br>
              <a:rPr lang="en-US" dirty="0">
                <a:solidFill>
                  <a:srgbClr val="1974D2"/>
                </a:solidFill>
              </a:rPr>
            </a:br>
            <a:endParaRPr lang="en-US" dirty="0">
              <a:solidFill>
                <a:srgbClr val="1974D2"/>
              </a:solidFill>
            </a:endParaRPr>
          </a:p>
        </p:txBody>
      </p:sp>
      <p:sp>
        <p:nvSpPr>
          <p:cNvPr id="3" name="TextBox 2">
            <a:extLst>
              <a:ext uri="{FF2B5EF4-FFF2-40B4-BE49-F238E27FC236}">
                <a16:creationId xmlns:a16="http://schemas.microsoft.com/office/drawing/2014/main" id="{20EF7779-FC07-BF50-F282-66656E2BD32C}"/>
              </a:ext>
            </a:extLst>
          </p:cNvPr>
          <p:cNvSpPr txBox="1"/>
          <p:nvPr/>
        </p:nvSpPr>
        <p:spPr>
          <a:xfrm rot="16200000">
            <a:off x="-52193" y="1627912"/>
            <a:ext cx="830766" cy="276999"/>
          </a:xfrm>
          <a:prstGeom prst="rect">
            <a:avLst/>
          </a:prstGeom>
          <a:noFill/>
        </p:spPr>
        <p:txBody>
          <a:bodyPr wrap="square" rtlCol="0">
            <a:spAutoFit/>
          </a:bodyPr>
          <a:lstStyle/>
          <a:p>
            <a:r>
              <a:rPr lang="en-US" sz="1200" dirty="0">
                <a:solidFill>
                  <a:srgbClr val="00B0F0"/>
                </a:solidFill>
              </a:rPr>
              <a:t>Training </a:t>
            </a:r>
          </a:p>
        </p:txBody>
      </p:sp>
      <p:sp>
        <p:nvSpPr>
          <p:cNvPr id="5" name="TextBox 4">
            <a:extLst>
              <a:ext uri="{FF2B5EF4-FFF2-40B4-BE49-F238E27FC236}">
                <a16:creationId xmlns:a16="http://schemas.microsoft.com/office/drawing/2014/main" id="{95D2D8E1-3E6F-F80F-869C-65DFD6C59E08}"/>
              </a:ext>
            </a:extLst>
          </p:cNvPr>
          <p:cNvSpPr txBox="1"/>
          <p:nvPr/>
        </p:nvSpPr>
        <p:spPr>
          <a:xfrm rot="16200000">
            <a:off x="69802" y="2863297"/>
            <a:ext cx="586777" cy="276999"/>
          </a:xfrm>
          <a:prstGeom prst="rect">
            <a:avLst/>
          </a:prstGeom>
          <a:noFill/>
        </p:spPr>
        <p:txBody>
          <a:bodyPr wrap="square" rtlCol="0">
            <a:spAutoFit/>
          </a:bodyPr>
          <a:lstStyle/>
          <a:p>
            <a:pPr algn="ctr"/>
            <a:r>
              <a:rPr lang="en-US" sz="1200" dirty="0">
                <a:solidFill>
                  <a:srgbClr val="00B0F0"/>
                </a:solidFill>
              </a:rPr>
              <a:t>Test </a:t>
            </a:r>
          </a:p>
        </p:txBody>
      </p:sp>
      <p:sp>
        <p:nvSpPr>
          <p:cNvPr id="6" name="TextBox 5">
            <a:extLst>
              <a:ext uri="{FF2B5EF4-FFF2-40B4-BE49-F238E27FC236}">
                <a16:creationId xmlns:a16="http://schemas.microsoft.com/office/drawing/2014/main" id="{9BB12258-DFF8-6DD2-7D35-7E28ABCA672A}"/>
              </a:ext>
            </a:extLst>
          </p:cNvPr>
          <p:cNvSpPr txBox="1"/>
          <p:nvPr/>
        </p:nvSpPr>
        <p:spPr>
          <a:xfrm>
            <a:off x="6997390" y="868027"/>
            <a:ext cx="1632623" cy="276999"/>
          </a:xfrm>
          <a:prstGeom prst="rect">
            <a:avLst/>
          </a:prstGeom>
          <a:noFill/>
        </p:spPr>
        <p:txBody>
          <a:bodyPr wrap="square" rtlCol="0">
            <a:spAutoFit/>
          </a:bodyPr>
          <a:lstStyle/>
          <a:p>
            <a:r>
              <a:rPr lang="en-US" sz="1200" dirty="0">
                <a:solidFill>
                  <a:srgbClr val="00B0F0"/>
                </a:solidFill>
              </a:rPr>
              <a:t>Performance Metrics</a:t>
            </a:r>
          </a:p>
        </p:txBody>
      </p:sp>
      <p:sp>
        <p:nvSpPr>
          <p:cNvPr id="7" name="TextBox 6">
            <a:extLst>
              <a:ext uri="{FF2B5EF4-FFF2-40B4-BE49-F238E27FC236}">
                <a16:creationId xmlns:a16="http://schemas.microsoft.com/office/drawing/2014/main" id="{0972B79E-6793-7E12-98C3-F6A3135D6AFB}"/>
              </a:ext>
            </a:extLst>
          </p:cNvPr>
          <p:cNvSpPr txBox="1"/>
          <p:nvPr/>
        </p:nvSpPr>
        <p:spPr>
          <a:xfrm>
            <a:off x="6910452" y="1204660"/>
            <a:ext cx="1806498" cy="1200329"/>
          </a:xfrm>
          <a:prstGeom prst="rect">
            <a:avLst/>
          </a:prstGeom>
          <a:noFill/>
        </p:spPr>
        <p:txBody>
          <a:bodyPr wrap="square" rtlCol="0">
            <a:spAutoFit/>
          </a:bodyPr>
          <a:lstStyle/>
          <a:p>
            <a:pPr marL="171450" indent="-171450">
              <a:buFont typeface="Arial" panose="020B0604020202020204" pitchFamily="34" charset="0"/>
              <a:buChar char="•"/>
            </a:pPr>
            <a:r>
              <a:rPr lang="en-US" sz="800" dirty="0"/>
              <a:t>RMSE: 596.97</a:t>
            </a:r>
          </a:p>
          <a:p>
            <a:endParaRPr lang="en-US" sz="800" dirty="0"/>
          </a:p>
          <a:p>
            <a:pPr marL="171450" indent="-171450">
              <a:buFont typeface="Arial" panose="020B0604020202020204" pitchFamily="34" charset="0"/>
              <a:buChar char="•"/>
            </a:pPr>
            <a:r>
              <a:rPr lang="en-US" sz="800" dirty="0"/>
              <a:t>MAE: 468.96</a:t>
            </a:r>
          </a:p>
          <a:p>
            <a:endParaRPr lang="en-US" sz="800" dirty="0"/>
          </a:p>
          <a:p>
            <a:pPr marL="171450" indent="-171450">
              <a:buFont typeface="Arial" panose="020B0604020202020204" pitchFamily="34" charset="0"/>
              <a:buChar char="•"/>
            </a:pPr>
            <a:r>
              <a:rPr lang="en-US" sz="800" dirty="0"/>
              <a:t>R-Squared: 0.685</a:t>
            </a:r>
          </a:p>
          <a:p>
            <a:pPr marL="171450" indent="-171450">
              <a:buFont typeface="Arial" panose="020B0604020202020204" pitchFamily="34" charset="0"/>
              <a:buChar char="•"/>
            </a:pPr>
            <a:endParaRPr lang="en-US" sz="800" dirty="0"/>
          </a:p>
          <a:p>
            <a:pPr marL="171450" indent="-171450">
              <a:buFont typeface="Arial" panose="020B0604020202020204" pitchFamily="34" charset="0"/>
              <a:buChar char="•"/>
            </a:pPr>
            <a:r>
              <a:rPr lang="en-US" sz="800" dirty="0"/>
              <a:t>Adj R-Squared: 0.684</a:t>
            </a:r>
          </a:p>
          <a:p>
            <a:endParaRPr lang="en-US" sz="800" dirty="0"/>
          </a:p>
          <a:p>
            <a:pPr marL="171450" indent="-171450">
              <a:buFont typeface="Arial" panose="020B0604020202020204" pitchFamily="34" charset="0"/>
              <a:buChar char="•"/>
            </a:pPr>
            <a:r>
              <a:rPr lang="en-US" sz="800" dirty="0"/>
              <a:t>MAPE: 0.165</a:t>
            </a:r>
          </a:p>
        </p:txBody>
      </p:sp>
      <p:sp>
        <p:nvSpPr>
          <p:cNvPr id="8" name="TextBox 7">
            <a:extLst>
              <a:ext uri="{FF2B5EF4-FFF2-40B4-BE49-F238E27FC236}">
                <a16:creationId xmlns:a16="http://schemas.microsoft.com/office/drawing/2014/main" id="{EA7D4C11-8AC5-1839-AE29-6670EDB17343}"/>
              </a:ext>
            </a:extLst>
          </p:cNvPr>
          <p:cNvSpPr txBox="1"/>
          <p:nvPr/>
        </p:nvSpPr>
        <p:spPr>
          <a:xfrm>
            <a:off x="3393961" y="868025"/>
            <a:ext cx="2650687" cy="276999"/>
          </a:xfrm>
          <a:prstGeom prst="rect">
            <a:avLst/>
          </a:prstGeom>
          <a:noFill/>
        </p:spPr>
        <p:txBody>
          <a:bodyPr wrap="square" rtlCol="0">
            <a:spAutoFit/>
          </a:bodyPr>
          <a:lstStyle/>
          <a:p>
            <a:pPr algn="ctr"/>
            <a:r>
              <a:rPr lang="en-US" sz="1200" dirty="0" err="1">
                <a:solidFill>
                  <a:srgbClr val="00B0F0"/>
                </a:solidFill>
              </a:rPr>
              <a:t>XGBoost</a:t>
            </a:r>
            <a:r>
              <a:rPr lang="en-US" sz="1200" dirty="0">
                <a:solidFill>
                  <a:srgbClr val="00B0F0"/>
                </a:solidFill>
              </a:rPr>
              <a:t> Regressor</a:t>
            </a:r>
          </a:p>
        </p:txBody>
      </p:sp>
      <p:sp>
        <p:nvSpPr>
          <p:cNvPr id="10" name="Triangle 9">
            <a:extLst>
              <a:ext uri="{FF2B5EF4-FFF2-40B4-BE49-F238E27FC236}">
                <a16:creationId xmlns:a16="http://schemas.microsoft.com/office/drawing/2014/main" id="{0D6D452A-3307-9178-D514-178A4A0D1BDC}"/>
              </a:ext>
            </a:extLst>
          </p:cNvPr>
          <p:cNvSpPr/>
          <p:nvPr/>
        </p:nvSpPr>
        <p:spPr>
          <a:xfrm rot="5400000">
            <a:off x="5640216" y="1645974"/>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504E0252-B71F-5234-BB1E-570DAF6A9180}"/>
              </a:ext>
            </a:extLst>
          </p:cNvPr>
          <p:cNvSpPr/>
          <p:nvPr/>
        </p:nvSpPr>
        <p:spPr>
          <a:xfrm rot="5400000">
            <a:off x="5641944" y="3052164"/>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7655EA75-09A0-8C39-9C24-32096899355C}"/>
              </a:ext>
            </a:extLst>
          </p:cNvPr>
          <p:cNvSpPr/>
          <p:nvPr/>
        </p:nvSpPr>
        <p:spPr>
          <a:xfrm rot="5400000">
            <a:off x="173893" y="1631513"/>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AA999057-6383-6DAC-7822-149CE2D29719}"/>
              </a:ext>
            </a:extLst>
          </p:cNvPr>
          <p:cNvSpPr/>
          <p:nvPr/>
        </p:nvSpPr>
        <p:spPr>
          <a:xfrm rot="5400000">
            <a:off x="175621" y="2942289"/>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4966CF-3693-12B4-1838-CEE74680DF07}"/>
              </a:ext>
            </a:extLst>
          </p:cNvPr>
          <p:cNvSpPr txBox="1"/>
          <p:nvPr/>
        </p:nvSpPr>
        <p:spPr>
          <a:xfrm>
            <a:off x="743274" y="882487"/>
            <a:ext cx="2650687" cy="276999"/>
          </a:xfrm>
          <a:prstGeom prst="rect">
            <a:avLst/>
          </a:prstGeom>
          <a:noFill/>
        </p:spPr>
        <p:txBody>
          <a:bodyPr wrap="square" rtlCol="0">
            <a:spAutoFit/>
          </a:bodyPr>
          <a:lstStyle/>
          <a:p>
            <a:pPr algn="ctr"/>
            <a:r>
              <a:rPr lang="en-US" sz="1200" dirty="0">
                <a:solidFill>
                  <a:srgbClr val="00B0F0"/>
                </a:solidFill>
              </a:rPr>
              <a:t>Hyperparameter Tuning</a:t>
            </a:r>
          </a:p>
        </p:txBody>
      </p:sp>
      <p:sp>
        <p:nvSpPr>
          <p:cNvPr id="16" name="TextBox 15">
            <a:extLst>
              <a:ext uri="{FF2B5EF4-FFF2-40B4-BE49-F238E27FC236}">
                <a16:creationId xmlns:a16="http://schemas.microsoft.com/office/drawing/2014/main" id="{D14D3F6C-C94A-0996-C961-1CC754D49C05}"/>
              </a:ext>
            </a:extLst>
          </p:cNvPr>
          <p:cNvSpPr txBox="1"/>
          <p:nvPr/>
        </p:nvSpPr>
        <p:spPr>
          <a:xfrm>
            <a:off x="6910452" y="2592658"/>
            <a:ext cx="1806498" cy="1200329"/>
          </a:xfrm>
          <a:prstGeom prst="rect">
            <a:avLst/>
          </a:prstGeom>
          <a:noFill/>
        </p:spPr>
        <p:txBody>
          <a:bodyPr wrap="square" rtlCol="0">
            <a:spAutoFit/>
          </a:bodyPr>
          <a:lstStyle/>
          <a:p>
            <a:pPr marL="171450" indent="-171450">
              <a:buFont typeface="Arial" panose="020B0604020202020204" pitchFamily="34" charset="0"/>
              <a:buChar char="•"/>
            </a:pPr>
            <a:r>
              <a:rPr lang="en-US" sz="800" dirty="0"/>
              <a:t>RMSE: 615.93</a:t>
            </a:r>
          </a:p>
          <a:p>
            <a:endParaRPr lang="en-US" sz="800" dirty="0"/>
          </a:p>
          <a:p>
            <a:pPr marL="171450" indent="-171450">
              <a:buFont typeface="Arial" panose="020B0604020202020204" pitchFamily="34" charset="0"/>
              <a:buChar char="•"/>
            </a:pPr>
            <a:r>
              <a:rPr lang="en-US" sz="800" dirty="0"/>
              <a:t>MAE: 485.42</a:t>
            </a:r>
          </a:p>
          <a:p>
            <a:endParaRPr lang="en-US" sz="800" dirty="0"/>
          </a:p>
          <a:p>
            <a:pPr marL="171450" indent="-171450">
              <a:buFont typeface="Arial" panose="020B0604020202020204" pitchFamily="34" charset="0"/>
              <a:buChar char="•"/>
            </a:pPr>
            <a:r>
              <a:rPr lang="en-US" sz="800" dirty="0"/>
              <a:t>R-Squared: 0.6684</a:t>
            </a:r>
          </a:p>
          <a:p>
            <a:pPr marL="171450" indent="-171450">
              <a:buFont typeface="Arial" panose="020B0604020202020204" pitchFamily="34" charset="0"/>
              <a:buChar char="•"/>
            </a:pPr>
            <a:endParaRPr lang="en-US" sz="800" dirty="0"/>
          </a:p>
          <a:p>
            <a:pPr marL="171450" indent="-171450">
              <a:buFont typeface="Arial" panose="020B0604020202020204" pitchFamily="34" charset="0"/>
              <a:buChar char="•"/>
            </a:pPr>
            <a:r>
              <a:rPr lang="en-US" sz="800" dirty="0"/>
              <a:t>Adj R-Squared: 0.6672</a:t>
            </a:r>
          </a:p>
          <a:p>
            <a:endParaRPr lang="en-US" sz="800" dirty="0"/>
          </a:p>
          <a:p>
            <a:pPr marL="171450" indent="-171450">
              <a:buFont typeface="Arial" panose="020B0604020202020204" pitchFamily="34" charset="0"/>
              <a:buChar char="•"/>
            </a:pPr>
            <a:r>
              <a:rPr lang="en-US" sz="800" dirty="0"/>
              <a:t>MAPE: 0.1874</a:t>
            </a:r>
          </a:p>
        </p:txBody>
      </p:sp>
      <p:pic>
        <p:nvPicPr>
          <p:cNvPr id="2" name="Picture 1">
            <a:extLst>
              <a:ext uri="{FF2B5EF4-FFF2-40B4-BE49-F238E27FC236}">
                <a16:creationId xmlns:a16="http://schemas.microsoft.com/office/drawing/2014/main" id="{9837BB03-70BE-0BFB-D3B3-B6046105D36F}"/>
              </a:ext>
            </a:extLst>
          </p:cNvPr>
          <p:cNvPicPr>
            <a:picLocks noChangeAspect="1"/>
          </p:cNvPicPr>
          <p:nvPr/>
        </p:nvPicPr>
        <p:blipFill>
          <a:blip r:embed="rId3"/>
          <a:stretch>
            <a:fillRect/>
          </a:stretch>
        </p:blipFill>
        <p:spPr>
          <a:xfrm>
            <a:off x="3510283" y="1501173"/>
            <a:ext cx="2336168" cy="1631673"/>
          </a:xfrm>
          <a:prstGeom prst="rect">
            <a:avLst/>
          </a:prstGeom>
        </p:spPr>
      </p:pic>
      <p:sp>
        <p:nvSpPr>
          <p:cNvPr id="18" name="TextBox 17">
            <a:extLst>
              <a:ext uri="{FF2B5EF4-FFF2-40B4-BE49-F238E27FC236}">
                <a16:creationId xmlns:a16="http://schemas.microsoft.com/office/drawing/2014/main" id="{111FD6BC-B8F9-8A15-90D9-7653ECC2A2EF}"/>
              </a:ext>
            </a:extLst>
          </p:cNvPr>
          <p:cNvSpPr txBox="1"/>
          <p:nvPr/>
        </p:nvSpPr>
        <p:spPr>
          <a:xfrm>
            <a:off x="501690" y="3887685"/>
            <a:ext cx="8324258" cy="1031051"/>
          </a:xfrm>
          <a:prstGeom prst="rect">
            <a:avLst/>
          </a:prstGeom>
          <a:solidFill>
            <a:schemeClr val="bg1">
              <a:lumMod val="85000"/>
            </a:schemeClr>
          </a:solidFill>
        </p:spPr>
        <p:txBody>
          <a:bodyPr wrap="square" rtlCol="0">
            <a:spAutoFit/>
          </a:bodyPr>
          <a:lstStyle>
            <a:defPPr marR="0" lvl="0" algn="l" rtl="0">
              <a:lnSpc>
                <a:spcPct val="100000"/>
              </a:lnSpc>
              <a:spcBef>
                <a:spcPts val="0"/>
              </a:spcBef>
              <a:spcAft>
                <a:spcPts val="0"/>
              </a:spcAft>
            </a:defPPr>
            <a:lvl1pPr>
              <a:defRPr sz="1200"/>
            </a:lvl1pPr>
          </a:lstStyle>
          <a:p>
            <a:r>
              <a:rPr lang="en-US" dirty="0"/>
              <a:t>The </a:t>
            </a:r>
            <a:r>
              <a:rPr lang="en-US" dirty="0" err="1"/>
              <a:t>XGBoost</a:t>
            </a:r>
            <a:r>
              <a:rPr lang="en-US" dirty="0"/>
              <a:t> Regressor achieved moderate predictive performance, with training and testing R-Squared values around 0.68, indicating the model explains approximately 68% of the variance in the target variable. The relatively close training and testing metrics suggest the model generalizes well with limited overfitting, demonstrating stable performance across unseen data. However, the absence of hyperparameter tuning may have limited the model’s full predictive potential, as further optimization could improve RMSE, MAE, and overall accuracy.</a:t>
            </a:r>
          </a:p>
        </p:txBody>
      </p:sp>
      <p:sp>
        <p:nvSpPr>
          <p:cNvPr id="19" name="TextBox 18">
            <a:extLst>
              <a:ext uri="{FF2B5EF4-FFF2-40B4-BE49-F238E27FC236}">
                <a16:creationId xmlns:a16="http://schemas.microsoft.com/office/drawing/2014/main" id="{D82D5B97-CFBD-D53F-D067-3DFD8A2D5E91}"/>
              </a:ext>
            </a:extLst>
          </p:cNvPr>
          <p:cNvSpPr txBox="1"/>
          <p:nvPr/>
        </p:nvSpPr>
        <p:spPr>
          <a:xfrm>
            <a:off x="1329784" y="2782978"/>
            <a:ext cx="1359673" cy="307777"/>
          </a:xfrm>
          <a:prstGeom prst="rect">
            <a:avLst/>
          </a:prstGeom>
          <a:noFill/>
        </p:spPr>
        <p:txBody>
          <a:bodyPr wrap="square" rtlCol="0">
            <a:spAutoFit/>
          </a:bodyPr>
          <a:lstStyle/>
          <a:p>
            <a:pPr algn="ctr"/>
            <a:r>
              <a:rPr lang="en-US" dirty="0"/>
              <a:t>N/A</a:t>
            </a:r>
          </a:p>
        </p:txBody>
      </p:sp>
      <p:sp>
        <p:nvSpPr>
          <p:cNvPr id="20" name="TextBox 19">
            <a:extLst>
              <a:ext uri="{FF2B5EF4-FFF2-40B4-BE49-F238E27FC236}">
                <a16:creationId xmlns:a16="http://schemas.microsoft.com/office/drawing/2014/main" id="{2889A618-F54C-9662-C38A-A3B5F39F575A}"/>
              </a:ext>
            </a:extLst>
          </p:cNvPr>
          <p:cNvSpPr txBox="1"/>
          <p:nvPr/>
        </p:nvSpPr>
        <p:spPr>
          <a:xfrm>
            <a:off x="1322516" y="1558306"/>
            <a:ext cx="1359673" cy="307777"/>
          </a:xfrm>
          <a:prstGeom prst="rect">
            <a:avLst/>
          </a:prstGeom>
          <a:noFill/>
        </p:spPr>
        <p:txBody>
          <a:bodyPr wrap="square" rtlCol="0">
            <a:spAutoFit/>
          </a:bodyPr>
          <a:lstStyle/>
          <a:p>
            <a:pPr algn="ctr"/>
            <a:r>
              <a:rPr lang="en-US" dirty="0"/>
              <a:t>N/A</a:t>
            </a:r>
          </a:p>
        </p:txBody>
      </p:sp>
    </p:spTree>
    <p:extLst>
      <p:ext uri="{BB962C8B-B14F-4D97-AF65-F5344CB8AC3E}">
        <p14:creationId xmlns:p14="http://schemas.microsoft.com/office/powerpoint/2010/main" val="3782718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AFE1DE6E-6821-A30B-A9FF-7B9250C326DB}"/>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EB2B3FF2-A017-6C60-B3D3-09EB823988AB}"/>
              </a:ext>
            </a:extLst>
          </p:cNvPr>
          <p:cNvSpPr/>
          <p:nvPr/>
        </p:nvSpPr>
        <p:spPr>
          <a:xfrm>
            <a:off x="6910451" y="1173223"/>
            <a:ext cx="1645151" cy="125996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32B21D2-3AAC-DD5F-E870-77F79AF797E7}"/>
              </a:ext>
            </a:extLst>
          </p:cNvPr>
          <p:cNvSpPr/>
          <p:nvPr/>
        </p:nvSpPr>
        <p:spPr>
          <a:xfrm>
            <a:off x="6910451" y="2515203"/>
            <a:ext cx="1645151" cy="125996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çç</a:t>
            </a:r>
            <a:endParaRPr lang="en-US" dirty="0"/>
          </a:p>
        </p:txBody>
      </p:sp>
      <p:sp>
        <p:nvSpPr>
          <p:cNvPr id="4" name="Google Shape;130;g12508d39905_0_54">
            <a:extLst>
              <a:ext uri="{FF2B5EF4-FFF2-40B4-BE49-F238E27FC236}">
                <a16:creationId xmlns:a16="http://schemas.microsoft.com/office/drawing/2014/main" id="{B00F5201-229A-6D95-9625-C4903460CBB1}"/>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Model Building: Tuned Random Forest Model</a:t>
            </a:r>
            <a:br>
              <a:rPr lang="en-US" dirty="0">
                <a:solidFill>
                  <a:srgbClr val="1974D2"/>
                </a:solidFill>
              </a:rPr>
            </a:br>
            <a:endParaRPr lang="en-US" dirty="0">
              <a:solidFill>
                <a:srgbClr val="1974D2"/>
              </a:solidFill>
            </a:endParaRPr>
          </a:p>
        </p:txBody>
      </p:sp>
      <p:sp>
        <p:nvSpPr>
          <p:cNvPr id="3" name="TextBox 2">
            <a:extLst>
              <a:ext uri="{FF2B5EF4-FFF2-40B4-BE49-F238E27FC236}">
                <a16:creationId xmlns:a16="http://schemas.microsoft.com/office/drawing/2014/main" id="{60085EFC-3EDC-C80A-B50E-970FCF153387}"/>
              </a:ext>
            </a:extLst>
          </p:cNvPr>
          <p:cNvSpPr txBox="1"/>
          <p:nvPr/>
        </p:nvSpPr>
        <p:spPr>
          <a:xfrm rot="16200000">
            <a:off x="-52193" y="1627912"/>
            <a:ext cx="830766" cy="276999"/>
          </a:xfrm>
          <a:prstGeom prst="rect">
            <a:avLst/>
          </a:prstGeom>
          <a:noFill/>
        </p:spPr>
        <p:txBody>
          <a:bodyPr wrap="square" rtlCol="0">
            <a:spAutoFit/>
          </a:bodyPr>
          <a:lstStyle/>
          <a:p>
            <a:r>
              <a:rPr lang="en-US" sz="1200" dirty="0">
                <a:solidFill>
                  <a:srgbClr val="00B0F0"/>
                </a:solidFill>
              </a:rPr>
              <a:t>Training </a:t>
            </a:r>
          </a:p>
        </p:txBody>
      </p:sp>
      <p:sp>
        <p:nvSpPr>
          <p:cNvPr id="5" name="TextBox 4">
            <a:extLst>
              <a:ext uri="{FF2B5EF4-FFF2-40B4-BE49-F238E27FC236}">
                <a16:creationId xmlns:a16="http://schemas.microsoft.com/office/drawing/2014/main" id="{D8A6B8D2-1453-DBC0-3DA5-DFC08DA0BC8F}"/>
              </a:ext>
            </a:extLst>
          </p:cNvPr>
          <p:cNvSpPr txBox="1"/>
          <p:nvPr/>
        </p:nvSpPr>
        <p:spPr>
          <a:xfrm rot="16200000">
            <a:off x="69802" y="2863297"/>
            <a:ext cx="586777" cy="276999"/>
          </a:xfrm>
          <a:prstGeom prst="rect">
            <a:avLst/>
          </a:prstGeom>
          <a:noFill/>
        </p:spPr>
        <p:txBody>
          <a:bodyPr wrap="square" rtlCol="0">
            <a:spAutoFit/>
          </a:bodyPr>
          <a:lstStyle/>
          <a:p>
            <a:pPr algn="ctr"/>
            <a:r>
              <a:rPr lang="en-US" sz="1200" dirty="0">
                <a:solidFill>
                  <a:srgbClr val="00B0F0"/>
                </a:solidFill>
              </a:rPr>
              <a:t>Test </a:t>
            </a:r>
          </a:p>
        </p:txBody>
      </p:sp>
      <p:sp>
        <p:nvSpPr>
          <p:cNvPr id="6" name="TextBox 5">
            <a:extLst>
              <a:ext uri="{FF2B5EF4-FFF2-40B4-BE49-F238E27FC236}">
                <a16:creationId xmlns:a16="http://schemas.microsoft.com/office/drawing/2014/main" id="{4FAF0176-32E3-013F-8AC7-9CF8E2AE24D0}"/>
              </a:ext>
            </a:extLst>
          </p:cNvPr>
          <p:cNvSpPr txBox="1"/>
          <p:nvPr/>
        </p:nvSpPr>
        <p:spPr>
          <a:xfrm>
            <a:off x="6997390" y="868027"/>
            <a:ext cx="1632623" cy="276999"/>
          </a:xfrm>
          <a:prstGeom prst="rect">
            <a:avLst/>
          </a:prstGeom>
          <a:noFill/>
        </p:spPr>
        <p:txBody>
          <a:bodyPr wrap="square" rtlCol="0">
            <a:spAutoFit/>
          </a:bodyPr>
          <a:lstStyle/>
          <a:p>
            <a:r>
              <a:rPr lang="en-US" sz="1200" dirty="0">
                <a:solidFill>
                  <a:srgbClr val="00B0F0"/>
                </a:solidFill>
              </a:rPr>
              <a:t>Performance Metrics</a:t>
            </a:r>
          </a:p>
        </p:txBody>
      </p:sp>
      <p:sp>
        <p:nvSpPr>
          <p:cNvPr id="7" name="TextBox 6">
            <a:extLst>
              <a:ext uri="{FF2B5EF4-FFF2-40B4-BE49-F238E27FC236}">
                <a16:creationId xmlns:a16="http://schemas.microsoft.com/office/drawing/2014/main" id="{E9FB59B6-2180-0EB7-A096-D3D782AD4231}"/>
              </a:ext>
            </a:extLst>
          </p:cNvPr>
          <p:cNvSpPr txBox="1"/>
          <p:nvPr/>
        </p:nvSpPr>
        <p:spPr>
          <a:xfrm>
            <a:off x="6910452" y="1204660"/>
            <a:ext cx="1806498" cy="1200329"/>
          </a:xfrm>
          <a:prstGeom prst="rect">
            <a:avLst/>
          </a:prstGeom>
          <a:noFill/>
        </p:spPr>
        <p:txBody>
          <a:bodyPr wrap="square" rtlCol="0">
            <a:spAutoFit/>
          </a:bodyPr>
          <a:lstStyle/>
          <a:p>
            <a:pPr marL="171450" indent="-171450">
              <a:buFont typeface="Arial" panose="020B0604020202020204" pitchFamily="34" charset="0"/>
              <a:buChar char="•"/>
            </a:pPr>
            <a:r>
              <a:rPr lang="en-US" sz="800" dirty="0"/>
              <a:t>RMSE: 597.14</a:t>
            </a:r>
          </a:p>
          <a:p>
            <a:endParaRPr lang="en-US" sz="800" dirty="0"/>
          </a:p>
          <a:p>
            <a:pPr marL="171450" indent="-171450">
              <a:buFont typeface="Arial" panose="020B0604020202020204" pitchFamily="34" charset="0"/>
              <a:buChar char="•"/>
            </a:pPr>
            <a:r>
              <a:rPr lang="en-US" sz="800" dirty="0"/>
              <a:t>MAE: 470.40</a:t>
            </a:r>
          </a:p>
          <a:p>
            <a:endParaRPr lang="en-US" sz="800" dirty="0"/>
          </a:p>
          <a:p>
            <a:pPr marL="171450" indent="-171450">
              <a:buFont typeface="Arial" panose="020B0604020202020204" pitchFamily="34" charset="0"/>
              <a:buChar char="•"/>
            </a:pPr>
            <a:r>
              <a:rPr lang="en-US" sz="800" dirty="0"/>
              <a:t>R-Squared: 0.6848</a:t>
            </a:r>
          </a:p>
          <a:p>
            <a:pPr marL="171450" indent="-171450">
              <a:buFont typeface="Arial" panose="020B0604020202020204" pitchFamily="34" charset="0"/>
              <a:buChar char="•"/>
            </a:pPr>
            <a:endParaRPr lang="en-US" sz="800" dirty="0"/>
          </a:p>
          <a:p>
            <a:pPr marL="171450" indent="-171450">
              <a:buFont typeface="Arial" panose="020B0604020202020204" pitchFamily="34" charset="0"/>
              <a:buChar char="•"/>
            </a:pPr>
            <a:r>
              <a:rPr lang="en-US" sz="800" dirty="0"/>
              <a:t>Adj R-Squared: 0.684</a:t>
            </a:r>
          </a:p>
          <a:p>
            <a:endParaRPr lang="en-US" sz="800" dirty="0"/>
          </a:p>
          <a:p>
            <a:pPr marL="171450" indent="-171450">
              <a:buFont typeface="Arial" panose="020B0604020202020204" pitchFamily="34" charset="0"/>
              <a:buChar char="•"/>
            </a:pPr>
            <a:r>
              <a:rPr lang="en-US" sz="800" dirty="0"/>
              <a:t>MAPE: 0.166</a:t>
            </a:r>
          </a:p>
        </p:txBody>
      </p:sp>
      <p:sp>
        <p:nvSpPr>
          <p:cNvPr id="8" name="TextBox 7">
            <a:extLst>
              <a:ext uri="{FF2B5EF4-FFF2-40B4-BE49-F238E27FC236}">
                <a16:creationId xmlns:a16="http://schemas.microsoft.com/office/drawing/2014/main" id="{A6648195-D1C3-1E5F-7B0B-EC270A4CE4AD}"/>
              </a:ext>
            </a:extLst>
          </p:cNvPr>
          <p:cNvSpPr txBox="1"/>
          <p:nvPr/>
        </p:nvSpPr>
        <p:spPr>
          <a:xfrm>
            <a:off x="3393961" y="868025"/>
            <a:ext cx="2650687" cy="276999"/>
          </a:xfrm>
          <a:prstGeom prst="rect">
            <a:avLst/>
          </a:prstGeom>
          <a:noFill/>
        </p:spPr>
        <p:txBody>
          <a:bodyPr wrap="square" rtlCol="0">
            <a:spAutoFit/>
          </a:bodyPr>
          <a:lstStyle/>
          <a:p>
            <a:r>
              <a:rPr lang="en-US" sz="1200" dirty="0">
                <a:solidFill>
                  <a:srgbClr val="00B0F0"/>
                </a:solidFill>
              </a:rPr>
              <a:t>Random Forest Regressor Model</a:t>
            </a:r>
          </a:p>
        </p:txBody>
      </p:sp>
      <p:sp>
        <p:nvSpPr>
          <p:cNvPr id="10" name="Triangle 9">
            <a:extLst>
              <a:ext uri="{FF2B5EF4-FFF2-40B4-BE49-F238E27FC236}">
                <a16:creationId xmlns:a16="http://schemas.microsoft.com/office/drawing/2014/main" id="{8AA4F004-06AC-C27A-80F8-A283CA5696E6}"/>
              </a:ext>
            </a:extLst>
          </p:cNvPr>
          <p:cNvSpPr/>
          <p:nvPr/>
        </p:nvSpPr>
        <p:spPr>
          <a:xfrm rot="5400000">
            <a:off x="5640216" y="1645974"/>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464A6E30-7DD5-1114-8D3F-0E8C99EF943A}"/>
              </a:ext>
            </a:extLst>
          </p:cNvPr>
          <p:cNvSpPr/>
          <p:nvPr/>
        </p:nvSpPr>
        <p:spPr>
          <a:xfrm rot="5400000">
            <a:off x="5641944" y="3052164"/>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CA1B3BFF-6CE2-F928-BD5B-0A00D64F7D6B}"/>
              </a:ext>
            </a:extLst>
          </p:cNvPr>
          <p:cNvSpPr/>
          <p:nvPr/>
        </p:nvSpPr>
        <p:spPr>
          <a:xfrm rot="5400000">
            <a:off x="173893" y="1631513"/>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1DBB03C1-AFC5-36A2-58D9-D3A5EF6BFEB1}"/>
              </a:ext>
            </a:extLst>
          </p:cNvPr>
          <p:cNvSpPr/>
          <p:nvPr/>
        </p:nvSpPr>
        <p:spPr>
          <a:xfrm rot="5400000">
            <a:off x="175621" y="2974093"/>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C45C767-A67F-848A-E738-55EB824E86B8}"/>
              </a:ext>
            </a:extLst>
          </p:cNvPr>
          <p:cNvSpPr txBox="1"/>
          <p:nvPr/>
        </p:nvSpPr>
        <p:spPr>
          <a:xfrm>
            <a:off x="743274" y="882487"/>
            <a:ext cx="2650687" cy="276999"/>
          </a:xfrm>
          <a:prstGeom prst="rect">
            <a:avLst/>
          </a:prstGeom>
          <a:noFill/>
        </p:spPr>
        <p:txBody>
          <a:bodyPr wrap="square" rtlCol="0">
            <a:spAutoFit/>
          </a:bodyPr>
          <a:lstStyle/>
          <a:p>
            <a:pPr algn="ctr"/>
            <a:r>
              <a:rPr lang="en-US" sz="1200" dirty="0">
                <a:solidFill>
                  <a:srgbClr val="00B0F0"/>
                </a:solidFill>
              </a:rPr>
              <a:t>Hyperparameter Tuning</a:t>
            </a:r>
          </a:p>
        </p:txBody>
      </p:sp>
      <p:sp>
        <p:nvSpPr>
          <p:cNvPr id="16" name="TextBox 15">
            <a:extLst>
              <a:ext uri="{FF2B5EF4-FFF2-40B4-BE49-F238E27FC236}">
                <a16:creationId xmlns:a16="http://schemas.microsoft.com/office/drawing/2014/main" id="{C5558987-6219-273C-0725-E32244344975}"/>
              </a:ext>
            </a:extLst>
          </p:cNvPr>
          <p:cNvSpPr txBox="1"/>
          <p:nvPr/>
        </p:nvSpPr>
        <p:spPr>
          <a:xfrm>
            <a:off x="6910452" y="2592658"/>
            <a:ext cx="1806498" cy="1200329"/>
          </a:xfrm>
          <a:prstGeom prst="rect">
            <a:avLst/>
          </a:prstGeom>
          <a:noFill/>
        </p:spPr>
        <p:txBody>
          <a:bodyPr wrap="square" rtlCol="0">
            <a:spAutoFit/>
          </a:bodyPr>
          <a:lstStyle/>
          <a:p>
            <a:pPr marL="171450" indent="-171450">
              <a:buFont typeface="Arial" panose="020B0604020202020204" pitchFamily="34" charset="0"/>
              <a:buChar char="•"/>
            </a:pPr>
            <a:r>
              <a:rPr lang="en-US" sz="800" dirty="0"/>
              <a:t>RMSE: 615.81</a:t>
            </a:r>
          </a:p>
          <a:p>
            <a:endParaRPr lang="en-US" sz="800" dirty="0"/>
          </a:p>
          <a:p>
            <a:pPr marL="171450" indent="-171450">
              <a:buFont typeface="Arial" panose="020B0604020202020204" pitchFamily="34" charset="0"/>
              <a:buChar char="•"/>
            </a:pPr>
            <a:r>
              <a:rPr lang="en-US" sz="800" dirty="0"/>
              <a:t>MAE: 486.71</a:t>
            </a:r>
          </a:p>
          <a:p>
            <a:endParaRPr lang="en-US" sz="800" dirty="0"/>
          </a:p>
          <a:p>
            <a:pPr marL="171450" indent="-171450">
              <a:buFont typeface="Arial" panose="020B0604020202020204" pitchFamily="34" charset="0"/>
              <a:buChar char="•"/>
            </a:pPr>
            <a:r>
              <a:rPr lang="en-US" sz="800" dirty="0"/>
              <a:t>R-Squared: 0.6686</a:t>
            </a:r>
          </a:p>
          <a:p>
            <a:pPr marL="171450" indent="-171450">
              <a:buFont typeface="Arial" panose="020B0604020202020204" pitchFamily="34" charset="0"/>
              <a:buChar char="•"/>
            </a:pPr>
            <a:endParaRPr lang="en-US" sz="800" dirty="0"/>
          </a:p>
          <a:p>
            <a:pPr marL="171450" indent="-171450">
              <a:buFont typeface="Arial" panose="020B0604020202020204" pitchFamily="34" charset="0"/>
              <a:buChar char="•"/>
            </a:pPr>
            <a:r>
              <a:rPr lang="en-US" sz="800" dirty="0"/>
              <a:t>Adj R-Squared: 0.6673</a:t>
            </a:r>
          </a:p>
          <a:p>
            <a:endParaRPr lang="en-US" sz="800" dirty="0"/>
          </a:p>
          <a:p>
            <a:pPr marL="171450" indent="-171450">
              <a:buFont typeface="Arial" panose="020B0604020202020204" pitchFamily="34" charset="0"/>
              <a:buChar char="•"/>
            </a:pPr>
            <a:r>
              <a:rPr lang="en-US" sz="800" dirty="0"/>
              <a:t>MAPE: 0.1876</a:t>
            </a:r>
          </a:p>
        </p:txBody>
      </p:sp>
      <p:pic>
        <p:nvPicPr>
          <p:cNvPr id="2" name="Picture 1">
            <a:extLst>
              <a:ext uri="{FF2B5EF4-FFF2-40B4-BE49-F238E27FC236}">
                <a16:creationId xmlns:a16="http://schemas.microsoft.com/office/drawing/2014/main" id="{03AF3DE2-0E7E-D105-0245-0DF267B80F1F}"/>
              </a:ext>
            </a:extLst>
          </p:cNvPr>
          <p:cNvPicPr>
            <a:picLocks noChangeAspect="1"/>
          </p:cNvPicPr>
          <p:nvPr/>
        </p:nvPicPr>
        <p:blipFill>
          <a:blip r:embed="rId3"/>
          <a:stretch>
            <a:fillRect/>
          </a:stretch>
        </p:blipFill>
        <p:spPr>
          <a:xfrm>
            <a:off x="3313761" y="1503722"/>
            <a:ext cx="2438400" cy="1689100"/>
          </a:xfrm>
          <a:prstGeom prst="rect">
            <a:avLst/>
          </a:prstGeom>
        </p:spPr>
      </p:pic>
      <p:sp>
        <p:nvSpPr>
          <p:cNvPr id="9" name="TextBox 8">
            <a:extLst>
              <a:ext uri="{FF2B5EF4-FFF2-40B4-BE49-F238E27FC236}">
                <a16:creationId xmlns:a16="http://schemas.microsoft.com/office/drawing/2014/main" id="{241545A5-5EDF-990A-BA43-52596AFD9B6C}"/>
              </a:ext>
            </a:extLst>
          </p:cNvPr>
          <p:cNvSpPr txBox="1"/>
          <p:nvPr/>
        </p:nvSpPr>
        <p:spPr>
          <a:xfrm>
            <a:off x="1137855" y="1428095"/>
            <a:ext cx="1988635" cy="553998"/>
          </a:xfrm>
          <a:prstGeom prst="rect">
            <a:avLst/>
          </a:prstGeom>
          <a:noFill/>
        </p:spPr>
        <p:txBody>
          <a:bodyPr wrap="square" rtlCol="0">
            <a:spAutoFit/>
          </a:bodyPr>
          <a:lstStyle/>
          <a:p>
            <a:pPr marL="171450" indent="-171450">
              <a:buFont typeface="Arial" panose="020B0604020202020204" pitchFamily="34" charset="0"/>
              <a:buChar char="•"/>
            </a:pPr>
            <a:r>
              <a:rPr lang="en-US" sz="1000" dirty="0" err="1"/>
              <a:t>max_depth</a:t>
            </a:r>
            <a:r>
              <a:rPr lang="en-US" sz="1000" dirty="0"/>
              <a:t>: [5.10.15,20]</a:t>
            </a:r>
          </a:p>
          <a:p>
            <a:pPr marL="171450" indent="-171450">
              <a:buFont typeface="Arial" panose="020B0604020202020204" pitchFamily="34" charset="0"/>
              <a:buChar char="•"/>
            </a:pPr>
            <a:r>
              <a:rPr lang="en-US" sz="1000" dirty="0" err="1"/>
              <a:t>max_features</a:t>
            </a:r>
            <a:r>
              <a:rPr lang="en-US" sz="1000" dirty="0"/>
              <a:t>: [‘sqrt’, ‘log2’]</a:t>
            </a:r>
          </a:p>
          <a:p>
            <a:pPr marL="171450" indent="-171450">
              <a:buFont typeface="Arial" panose="020B0604020202020204" pitchFamily="34" charset="0"/>
              <a:buChar char="•"/>
            </a:pPr>
            <a:r>
              <a:rPr lang="en-US" sz="1000" dirty="0" err="1"/>
              <a:t>n_estimators</a:t>
            </a:r>
            <a:r>
              <a:rPr lang="en-US" sz="1000" dirty="0"/>
              <a:t>: [100, 200,30]</a:t>
            </a:r>
          </a:p>
        </p:txBody>
      </p:sp>
      <p:sp>
        <p:nvSpPr>
          <p:cNvPr id="14" name="TextBox 13">
            <a:extLst>
              <a:ext uri="{FF2B5EF4-FFF2-40B4-BE49-F238E27FC236}">
                <a16:creationId xmlns:a16="http://schemas.microsoft.com/office/drawing/2014/main" id="{3070925D-30DE-8DF0-4036-79FB58516546}"/>
              </a:ext>
            </a:extLst>
          </p:cNvPr>
          <p:cNvSpPr txBox="1"/>
          <p:nvPr/>
        </p:nvSpPr>
        <p:spPr>
          <a:xfrm>
            <a:off x="1173958" y="2565676"/>
            <a:ext cx="1952532" cy="553998"/>
          </a:xfrm>
          <a:prstGeom prst="rect">
            <a:avLst/>
          </a:prstGeom>
          <a:noFill/>
        </p:spPr>
        <p:txBody>
          <a:bodyPr wrap="square" rtlCol="0">
            <a:spAutoFit/>
          </a:bodyPr>
          <a:lstStyle/>
          <a:p>
            <a:pPr marL="171450" indent="-171450">
              <a:buFont typeface="Arial" panose="020B0604020202020204" pitchFamily="34" charset="0"/>
              <a:buChar char="•"/>
            </a:pPr>
            <a:r>
              <a:rPr lang="en-US" sz="1000" dirty="0" err="1"/>
              <a:t>max_depth</a:t>
            </a:r>
            <a:r>
              <a:rPr lang="en-US" sz="1000" dirty="0"/>
              <a:t>: [5.10.15,20]</a:t>
            </a:r>
          </a:p>
          <a:p>
            <a:pPr marL="171450" indent="-171450">
              <a:buFont typeface="Arial" panose="020B0604020202020204" pitchFamily="34" charset="0"/>
              <a:buChar char="•"/>
            </a:pPr>
            <a:r>
              <a:rPr lang="en-US" sz="1000" dirty="0" err="1"/>
              <a:t>max_features</a:t>
            </a:r>
            <a:r>
              <a:rPr lang="en-US" sz="1000" dirty="0"/>
              <a:t>: [‘sqrt’, ‘log2’]</a:t>
            </a:r>
          </a:p>
          <a:p>
            <a:pPr marL="171450" indent="-171450">
              <a:buFont typeface="Arial" panose="020B0604020202020204" pitchFamily="34" charset="0"/>
              <a:buChar char="•"/>
            </a:pPr>
            <a:r>
              <a:rPr lang="en-US" sz="1000" dirty="0" err="1"/>
              <a:t>n_estimators</a:t>
            </a:r>
            <a:r>
              <a:rPr lang="en-US" sz="1000" dirty="0"/>
              <a:t>: [100, 200,30]</a:t>
            </a:r>
          </a:p>
        </p:txBody>
      </p:sp>
      <p:sp>
        <p:nvSpPr>
          <p:cNvPr id="18" name="TextBox 17">
            <a:extLst>
              <a:ext uri="{FF2B5EF4-FFF2-40B4-BE49-F238E27FC236}">
                <a16:creationId xmlns:a16="http://schemas.microsoft.com/office/drawing/2014/main" id="{3D6A1DD4-AFA8-3128-50E0-37539B65D3D2}"/>
              </a:ext>
            </a:extLst>
          </p:cNvPr>
          <p:cNvSpPr txBox="1"/>
          <p:nvPr/>
        </p:nvSpPr>
        <p:spPr>
          <a:xfrm>
            <a:off x="501690" y="3864046"/>
            <a:ext cx="8324258" cy="1015663"/>
          </a:xfrm>
          <a:prstGeom prst="rect">
            <a:avLst/>
          </a:prstGeom>
          <a:solidFill>
            <a:schemeClr val="bg1">
              <a:lumMod val="85000"/>
            </a:schemeClr>
          </a:solidFill>
        </p:spPr>
        <p:txBody>
          <a:bodyPr wrap="square" rtlCol="0">
            <a:spAutoFit/>
          </a:bodyPr>
          <a:lstStyle>
            <a:defPPr marR="0" lvl="0" algn="l" rtl="0">
              <a:lnSpc>
                <a:spcPct val="100000"/>
              </a:lnSpc>
              <a:spcBef>
                <a:spcPts val="0"/>
              </a:spcBef>
              <a:spcAft>
                <a:spcPts val="0"/>
              </a:spcAft>
            </a:defPPr>
            <a:lvl1pPr>
              <a:defRPr sz="1200"/>
            </a:lvl1pPr>
          </a:lstStyle>
          <a:p>
            <a:r>
              <a:rPr lang="en-US" dirty="0"/>
              <a:t>The tuned Random Forest Regressor model achieved stable performance, with R-Squared values near 0.67–0.68 across both training and test datasets, indicating consistent predictive capability. Hyperparameter tuning improved model balance and helped minimize overfitting, as shown by the close alignment between training and testing metrics. Overall, the tuned model provides a reliable and well-generalized regression solution with moderate prediction error and strong performance stability.</a:t>
            </a:r>
          </a:p>
        </p:txBody>
      </p:sp>
    </p:spTree>
    <p:extLst>
      <p:ext uri="{BB962C8B-B14F-4D97-AF65-F5344CB8AC3E}">
        <p14:creationId xmlns:p14="http://schemas.microsoft.com/office/powerpoint/2010/main" val="3046004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942041B-D0F2-4B7B-331D-7342BBA732CF}"/>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5F266725-BD13-F3FB-3F90-3B20FABBA3AA}"/>
              </a:ext>
            </a:extLst>
          </p:cNvPr>
          <p:cNvSpPr/>
          <p:nvPr/>
        </p:nvSpPr>
        <p:spPr>
          <a:xfrm>
            <a:off x="6910451" y="1165746"/>
            <a:ext cx="1645151" cy="125996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F973A141-5B20-C798-A449-F43A4C140B19}"/>
              </a:ext>
            </a:extLst>
          </p:cNvPr>
          <p:cNvSpPr/>
          <p:nvPr/>
        </p:nvSpPr>
        <p:spPr>
          <a:xfrm>
            <a:off x="6910451" y="2515203"/>
            <a:ext cx="1645151" cy="125996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130;g12508d39905_0_54">
            <a:extLst>
              <a:ext uri="{FF2B5EF4-FFF2-40B4-BE49-F238E27FC236}">
                <a16:creationId xmlns:a16="http://schemas.microsoft.com/office/drawing/2014/main" id="{7CE0D053-F30F-A216-18E3-2AA3633B1D4D}"/>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Model Building: Tuned </a:t>
            </a:r>
            <a:r>
              <a:rPr lang="en" dirty="0" err="1">
                <a:solidFill>
                  <a:srgbClr val="1974D2"/>
                </a:solidFill>
              </a:rPr>
              <a:t>XGBoost</a:t>
            </a:r>
            <a:r>
              <a:rPr lang="en" dirty="0">
                <a:solidFill>
                  <a:srgbClr val="1974D2"/>
                </a:solidFill>
              </a:rPr>
              <a:t> Regressor</a:t>
            </a:r>
            <a:br>
              <a:rPr lang="en-US" dirty="0">
                <a:solidFill>
                  <a:srgbClr val="1974D2"/>
                </a:solidFill>
              </a:rPr>
            </a:br>
            <a:endParaRPr lang="en-US" dirty="0">
              <a:solidFill>
                <a:srgbClr val="1974D2"/>
              </a:solidFill>
            </a:endParaRPr>
          </a:p>
        </p:txBody>
      </p:sp>
      <p:sp>
        <p:nvSpPr>
          <p:cNvPr id="3" name="TextBox 2">
            <a:extLst>
              <a:ext uri="{FF2B5EF4-FFF2-40B4-BE49-F238E27FC236}">
                <a16:creationId xmlns:a16="http://schemas.microsoft.com/office/drawing/2014/main" id="{E3360526-5D70-E4D9-6F52-388B55545335}"/>
              </a:ext>
            </a:extLst>
          </p:cNvPr>
          <p:cNvSpPr txBox="1"/>
          <p:nvPr/>
        </p:nvSpPr>
        <p:spPr>
          <a:xfrm rot="16200000">
            <a:off x="-52193" y="1627912"/>
            <a:ext cx="830766" cy="276999"/>
          </a:xfrm>
          <a:prstGeom prst="rect">
            <a:avLst/>
          </a:prstGeom>
          <a:noFill/>
        </p:spPr>
        <p:txBody>
          <a:bodyPr wrap="square" rtlCol="0">
            <a:spAutoFit/>
          </a:bodyPr>
          <a:lstStyle/>
          <a:p>
            <a:r>
              <a:rPr lang="en-US" sz="1200" dirty="0">
                <a:solidFill>
                  <a:srgbClr val="00B0F0"/>
                </a:solidFill>
              </a:rPr>
              <a:t>Training </a:t>
            </a:r>
          </a:p>
        </p:txBody>
      </p:sp>
      <p:sp>
        <p:nvSpPr>
          <p:cNvPr id="5" name="TextBox 4">
            <a:extLst>
              <a:ext uri="{FF2B5EF4-FFF2-40B4-BE49-F238E27FC236}">
                <a16:creationId xmlns:a16="http://schemas.microsoft.com/office/drawing/2014/main" id="{52ED28FA-7FC5-113E-750B-469D488D57FC}"/>
              </a:ext>
            </a:extLst>
          </p:cNvPr>
          <p:cNvSpPr txBox="1"/>
          <p:nvPr/>
        </p:nvSpPr>
        <p:spPr>
          <a:xfrm rot="16200000">
            <a:off x="69802" y="2863297"/>
            <a:ext cx="586777" cy="276999"/>
          </a:xfrm>
          <a:prstGeom prst="rect">
            <a:avLst/>
          </a:prstGeom>
          <a:noFill/>
        </p:spPr>
        <p:txBody>
          <a:bodyPr wrap="square" rtlCol="0">
            <a:spAutoFit/>
          </a:bodyPr>
          <a:lstStyle/>
          <a:p>
            <a:pPr algn="ctr"/>
            <a:r>
              <a:rPr lang="en-US" sz="1200" dirty="0">
                <a:solidFill>
                  <a:srgbClr val="00B0F0"/>
                </a:solidFill>
              </a:rPr>
              <a:t>Test </a:t>
            </a:r>
          </a:p>
        </p:txBody>
      </p:sp>
      <p:sp>
        <p:nvSpPr>
          <p:cNvPr id="6" name="TextBox 5">
            <a:extLst>
              <a:ext uri="{FF2B5EF4-FFF2-40B4-BE49-F238E27FC236}">
                <a16:creationId xmlns:a16="http://schemas.microsoft.com/office/drawing/2014/main" id="{3308AFF9-6739-8E87-DFC4-7C33DE516A85}"/>
              </a:ext>
            </a:extLst>
          </p:cNvPr>
          <p:cNvSpPr txBox="1"/>
          <p:nvPr/>
        </p:nvSpPr>
        <p:spPr>
          <a:xfrm>
            <a:off x="6997390" y="868027"/>
            <a:ext cx="1632623" cy="276999"/>
          </a:xfrm>
          <a:prstGeom prst="rect">
            <a:avLst/>
          </a:prstGeom>
          <a:noFill/>
        </p:spPr>
        <p:txBody>
          <a:bodyPr wrap="square" rtlCol="0">
            <a:spAutoFit/>
          </a:bodyPr>
          <a:lstStyle/>
          <a:p>
            <a:r>
              <a:rPr lang="en-US" sz="1200" dirty="0">
                <a:solidFill>
                  <a:srgbClr val="00B0F0"/>
                </a:solidFill>
              </a:rPr>
              <a:t>Performance Metrics</a:t>
            </a:r>
          </a:p>
        </p:txBody>
      </p:sp>
      <p:sp>
        <p:nvSpPr>
          <p:cNvPr id="7" name="TextBox 6">
            <a:extLst>
              <a:ext uri="{FF2B5EF4-FFF2-40B4-BE49-F238E27FC236}">
                <a16:creationId xmlns:a16="http://schemas.microsoft.com/office/drawing/2014/main" id="{06AB860A-26FA-8830-21D8-C2A96DA9EC65}"/>
              </a:ext>
            </a:extLst>
          </p:cNvPr>
          <p:cNvSpPr txBox="1"/>
          <p:nvPr/>
        </p:nvSpPr>
        <p:spPr>
          <a:xfrm>
            <a:off x="6910452" y="1204660"/>
            <a:ext cx="1806498" cy="1200329"/>
          </a:xfrm>
          <a:prstGeom prst="rect">
            <a:avLst/>
          </a:prstGeom>
          <a:noFill/>
        </p:spPr>
        <p:txBody>
          <a:bodyPr wrap="square" rtlCol="0">
            <a:spAutoFit/>
          </a:bodyPr>
          <a:lstStyle/>
          <a:p>
            <a:pPr marL="171450" indent="-171450">
              <a:buFont typeface="Arial" panose="020B0604020202020204" pitchFamily="34" charset="0"/>
              <a:buChar char="•"/>
            </a:pPr>
            <a:r>
              <a:rPr lang="en-US" sz="800" dirty="0"/>
              <a:t>RMSE: 597.12</a:t>
            </a:r>
          </a:p>
          <a:p>
            <a:endParaRPr lang="en-US" sz="800" dirty="0"/>
          </a:p>
          <a:p>
            <a:pPr marL="171450" indent="-171450">
              <a:buFont typeface="Arial" panose="020B0604020202020204" pitchFamily="34" charset="0"/>
              <a:buChar char="•"/>
            </a:pPr>
            <a:r>
              <a:rPr lang="en-US" sz="800" dirty="0"/>
              <a:t>MAE: 468.80</a:t>
            </a:r>
          </a:p>
          <a:p>
            <a:endParaRPr lang="en-US" sz="800" dirty="0"/>
          </a:p>
          <a:p>
            <a:pPr marL="171450" indent="-171450">
              <a:buFont typeface="Arial" panose="020B0604020202020204" pitchFamily="34" charset="0"/>
              <a:buChar char="•"/>
            </a:pPr>
            <a:r>
              <a:rPr lang="en-US" sz="800" dirty="0"/>
              <a:t>R-Squared: 0.684</a:t>
            </a:r>
          </a:p>
          <a:p>
            <a:pPr marL="171450" indent="-171450">
              <a:buFont typeface="Arial" panose="020B0604020202020204" pitchFamily="34" charset="0"/>
              <a:buChar char="•"/>
            </a:pPr>
            <a:endParaRPr lang="en-US" sz="800" dirty="0"/>
          </a:p>
          <a:p>
            <a:pPr marL="171450" indent="-171450">
              <a:buFont typeface="Arial" panose="020B0604020202020204" pitchFamily="34" charset="0"/>
              <a:buChar char="•"/>
            </a:pPr>
            <a:r>
              <a:rPr lang="en-US" sz="800" dirty="0"/>
              <a:t>Adj R-Squared: 0.684</a:t>
            </a:r>
          </a:p>
          <a:p>
            <a:endParaRPr lang="en-US" sz="800" dirty="0"/>
          </a:p>
          <a:p>
            <a:pPr marL="171450" indent="-171450">
              <a:buFont typeface="Arial" panose="020B0604020202020204" pitchFamily="34" charset="0"/>
              <a:buChar char="•"/>
            </a:pPr>
            <a:r>
              <a:rPr lang="en-US" sz="800" dirty="0"/>
              <a:t>MAPE: 0.165</a:t>
            </a:r>
          </a:p>
        </p:txBody>
      </p:sp>
      <p:sp>
        <p:nvSpPr>
          <p:cNvPr id="8" name="TextBox 7">
            <a:extLst>
              <a:ext uri="{FF2B5EF4-FFF2-40B4-BE49-F238E27FC236}">
                <a16:creationId xmlns:a16="http://schemas.microsoft.com/office/drawing/2014/main" id="{C6D54A4A-EA2F-A404-DC40-F9B72DEAE910}"/>
              </a:ext>
            </a:extLst>
          </p:cNvPr>
          <p:cNvSpPr txBox="1"/>
          <p:nvPr/>
        </p:nvSpPr>
        <p:spPr>
          <a:xfrm>
            <a:off x="3393961" y="868025"/>
            <a:ext cx="2650687" cy="276999"/>
          </a:xfrm>
          <a:prstGeom prst="rect">
            <a:avLst/>
          </a:prstGeom>
          <a:noFill/>
        </p:spPr>
        <p:txBody>
          <a:bodyPr wrap="square" rtlCol="0">
            <a:spAutoFit/>
          </a:bodyPr>
          <a:lstStyle/>
          <a:p>
            <a:pPr algn="ctr"/>
            <a:r>
              <a:rPr lang="en-US" sz="1200" dirty="0" err="1">
                <a:solidFill>
                  <a:srgbClr val="00B0F0"/>
                </a:solidFill>
              </a:rPr>
              <a:t>XGBoost</a:t>
            </a:r>
            <a:r>
              <a:rPr lang="en-US" sz="1200" dirty="0">
                <a:solidFill>
                  <a:srgbClr val="00B0F0"/>
                </a:solidFill>
              </a:rPr>
              <a:t> Regressor</a:t>
            </a:r>
          </a:p>
        </p:txBody>
      </p:sp>
      <p:sp>
        <p:nvSpPr>
          <p:cNvPr id="10" name="Triangle 9">
            <a:extLst>
              <a:ext uri="{FF2B5EF4-FFF2-40B4-BE49-F238E27FC236}">
                <a16:creationId xmlns:a16="http://schemas.microsoft.com/office/drawing/2014/main" id="{8B97C4C6-0821-EE55-7B5A-72238A2F15CA}"/>
              </a:ext>
            </a:extLst>
          </p:cNvPr>
          <p:cNvSpPr/>
          <p:nvPr/>
        </p:nvSpPr>
        <p:spPr>
          <a:xfrm rot="5400000">
            <a:off x="5640216" y="1645974"/>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57C3C074-35AF-3D4F-A9CA-358DD87CEE04}"/>
              </a:ext>
            </a:extLst>
          </p:cNvPr>
          <p:cNvSpPr/>
          <p:nvPr/>
        </p:nvSpPr>
        <p:spPr>
          <a:xfrm rot="5400000">
            <a:off x="5641944" y="3052164"/>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A5D43CDB-FEDF-FBE1-7D18-241F038E0FC7}"/>
              </a:ext>
            </a:extLst>
          </p:cNvPr>
          <p:cNvSpPr/>
          <p:nvPr/>
        </p:nvSpPr>
        <p:spPr>
          <a:xfrm rot="5400000">
            <a:off x="173893" y="1631513"/>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E0F4959F-A72D-E296-55A4-ADD6F7AA1546}"/>
              </a:ext>
            </a:extLst>
          </p:cNvPr>
          <p:cNvSpPr/>
          <p:nvPr/>
        </p:nvSpPr>
        <p:spPr>
          <a:xfrm rot="5400000">
            <a:off x="175621" y="2989995"/>
            <a:ext cx="1134339" cy="161364"/>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0A42287-3F51-D171-865B-73790BA8AA64}"/>
              </a:ext>
            </a:extLst>
          </p:cNvPr>
          <p:cNvSpPr txBox="1"/>
          <p:nvPr/>
        </p:nvSpPr>
        <p:spPr>
          <a:xfrm>
            <a:off x="743274" y="882487"/>
            <a:ext cx="2650687" cy="276999"/>
          </a:xfrm>
          <a:prstGeom prst="rect">
            <a:avLst/>
          </a:prstGeom>
          <a:noFill/>
        </p:spPr>
        <p:txBody>
          <a:bodyPr wrap="square" rtlCol="0">
            <a:spAutoFit/>
          </a:bodyPr>
          <a:lstStyle/>
          <a:p>
            <a:pPr algn="ctr"/>
            <a:r>
              <a:rPr lang="en-US" sz="1200" dirty="0">
                <a:solidFill>
                  <a:srgbClr val="00B0F0"/>
                </a:solidFill>
              </a:rPr>
              <a:t>Hyperparameter Tuning</a:t>
            </a:r>
          </a:p>
        </p:txBody>
      </p:sp>
      <p:sp>
        <p:nvSpPr>
          <p:cNvPr id="16" name="TextBox 15">
            <a:extLst>
              <a:ext uri="{FF2B5EF4-FFF2-40B4-BE49-F238E27FC236}">
                <a16:creationId xmlns:a16="http://schemas.microsoft.com/office/drawing/2014/main" id="{B1018AEE-D0EB-9F85-B20A-2EF44263778D}"/>
              </a:ext>
            </a:extLst>
          </p:cNvPr>
          <p:cNvSpPr txBox="1"/>
          <p:nvPr/>
        </p:nvSpPr>
        <p:spPr>
          <a:xfrm>
            <a:off x="6910452" y="2592658"/>
            <a:ext cx="1806498" cy="1200329"/>
          </a:xfrm>
          <a:prstGeom prst="rect">
            <a:avLst/>
          </a:prstGeom>
          <a:noFill/>
        </p:spPr>
        <p:txBody>
          <a:bodyPr wrap="square" rtlCol="0">
            <a:spAutoFit/>
          </a:bodyPr>
          <a:lstStyle/>
          <a:p>
            <a:pPr marL="171450" indent="-171450">
              <a:buFont typeface="Arial" panose="020B0604020202020204" pitchFamily="34" charset="0"/>
              <a:buChar char="•"/>
            </a:pPr>
            <a:r>
              <a:rPr lang="en-US" sz="800" dirty="0"/>
              <a:t>RMSE: 615.75</a:t>
            </a:r>
          </a:p>
          <a:p>
            <a:endParaRPr lang="en-US" sz="800" dirty="0"/>
          </a:p>
          <a:p>
            <a:pPr marL="171450" indent="-171450">
              <a:buFont typeface="Arial" panose="020B0604020202020204" pitchFamily="34" charset="0"/>
              <a:buChar char="•"/>
            </a:pPr>
            <a:r>
              <a:rPr lang="en-US" sz="800" dirty="0"/>
              <a:t>MAE: 485.01</a:t>
            </a:r>
          </a:p>
          <a:p>
            <a:endParaRPr lang="en-US" sz="800" dirty="0"/>
          </a:p>
          <a:p>
            <a:pPr marL="171450" indent="-171450">
              <a:buFont typeface="Arial" panose="020B0604020202020204" pitchFamily="34" charset="0"/>
              <a:buChar char="•"/>
            </a:pPr>
            <a:r>
              <a:rPr lang="en-US" sz="800" dirty="0"/>
              <a:t>R-Squared: 0.6686</a:t>
            </a:r>
          </a:p>
          <a:p>
            <a:pPr marL="171450" indent="-171450">
              <a:buFont typeface="Arial" panose="020B0604020202020204" pitchFamily="34" charset="0"/>
              <a:buChar char="•"/>
            </a:pPr>
            <a:endParaRPr lang="en-US" sz="800" dirty="0"/>
          </a:p>
          <a:p>
            <a:pPr marL="171450" indent="-171450">
              <a:buFont typeface="Arial" panose="020B0604020202020204" pitchFamily="34" charset="0"/>
              <a:buChar char="•"/>
            </a:pPr>
            <a:r>
              <a:rPr lang="en-US" sz="800" dirty="0"/>
              <a:t>Adj R-Squared: 0.6674</a:t>
            </a:r>
          </a:p>
          <a:p>
            <a:endParaRPr lang="en-US" sz="800" dirty="0"/>
          </a:p>
          <a:p>
            <a:pPr marL="171450" indent="-171450">
              <a:buFont typeface="Arial" panose="020B0604020202020204" pitchFamily="34" charset="0"/>
              <a:buChar char="•"/>
            </a:pPr>
            <a:r>
              <a:rPr lang="en-US" sz="800" dirty="0"/>
              <a:t>MAPE: 0.1874</a:t>
            </a:r>
          </a:p>
        </p:txBody>
      </p:sp>
      <p:sp>
        <p:nvSpPr>
          <p:cNvPr id="9" name="TextBox 8">
            <a:extLst>
              <a:ext uri="{FF2B5EF4-FFF2-40B4-BE49-F238E27FC236}">
                <a16:creationId xmlns:a16="http://schemas.microsoft.com/office/drawing/2014/main" id="{7A6D26C9-0CAB-4D75-3EA9-B330684E623E}"/>
              </a:ext>
            </a:extLst>
          </p:cNvPr>
          <p:cNvSpPr txBox="1"/>
          <p:nvPr/>
        </p:nvSpPr>
        <p:spPr>
          <a:xfrm>
            <a:off x="1174237" y="1428095"/>
            <a:ext cx="2213021" cy="861774"/>
          </a:xfrm>
          <a:prstGeom prst="rect">
            <a:avLst/>
          </a:prstGeom>
          <a:noFill/>
        </p:spPr>
        <p:txBody>
          <a:bodyPr wrap="square" rtlCol="0">
            <a:spAutoFit/>
          </a:bodyPr>
          <a:lstStyle/>
          <a:p>
            <a:pPr marL="171450" indent="-171450">
              <a:buFont typeface="Arial" panose="020B0604020202020204" pitchFamily="34" charset="0"/>
              <a:buChar char="•"/>
            </a:pPr>
            <a:r>
              <a:rPr lang="en-US" sz="1000" dirty="0" err="1"/>
              <a:t>n_estimators</a:t>
            </a:r>
            <a:r>
              <a:rPr lang="en-US" sz="1000" dirty="0"/>
              <a:t>: [50, 100, 200]</a:t>
            </a:r>
          </a:p>
          <a:p>
            <a:pPr marL="171450" indent="-171450">
              <a:buFont typeface="Arial" panose="020B0604020202020204" pitchFamily="34" charset="0"/>
              <a:buChar char="•"/>
            </a:pPr>
            <a:r>
              <a:rPr lang="en-US" sz="1000" dirty="0"/>
              <a:t>subsample: [0.6, 0.8, 1.0]</a:t>
            </a:r>
          </a:p>
          <a:p>
            <a:pPr marL="171450" indent="-171450">
              <a:buFont typeface="Arial" panose="020B0604020202020204" pitchFamily="34" charset="0"/>
              <a:buChar char="•"/>
            </a:pPr>
            <a:r>
              <a:rPr lang="en-US" sz="1000" dirty="0"/>
              <a:t>gamma: [0, 0.1, 0.3, 0.5]</a:t>
            </a:r>
          </a:p>
          <a:p>
            <a:pPr marL="171450" indent="-171450">
              <a:buFont typeface="Arial" panose="020B0604020202020204" pitchFamily="34" charset="0"/>
              <a:buChar char="•"/>
            </a:pPr>
            <a:r>
              <a:rPr lang="en-US" sz="1000" dirty="0" err="1"/>
              <a:t>colsample_bytree</a:t>
            </a:r>
            <a:r>
              <a:rPr lang="en-US" sz="1000" dirty="0"/>
              <a:t> [0.6, 0.8, 1.0]</a:t>
            </a:r>
          </a:p>
          <a:p>
            <a:pPr marL="171450" indent="-171450">
              <a:buFont typeface="Arial" panose="020B0604020202020204" pitchFamily="34" charset="0"/>
              <a:buChar char="•"/>
            </a:pPr>
            <a:r>
              <a:rPr lang="en-US" sz="1000" dirty="0" err="1"/>
              <a:t>colsample</a:t>
            </a:r>
            <a:r>
              <a:rPr lang="en-US" sz="1000" dirty="0"/>
              <a:t> by level [0.6. 0.8. 1.0]</a:t>
            </a:r>
          </a:p>
        </p:txBody>
      </p:sp>
      <p:sp>
        <p:nvSpPr>
          <p:cNvPr id="14" name="TextBox 13">
            <a:extLst>
              <a:ext uri="{FF2B5EF4-FFF2-40B4-BE49-F238E27FC236}">
                <a16:creationId xmlns:a16="http://schemas.microsoft.com/office/drawing/2014/main" id="{93257D63-A094-5678-A37C-62A32867400C}"/>
              </a:ext>
            </a:extLst>
          </p:cNvPr>
          <p:cNvSpPr txBox="1"/>
          <p:nvPr/>
        </p:nvSpPr>
        <p:spPr>
          <a:xfrm>
            <a:off x="1174236" y="2503507"/>
            <a:ext cx="2213021" cy="861774"/>
          </a:xfrm>
          <a:prstGeom prst="rect">
            <a:avLst/>
          </a:prstGeom>
          <a:noFill/>
        </p:spPr>
        <p:txBody>
          <a:bodyPr wrap="square" rtlCol="0">
            <a:spAutoFit/>
          </a:bodyPr>
          <a:lstStyle/>
          <a:p>
            <a:pPr marL="171450" indent="-171450">
              <a:buFont typeface="Arial" panose="020B0604020202020204" pitchFamily="34" charset="0"/>
              <a:buChar char="•"/>
            </a:pPr>
            <a:r>
              <a:rPr lang="en-US" sz="1000" dirty="0" err="1"/>
              <a:t>n_estimators</a:t>
            </a:r>
            <a:r>
              <a:rPr lang="en-US" sz="1000" dirty="0"/>
              <a:t>: [50, 100, 200]</a:t>
            </a:r>
          </a:p>
          <a:p>
            <a:pPr marL="171450" indent="-171450">
              <a:buFont typeface="Arial" panose="020B0604020202020204" pitchFamily="34" charset="0"/>
              <a:buChar char="•"/>
            </a:pPr>
            <a:r>
              <a:rPr lang="en-US" sz="1000" dirty="0"/>
              <a:t>subsample: [0.6, 0.8, 1.0]</a:t>
            </a:r>
          </a:p>
          <a:p>
            <a:pPr marL="171450" indent="-171450">
              <a:buFont typeface="Arial" panose="020B0604020202020204" pitchFamily="34" charset="0"/>
              <a:buChar char="•"/>
            </a:pPr>
            <a:r>
              <a:rPr lang="en-US" sz="1000" dirty="0"/>
              <a:t>gamma: [0, 0.1, 0.3, 0.5]</a:t>
            </a:r>
          </a:p>
          <a:p>
            <a:pPr marL="171450" indent="-171450">
              <a:buFont typeface="Arial" panose="020B0604020202020204" pitchFamily="34" charset="0"/>
              <a:buChar char="•"/>
            </a:pPr>
            <a:r>
              <a:rPr lang="en-US" sz="1000" dirty="0" err="1"/>
              <a:t>colsample_bytree</a:t>
            </a:r>
            <a:r>
              <a:rPr lang="en-US" sz="1000" dirty="0"/>
              <a:t> [0.6, 0.8, 1.0]</a:t>
            </a:r>
          </a:p>
          <a:p>
            <a:pPr marL="171450" indent="-171450">
              <a:buFont typeface="Arial" panose="020B0604020202020204" pitchFamily="34" charset="0"/>
              <a:buChar char="•"/>
            </a:pPr>
            <a:r>
              <a:rPr lang="en-US" sz="1000" dirty="0" err="1"/>
              <a:t>colsample</a:t>
            </a:r>
            <a:r>
              <a:rPr lang="en-US" sz="1000" dirty="0"/>
              <a:t> by level [0.6. 0.8. 1.0]</a:t>
            </a:r>
          </a:p>
        </p:txBody>
      </p:sp>
      <p:pic>
        <p:nvPicPr>
          <p:cNvPr id="24" name="Picture 23">
            <a:extLst>
              <a:ext uri="{FF2B5EF4-FFF2-40B4-BE49-F238E27FC236}">
                <a16:creationId xmlns:a16="http://schemas.microsoft.com/office/drawing/2014/main" id="{471C9429-A7BD-1D88-1543-6CB75A19394E}"/>
              </a:ext>
            </a:extLst>
          </p:cNvPr>
          <p:cNvPicPr>
            <a:picLocks noChangeAspect="1"/>
          </p:cNvPicPr>
          <p:nvPr/>
        </p:nvPicPr>
        <p:blipFill>
          <a:blip r:embed="rId3"/>
          <a:stretch>
            <a:fillRect/>
          </a:stretch>
        </p:blipFill>
        <p:spPr>
          <a:xfrm>
            <a:off x="3458816" y="1579672"/>
            <a:ext cx="2438400" cy="1651000"/>
          </a:xfrm>
          <a:prstGeom prst="rect">
            <a:avLst/>
          </a:prstGeom>
        </p:spPr>
      </p:pic>
      <p:sp>
        <p:nvSpPr>
          <p:cNvPr id="25" name="TextBox 24">
            <a:extLst>
              <a:ext uri="{FF2B5EF4-FFF2-40B4-BE49-F238E27FC236}">
                <a16:creationId xmlns:a16="http://schemas.microsoft.com/office/drawing/2014/main" id="{72117D13-56D0-19D5-64BD-3F2ACA4725E0}"/>
              </a:ext>
            </a:extLst>
          </p:cNvPr>
          <p:cNvSpPr txBox="1"/>
          <p:nvPr/>
        </p:nvSpPr>
        <p:spPr>
          <a:xfrm>
            <a:off x="501690" y="3887685"/>
            <a:ext cx="8324258" cy="830997"/>
          </a:xfrm>
          <a:prstGeom prst="rect">
            <a:avLst/>
          </a:prstGeom>
          <a:solidFill>
            <a:schemeClr val="bg1">
              <a:lumMod val="85000"/>
            </a:schemeClr>
          </a:solidFill>
        </p:spPr>
        <p:txBody>
          <a:bodyPr wrap="square" rtlCol="0">
            <a:spAutoFit/>
          </a:bodyPr>
          <a:lstStyle>
            <a:defPPr marR="0" lvl="0" algn="l" rtl="0">
              <a:lnSpc>
                <a:spcPct val="100000"/>
              </a:lnSpc>
              <a:spcBef>
                <a:spcPts val="0"/>
              </a:spcBef>
              <a:spcAft>
                <a:spcPts val="0"/>
              </a:spcAft>
            </a:defPPr>
            <a:lvl1pPr>
              <a:defRPr sz="1200"/>
            </a:lvl1pPr>
          </a:lstStyle>
          <a:p>
            <a:r>
              <a:rPr lang="en-US" dirty="0"/>
              <a:t>The tuned </a:t>
            </a:r>
            <a:r>
              <a:rPr lang="en-US" dirty="0" err="1"/>
              <a:t>XGBoost</a:t>
            </a:r>
            <a:r>
              <a:rPr lang="en-US" dirty="0"/>
              <a:t> Regressor achieved stable performance, with R-Squared values near 0.67–0.68 across training and test datasets. Hyperparameter tuning improved model stability while minimizing overfitting through optimized sampling and estimator settings. Overall, the model provides a reliable regression solution with balanced predictive accuracy on unseen </a:t>
            </a:r>
            <a:r>
              <a:rPr lang="en-US" dirty="0" err="1"/>
              <a:t>data.ç</a:t>
            </a:r>
            <a:endParaRPr lang="en-US" dirty="0"/>
          </a:p>
        </p:txBody>
      </p:sp>
    </p:spTree>
    <p:extLst>
      <p:ext uri="{BB962C8B-B14F-4D97-AF65-F5344CB8AC3E}">
        <p14:creationId xmlns:p14="http://schemas.microsoft.com/office/powerpoint/2010/main" val="611923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B99F495-D9C4-36AE-1808-8DC548CB939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584525A-A39E-D3D5-1441-F54784B183A0}"/>
              </a:ext>
            </a:extLst>
          </p:cNvPr>
          <p:cNvSpPr/>
          <p:nvPr/>
        </p:nvSpPr>
        <p:spPr>
          <a:xfrm>
            <a:off x="6274347" y="1831633"/>
            <a:ext cx="2241500" cy="1580743"/>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130;g12508d39905_0_54">
            <a:extLst>
              <a:ext uri="{FF2B5EF4-FFF2-40B4-BE49-F238E27FC236}">
                <a16:creationId xmlns:a16="http://schemas.microsoft.com/office/drawing/2014/main" id="{A0EE6C16-2F67-1B8E-514A-7671A4A48426}"/>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 dirty="0">
                <a:solidFill>
                  <a:srgbClr val="1974D2"/>
                </a:solidFill>
              </a:rPr>
              <a:t>Model </a:t>
            </a:r>
            <a:r>
              <a:rPr lang="en-US" dirty="0">
                <a:solidFill>
                  <a:srgbClr val="1974D2"/>
                </a:solidFill>
              </a:rPr>
              <a:t>Performance Summary</a:t>
            </a:r>
          </a:p>
        </p:txBody>
      </p:sp>
      <p:pic>
        <p:nvPicPr>
          <p:cNvPr id="2" name="Picture 1">
            <a:extLst>
              <a:ext uri="{FF2B5EF4-FFF2-40B4-BE49-F238E27FC236}">
                <a16:creationId xmlns:a16="http://schemas.microsoft.com/office/drawing/2014/main" id="{5D010EB0-D7A4-86ED-AB5D-43E6D785F29C}"/>
              </a:ext>
            </a:extLst>
          </p:cNvPr>
          <p:cNvPicPr>
            <a:picLocks noChangeAspect="1"/>
          </p:cNvPicPr>
          <p:nvPr/>
        </p:nvPicPr>
        <p:blipFill>
          <a:blip r:embed="rId3"/>
          <a:stretch>
            <a:fillRect/>
          </a:stretch>
        </p:blipFill>
        <p:spPr>
          <a:xfrm>
            <a:off x="418065" y="643453"/>
            <a:ext cx="5418192" cy="1828183"/>
          </a:xfrm>
          <a:prstGeom prst="rect">
            <a:avLst/>
          </a:prstGeom>
        </p:spPr>
      </p:pic>
      <p:pic>
        <p:nvPicPr>
          <p:cNvPr id="3" name="Picture 2">
            <a:extLst>
              <a:ext uri="{FF2B5EF4-FFF2-40B4-BE49-F238E27FC236}">
                <a16:creationId xmlns:a16="http://schemas.microsoft.com/office/drawing/2014/main" id="{CADBA223-192B-F266-2143-B5A67ED18DD2}"/>
              </a:ext>
            </a:extLst>
          </p:cNvPr>
          <p:cNvPicPr>
            <a:picLocks noChangeAspect="1"/>
          </p:cNvPicPr>
          <p:nvPr/>
        </p:nvPicPr>
        <p:blipFill>
          <a:blip r:embed="rId4"/>
          <a:stretch>
            <a:fillRect/>
          </a:stretch>
        </p:blipFill>
        <p:spPr>
          <a:xfrm>
            <a:off x="418065" y="2471636"/>
            <a:ext cx="5418192" cy="1718932"/>
          </a:xfrm>
          <a:prstGeom prst="rect">
            <a:avLst/>
          </a:prstGeom>
        </p:spPr>
      </p:pic>
      <p:sp>
        <p:nvSpPr>
          <p:cNvPr id="9" name="Rectangle 8">
            <a:extLst>
              <a:ext uri="{FF2B5EF4-FFF2-40B4-BE49-F238E27FC236}">
                <a16:creationId xmlns:a16="http://schemas.microsoft.com/office/drawing/2014/main" id="{C3DB7062-8668-7F76-5DFE-4BFEAC00BCFD}"/>
              </a:ext>
            </a:extLst>
          </p:cNvPr>
          <p:cNvSpPr/>
          <p:nvPr/>
        </p:nvSpPr>
        <p:spPr>
          <a:xfrm>
            <a:off x="4482354" y="912866"/>
            <a:ext cx="1174376" cy="3277702"/>
          </a:xfrm>
          <a:prstGeom prst="rect">
            <a:avLst/>
          </a:prstGeom>
          <a:solidFill>
            <a:srgbClr val="FF0000">
              <a:alpha val="0"/>
            </a:srgb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63A80C-D647-C147-6E19-A55D6F3CAC51}"/>
              </a:ext>
            </a:extLst>
          </p:cNvPr>
          <p:cNvSpPr/>
          <p:nvPr/>
        </p:nvSpPr>
        <p:spPr>
          <a:xfrm>
            <a:off x="4482354" y="912866"/>
            <a:ext cx="1174376" cy="216682"/>
          </a:xfrm>
          <a:prstGeom prst="rect">
            <a:avLst/>
          </a:prstGeom>
          <a:solidFill>
            <a:srgbClr val="FFFF00">
              <a:alpha val="41512"/>
            </a:srgb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427380-CFF7-5697-EDF2-7817012F73F9}"/>
              </a:ext>
            </a:extLst>
          </p:cNvPr>
          <p:cNvSpPr/>
          <p:nvPr/>
        </p:nvSpPr>
        <p:spPr>
          <a:xfrm>
            <a:off x="4482354" y="2849390"/>
            <a:ext cx="1174376" cy="216682"/>
          </a:xfrm>
          <a:prstGeom prst="rect">
            <a:avLst/>
          </a:prstGeom>
          <a:solidFill>
            <a:schemeClr val="bg1">
              <a:alpha val="0"/>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784F71-9663-4AAE-FB27-8A6BA7D3943C}"/>
              </a:ext>
            </a:extLst>
          </p:cNvPr>
          <p:cNvSpPr/>
          <p:nvPr/>
        </p:nvSpPr>
        <p:spPr>
          <a:xfrm>
            <a:off x="4482354" y="3597042"/>
            <a:ext cx="1174376" cy="216682"/>
          </a:xfrm>
          <a:prstGeom prst="rect">
            <a:avLst/>
          </a:prstGeom>
          <a:solidFill>
            <a:schemeClr val="bg1">
              <a:alpha val="0"/>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35C3047-A255-8ABB-B4C3-10C36F944336}"/>
              </a:ext>
            </a:extLst>
          </p:cNvPr>
          <p:cNvSpPr txBox="1"/>
          <p:nvPr/>
        </p:nvSpPr>
        <p:spPr>
          <a:xfrm>
            <a:off x="6592969" y="1529397"/>
            <a:ext cx="1832690" cy="307777"/>
          </a:xfrm>
          <a:prstGeom prst="rect">
            <a:avLst/>
          </a:prstGeom>
          <a:noFill/>
        </p:spPr>
        <p:txBody>
          <a:bodyPr wrap="square" rtlCol="0">
            <a:spAutoFit/>
          </a:bodyPr>
          <a:lstStyle/>
          <a:p>
            <a:pPr algn="ctr"/>
            <a:r>
              <a:rPr lang="en-US" dirty="0">
                <a:solidFill>
                  <a:srgbClr val="00B0F0"/>
                </a:solidFill>
              </a:rPr>
              <a:t>Model Objective</a:t>
            </a:r>
          </a:p>
        </p:txBody>
      </p:sp>
      <p:sp>
        <p:nvSpPr>
          <p:cNvPr id="15" name="TextBox 14">
            <a:extLst>
              <a:ext uri="{FF2B5EF4-FFF2-40B4-BE49-F238E27FC236}">
                <a16:creationId xmlns:a16="http://schemas.microsoft.com/office/drawing/2014/main" id="{B18FE222-2099-A4C0-848F-7490419D36A0}"/>
              </a:ext>
            </a:extLst>
          </p:cNvPr>
          <p:cNvSpPr txBox="1"/>
          <p:nvPr/>
        </p:nvSpPr>
        <p:spPr>
          <a:xfrm>
            <a:off x="6349265" y="1842716"/>
            <a:ext cx="2076394" cy="1569660"/>
          </a:xfrm>
          <a:prstGeom prst="rect">
            <a:avLst/>
          </a:prstGeom>
          <a:noFill/>
        </p:spPr>
        <p:txBody>
          <a:bodyPr wrap="square" rtlCol="0">
            <a:spAutoFit/>
          </a:bodyPr>
          <a:lstStyle/>
          <a:p>
            <a:r>
              <a:rPr lang="en-US" sz="1200" dirty="0"/>
              <a:t>Business objective is to reduced prediction errors</a:t>
            </a:r>
          </a:p>
          <a:p>
            <a:pPr algn="ctr"/>
            <a:endParaRPr lang="en-US" sz="1200" dirty="0"/>
          </a:p>
          <a:p>
            <a:pPr marL="171450" indent="-171450">
              <a:buFont typeface="Arial" panose="020B0604020202020204" pitchFamily="34" charset="0"/>
              <a:buChar char="•"/>
            </a:pPr>
            <a:r>
              <a:rPr lang="en-US" sz="1200" dirty="0"/>
              <a:t>MAPE predicts sales with~81% accuracy</a:t>
            </a:r>
          </a:p>
          <a:p>
            <a:endParaRPr lang="en-US" sz="1200" dirty="0"/>
          </a:p>
          <a:p>
            <a:pPr marL="171450" indent="-171450">
              <a:buFont typeface="Arial" panose="020B0604020202020204" pitchFamily="34" charset="0"/>
              <a:buChar char="•"/>
            </a:pPr>
            <a:r>
              <a:rPr lang="en-US" sz="1200" dirty="0"/>
              <a:t>RMSE shows the lowest prediction error (615.7)</a:t>
            </a:r>
          </a:p>
        </p:txBody>
      </p:sp>
      <p:sp>
        <p:nvSpPr>
          <p:cNvPr id="20" name="TextBox 19">
            <a:extLst>
              <a:ext uri="{FF2B5EF4-FFF2-40B4-BE49-F238E27FC236}">
                <a16:creationId xmlns:a16="http://schemas.microsoft.com/office/drawing/2014/main" id="{BB5DEB57-0773-8092-297C-F17530D5916D}"/>
              </a:ext>
            </a:extLst>
          </p:cNvPr>
          <p:cNvSpPr txBox="1"/>
          <p:nvPr/>
        </p:nvSpPr>
        <p:spPr>
          <a:xfrm>
            <a:off x="418065" y="4336903"/>
            <a:ext cx="8324258" cy="461665"/>
          </a:xfrm>
          <a:prstGeom prst="rect">
            <a:avLst/>
          </a:prstGeom>
          <a:solidFill>
            <a:srgbClr val="FFFF00"/>
          </a:solidFill>
        </p:spPr>
        <p:txBody>
          <a:bodyPr wrap="square" rtlCol="0">
            <a:spAutoFit/>
          </a:bodyPr>
          <a:lstStyle>
            <a:defPPr marR="0" lvl="0" algn="l" rtl="0">
              <a:lnSpc>
                <a:spcPct val="100000"/>
              </a:lnSpc>
              <a:spcBef>
                <a:spcPts val="0"/>
              </a:spcBef>
              <a:spcAft>
                <a:spcPts val="0"/>
              </a:spcAft>
            </a:defPPr>
            <a:lvl1pPr>
              <a:defRPr sz="1200"/>
            </a:lvl1pPr>
          </a:lstStyle>
          <a:p>
            <a:r>
              <a:rPr lang="en-US" dirty="0" err="1">
                <a:solidFill>
                  <a:schemeClr val="tx1"/>
                </a:solidFill>
              </a:rPr>
              <a:t>XGBoost</a:t>
            </a:r>
            <a:r>
              <a:rPr lang="en-US" dirty="0">
                <a:solidFill>
                  <a:schemeClr val="tx1"/>
                </a:solidFill>
              </a:rPr>
              <a:t> Tuned was selected because it achieved the lowest prediction error (RMSE, MAE, and MAPE) and the highest explanatory power (R²) on the test dataset, making it the most accurate and reliable model for forecasting future sales.</a:t>
            </a:r>
          </a:p>
        </p:txBody>
      </p:sp>
    </p:spTree>
    <p:extLst>
      <p:ext uri="{BB962C8B-B14F-4D97-AF65-F5344CB8AC3E}">
        <p14:creationId xmlns:p14="http://schemas.microsoft.com/office/powerpoint/2010/main" val="27120996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712F0C9-6850-C0DE-7C00-9D0762775976}"/>
            </a:ext>
          </a:extLst>
        </p:cNvPr>
        <p:cNvGrpSpPr/>
        <p:nvPr/>
      </p:nvGrpSpPr>
      <p:grpSpPr>
        <a:xfrm>
          <a:off x="0" y="0"/>
          <a:ext cx="0" cy="0"/>
          <a:chOff x="0" y="0"/>
          <a:chExt cx="0" cy="0"/>
        </a:xfrm>
      </p:grpSpPr>
      <p:sp>
        <p:nvSpPr>
          <p:cNvPr id="4" name="Google Shape;130;g12508d39905_0_54">
            <a:extLst>
              <a:ext uri="{FF2B5EF4-FFF2-40B4-BE49-F238E27FC236}">
                <a16:creationId xmlns:a16="http://schemas.microsoft.com/office/drawing/2014/main" id="{168187A2-68DD-C34D-982B-7D9A4519064D}"/>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US" dirty="0">
                <a:solidFill>
                  <a:srgbClr val="1974D2"/>
                </a:solidFill>
              </a:rPr>
              <a:t>Deployment - Backend</a:t>
            </a:r>
          </a:p>
        </p:txBody>
      </p:sp>
      <p:sp>
        <p:nvSpPr>
          <p:cNvPr id="5" name="Rectangle 6">
            <a:extLst>
              <a:ext uri="{FF2B5EF4-FFF2-40B4-BE49-F238E27FC236}">
                <a16:creationId xmlns:a16="http://schemas.microsoft.com/office/drawing/2014/main" id="{CA44C92F-9881-AEC3-C1B2-4A6FF944627D}"/>
              </a:ext>
            </a:extLst>
          </p:cNvPr>
          <p:cNvSpPr>
            <a:spLocks noChangeArrowheads="1"/>
          </p:cNvSpPr>
          <p:nvPr/>
        </p:nvSpPr>
        <p:spPr bwMode="gray">
          <a:xfrm>
            <a:off x="276021" y="617218"/>
            <a:ext cx="2089150" cy="4400054"/>
          </a:xfrm>
          <a:prstGeom prst="rect">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342900" indent="-342900">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1588" indent="112713">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lvl="1"/>
            <a:endParaRPr lang="en-US" altLang="en-US" dirty="0">
              <a:solidFill>
                <a:schemeClr val="lt1"/>
              </a:solidFill>
              <a:latin typeface="+mn-lt"/>
              <a:ea typeface="+mn-ea"/>
              <a:cs typeface="+mn-cs"/>
            </a:endParaRPr>
          </a:p>
        </p:txBody>
      </p:sp>
      <p:sp>
        <p:nvSpPr>
          <p:cNvPr id="6" name="Line 7">
            <a:extLst>
              <a:ext uri="{FF2B5EF4-FFF2-40B4-BE49-F238E27FC236}">
                <a16:creationId xmlns:a16="http://schemas.microsoft.com/office/drawing/2014/main" id="{F9F58AEE-62B1-8708-DC8A-6A81819EE4C8}"/>
              </a:ext>
            </a:extLst>
          </p:cNvPr>
          <p:cNvSpPr>
            <a:spLocks noChangeShapeType="1"/>
          </p:cNvSpPr>
          <p:nvPr/>
        </p:nvSpPr>
        <p:spPr bwMode="gray">
          <a:xfrm>
            <a:off x="3566908" y="883917"/>
            <a:ext cx="49720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7" name="Text Box 8">
            <a:extLst>
              <a:ext uri="{FF2B5EF4-FFF2-40B4-BE49-F238E27FC236}">
                <a16:creationId xmlns:a16="http://schemas.microsoft.com/office/drawing/2014/main" id="{FE068E63-2081-D9AC-CB98-C8D31953BE37}"/>
              </a:ext>
            </a:extLst>
          </p:cNvPr>
          <p:cNvSpPr txBox="1">
            <a:spLocks noChangeArrowheads="1"/>
          </p:cNvSpPr>
          <p:nvPr/>
        </p:nvSpPr>
        <p:spPr bwMode="gray">
          <a:xfrm>
            <a:off x="3471658" y="609280"/>
            <a:ext cx="1138751" cy="30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eaLnBrk="1" hangingPunct="1">
              <a:spcAft>
                <a:spcPts val="0"/>
              </a:spcAft>
              <a:buClr>
                <a:srgbClr val="434343"/>
              </a:buClr>
              <a:buSzPts val="2200"/>
              <a:buNone/>
            </a:pPr>
            <a:r>
              <a:rPr lang="en-US" altLang="en-US" sz="1400" b="1" dirty="0">
                <a:solidFill>
                  <a:srgbClr val="1974D2"/>
                </a:solidFill>
                <a:latin typeface="Nunito"/>
                <a:sym typeface="Nunito"/>
              </a:rPr>
              <a:t>Description</a:t>
            </a:r>
          </a:p>
        </p:txBody>
      </p:sp>
      <p:sp>
        <p:nvSpPr>
          <p:cNvPr id="8" name="AutoShape 9">
            <a:extLst>
              <a:ext uri="{FF2B5EF4-FFF2-40B4-BE49-F238E27FC236}">
                <a16:creationId xmlns:a16="http://schemas.microsoft.com/office/drawing/2014/main" id="{9EBDA949-575C-192E-5E92-3EAD9381F595}"/>
              </a:ext>
            </a:extLst>
          </p:cNvPr>
          <p:cNvSpPr>
            <a:spLocks noChangeArrowheads="1"/>
          </p:cNvSpPr>
          <p:nvPr/>
        </p:nvSpPr>
        <p:spPr bwMode="gray">
          <a:xfrm>
            <a:off x="636383" y="1036317"/>
            <a:ext cx="2520950" cy="719138"/>
          </a:xfrm>
          <a:prstGeom prst="homePlate">
            <a:avLst>
              <a:gd name="adj" fmla="val 31420"/>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Font typeface="Wingdings" pitchFamily="2" charset="2"/>
              <a:buNone/>
            </a:pPr>
            <a:r>
              <a:rPr lang="en-US" altLang="en-US" sz="1200" b="1" dirty="0"/>
              <a:t>Serialization</a:t>
            </a:r>
          </a:p>
        </p:txBody>
      </p:sp>
      <p:sp>
        <p:nvSpPr>
          <p:cNvPr id="9" name="AutoShape 10">
            <a:extLst>
              <a:ext uri="{FF2B5EF4-FFF2-40B4-BE49-F238E27FC236}">
                <a16:creationId xmlns:a16="http://schemas.microsoft.com/office/drawing/2014/main" id="{F18191E6-3BDF-1CCC-9E49-C78770CFEB16}"/>
              </a:ext>
            </a:extLst>
          </p:cNvPr>
          <p:cNvSpPr>
            <a:spLocks noChangeArrowheads="1"/>
          </p:cNvSpPr>
          <p:nvPr/>
        </p:nvSpPr>
        <p:spPr bwMode="gray">
          <a:xfrm>
            <a:off x="636383" y="2034855"/>
            <a:ext cx="2520950" cy="720725"/>
          </a:xfrm>
          <a:prstGeom prst="homePlate">
            <a:avLst>
              <a:gd name="adj" fmla="val 31351"/>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None/>
            </a:pPr>
            <a:r>
              <a:rPr lang="en-US" altLang="en-US" sz="1200" b="1" dirty="0"/>
              <a:t>Flask Web Framework</a:t>
            </a:r>
          </a:p>
        </p:txBody>
      </p:sp>
      <p:sp>
        <p:nvSpPr>
          <p:cNvPr id="11" name="AutoShape 12">
            <a:extLst>
              <a:ext uri="{FF2B5EF4-FFF2-40B4-BE49-F238E27FC236}">
                <a16:creationId xmlns:a16="http://schemas.microsoft.com/office/drawing/2014/main" id="{485D2046-ED61-B629-8F7B-D80E1480AE49}"/>
              </a:ext>
            </a:extLst>
          </p:cNvPr>
          <p:cNvSpPr>
            <a:spLocks noChangeArrowheads="1"/>
          </p:cNvSpPr>
          <p:nvPr/>
        </p:nvSpPr>
        <p:spPr bwMode="gray">
          <a:xfrm>
            <a:off x="636383" y="3042917"/>
            <a:ext cx="2520950" cy="720725"/>
          </a:xfrm>
          <a:prstGeom prst="homePlate">
            <a:avLst>
              <a:gd name="adj" fmla="val 31351"/>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Font typeface="Wingdings" pitchFamily="2" charset="2"/>
              <a:buNone/>
            </a:pPr>
            <a:r>
              <a:rPr lang="en-US" altLang="en-US" sz="1200" b="1" dirty="0"/>
              <a:t>Setting up a Docker Space</a:t>
            </a:r>
          </a:p>
          <a:p>
            <a:pPr>
              <a:spcAft>
                <a:spcPct val="10000"/>
              </a:spcAft>
              <a:buFont typeface="Wingdings" pitchFamily="2" charset="2"/>
              <a:buNone/>
            </a:pPr>
            <a:r>
              <a:rPr lang="en-US" altLang="en-US" sz="1200" b="1" dirty="0"/>
              <a:t>(Hugging Face)</a:t>
            </a:r>
          </a:p>
        </p:txBody>
      </p:sp>
      <p:sp>
        <p:nvSpPr>
          <p:cNvPr id="13" name="AutoShape 14">
            <a:extLst>
              <a:ext uri="{FF2B5EF4-FFF2-40B4-BE49-F238E27FC236}">
                <a16:creationId xmlns:a16="http://schemas.microsoft.com/office/drawing/2014/main" id="{44C51BDE-5B5B-9ACA-8888-1D2F20A6A9F1}"/>
              </a:ext>
            </a:extLst>
          </p:cNvPr>
          <p:cNvSpPr>
            <a:spLocks noChangeArrowheads="1"/>
          </p:cNvSpPr>
          <p:nvPr/>
        </p:nvSpPr>
        <p:spPr bwMode="gray">
          <a:xfrm>
            <a:off x="636383" y="4060505"/>
            <a:ext cx="2520950" cy="720725"/>
          </a:xfrm>
          <a:prstGeom prst="homePlate">
            <a:avLst>
              <a:gd name="adj" fmla="val 31351"/>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Font typeface="Wingdings" pitchFamily="2" charset="2"/>
              <a:buNone/>
            </a:pPr>
            <a:r>
              <a:rPr lang="en-US" altLang="en-US" sz="1200" b="1" dirty="0"/>
              <a:t>Uploading to Docker Space</a:t>
            </a:r>
          </a:p>
          <a:p>
            <a:pPr>
              <a:spcAft>
                <a:spcPct val="10000"/>
              </a:spcAft>
              <a:buFont typeface="Wingdings" pitchFamily="2" charset="2"/>
              <a:buNone/>
            </a:pPr>
            <a:r>
              <a:rPr lang="en-US" altLang="en-US" sz="1200" b="1" dirty="0"/>
              <a:t>(Hugging Face)</a:t>
            </a:r>
          </a:p>
        </p:txBody>
      </p:sp>
      <p:sp>
        <p:nvSpPr>
          <p:cNvPr id="14" name="TextBox 13">
            <a:extLst>
              <a:ext uri="{FF2B5EF4-FFF2-40B4-BE49-F238E27FC236}">
                <a16:creationId xmlns:a16="http://schemas.microsoft.com/office/drawing/2014/main" id="{D6AFBEBF-BB6E-7A10-555D-498CAC86DC46}"/>
              </a:ext>
            </a:extLst>
          </p:cNvPr>
          <p:cNvSpPr txBox="1"/>
          <p:nvPr/>
        </p:nvSpPr>
        <p:spPr>
          <a:xfrm>
            <a:off x="3400970" y="1045152"/>
            <a:ext cx="5467009" cy="646331"/>
          </a:xfrm>
          <a:prstGeom prst="rect">
            <a:avLst/>
          </a:prstGeom>
          <a:noFill/>
        </p:spPr>
        <p:txBody>
          <a:bodyPr wrap="square" rtlCol="0">
            <a:spAutoFit/>
          </a:bodyPr>
          <a:lstStyle/>
          <a:p>
            <a:pPr marL="285750" indent="-285750">
              <a:buFont typeface="Wingdings" pitchFamily="2" charset="2"/>
              <a:buChar char="ü"/>
            </a:pPr>
            <a:r>
              <a:rPr lang="en-US" sz="1200" dirty="0"/>
              <a:t>web app deployment folder-&gt; </a:t>
            </a:r>
            <a:r>
              <a:rPr lang="en-US" sz="1100" dirty="0" err="1">
                <a:solidFill>
                  <a:srgbClr val="FF0000"/>
                </a:solidFill>
              </a:rPr>
              <a:t>os.makedirs</a:t>
            </a:r>
            <a:r>
              <a:rPr lang="en-US" sz="1100" dirty="0">
                <a:solidFill>
                  <a:srgbClr val="FF0000"/>
                </a:solidFill>
              </a:rPr>
              <a:t>("</a:t>
            </a:r>
            <a:r>
              <a:rPr lang="en-US" sz="1100" dirty="0" err="1">
                <a:solidFill>
                  <a:srgbClr val="FF0000"/>
                </a:solidFill>
              </a:rPr>
              <a:t>backend_files</a:t>
            </a:r>
            <a:r>
              <a:rPr lang="en-US" sz="1100" dirty="0">
                <a:solidFill>
                  <a:srgbClr val="FF0000"/>
                </a:solidFill>
              </a:rPr>
              <a:t>", </a:t>
            </a:r>
            <a:r>
              <a:rPr lang="en-US" sz="1100" dirty="0" err="1">
                <a:solidFill>
                  <a:srgbClr val="FF0000"/>
                </a:solidFill>
              </a:rPr>
              <a:t>exist_ok</a:t>
            </a:r>
            <a:r>
              <a:rPr lang="en-US" sz="1100" dirty="0">
                <a:solidFill>
                  <a:srgbClr val="FF0000"/>
                </a:solidFill>
              </a:rPr>
              <a:t>=True)</a:t>
            </a:r>
          </a:p>
          <a:p>
            <a:pPr marL="285750" indent="-285750">
              <a:buFont typeface="Wingdings" pitchFamily="2" charset="2"/>
              <a:buChar char="ü"/>
            </a:pPr>
            <a:r>
              <a:rPr lang="en-US" sz="1200" dirty="0" err="1"/>
              <a:t>saved_model_path</a:t>
            </a:r>
            <a:r>
              <a:rPr lang="en-US" sz="1200" dirty="0"/>
              <a:t> -&gt; </a:t>
            </a:r>
            <a:r>
              <a:rPr lang="en-US" sz="1100" dirty="0" err="1">
                <a:solidFill>
                  <a:srgbClr val="FF0000"/>
                </a:solidFill>
              </a:rPr>
              <a:t>backend_files</a:t>
            </a:r>
            <a:r>
              <a:rPr lang="en-US" sz="1100" dirty="0">
                <a:solidFill>
                  <a:srgbClr val="FF0000"/>
                </a:solidFill>
              </a:rPr>
              <a:t>/</a:t>
            </a:r>
            <a:r>
              <a:rPr lang="en-US" sz="1100" dirty="0" err="1">
                <a:solidFill>
                  <a:srgbClr val="FF0000"/>
                </a:solidFill>
              </a:rPr>
              <a:t>superkart_xgb_tuned.joblib</a:t>
            </a:r>
            <a:endParaRPr lang="en-US" sz="1100" dirty="0">
              <a:solidFill>
                <a:srgbClr val="FF0000"/>
              </a:solidFill>
            </a:endParaRPr>
          </a:p>
          <a:p>
            <a:pPr marL="285750" lvl="2" indent="-285750">
              <a:buFont typeface="Wingdings" pitchFamily="2" charset="2"/>
              <a:buChar char="ü"/>
            </a:pPr>
            <a:r>
              <a:rPr lang="en-US" sz="1200" dirty="0"/>
              <a:t>test saved model -&gt; </a:t>
            </a:r>
            <a:r>
              <a:rPr lang="en-US" sz="1100" dirty="0" err="1">
                <a:solidFill>
                  <a:srgbClr val="FF0000"/>
                </a:solidFill>
              </a:rPr>
              <a:t>saved_model.predict</a:t>
            </a:r>
            <a:r>
              <a:rPr lang="en-US" sz="1100" dirty="0">
                <a:solidFill>
                  <a:srgbClr val="FF0000"/>
                </a:solidFill>
              </a:rPr>
              <a:t>(</a:t>
            </a:r>
            <a:r>
              <a:rPr lang="en-US" sz="1100" dirty="0" err="1">
                <a:solidFill>
                  <a:srgbClr val="FF0000"/>
                </a:solidFill>
              </a:rPr>
              <a:t>X_test</a:t>
            </a:r>
            <a:r>
              <a:rPr lang="en-US" sz="1100" dirty="0">
                <a:solidFill>
                  <a:srgbClr val="FF0000"/>
                </a:solidFill>
              </a:rPr>
              <a:t>)</a:t>
            </a:r>
          </a:p>
        </p:txBody>
      </p:sp>
      <p:sp>
        <p:nvSpPr>
          <p:cNvPr id="15" name="TextBox 14">
            <a:extLst>
              <a:ext uri="{FF2B5EF4-FFF2-40B4-BE49-F238E27FC236}">
                <a16:creationId xmlns:a16="http://schemas.microsoft.com/office/drawing/2014/main" id="{5FC6A523-3A95-1723-67B0-C1D69ECB8677}"/>
              </a:ext>
            </a:extLst>
          </p:cNvPr>
          <p:cNvSpPr txBox="1"/>
          <p:nvPr/>
        </p:nvSpPr>
        <p:spPr>
          <a:xfrm>
            <a:off x="3400970" y="1925419"/>
            <a:ext cx="5467009" cy="615553"/>
          </a:xfrm>
          <a:prstGeom prst="rect">
            <a:avLst/>
          </a:prstGeom>
          <a:noFill/>
        </p:spPr>
        <p:txBody>
          <a:bodyPr wrap="square" rtlCol="0">
            <a:spAutoFit/>
          </a:bodyPr>
          <a:lstStyle/>
          <a:p>
            <a:pPr marL="171450" lvl="1" indent="-171450">
              <a:buFont typeface="Wingdings" pitchFamily="2" charset="2"/>
              <a:buChar char="ü"/>
            </a:pPr>
            <a:r>
              <a:rPr lang="en-US" sz="1200" dirty="0"/>
              <a:t> home page </a:t>
            </a:r>
            <a:r>
              <a:rPr lang="en-US" sz="1200" dirty="0" err="1"/>
              <a:t>api</a:t>
            </a:r>
            <a:r>
              <a:rPr lang="en-US" sz="1200" dirty="0"/>
              <a:t> &gt; </a:t>
            </a:r>
            <a:r>
              <a:rPr lang="en-US" sz="1100" dirty="0">
                <a:solidFill>
                  <a:srgbClr val="FF0000"/>
                </a:solidFill>
              </a:rPr>
              <a:t>@</a:t>
            </a:r>
            <a:r>
              <a:rPr lang="en-US" sz="1100" dirty="0" err="1">
                <a:solidFill>
                  <a:srgbClr val="FF0000"/>
                </a:solidFill>
              </a:rPr>
              <a:t>superkart_api.get</a:t>
            </a:r>
            <a:r>
              <a:rPr lang="en-US" sz="1100" dirty="0">
                <a:solidFill>
                  <a:srgbClr val="FF0000"/>
                </a:solidFill>
              </a:rPr>
              <a:t>('/’)</a:t>
            </a:r>
          </a:p>
          <a:p>
            <a:pPr marL="171450" lvl="1" indent="-171450">
              <a:buFont typeface="Wingdings" pitchFamily="2" charset="2"/>
              <a:buChar char="ü"/>
            </a:pPr>
            <a:r>
              <a:rPr lang="en-US" sz="1100" dirty="0"/>
              <a:t> endpoint to predict churn -&gt; </a:t>
            </a:r>
            <a:r>
              <a:rPr lang="en-US" sz="1100" dirty="0">
                <a:solidFill>
                  <a:srgbClr val="FF0000"/>
                </a:solidFill>
              </a:rPr>
              <a:t>@</a:t>
            </a:r>
            <a:r>
              <a:rPr lang="en-US" sz="1100" dirty="0" err="1">
                <a:solidFill>
                  <a:srgbClr val="FF0000"/>
                </a:solidFill>
              </a:rPr>
              <a:t>superkart_api.post</a:t>
            </a:r>
            <a:r>
              <a:rPr lang="en-US" sz="1100" dirty="0">
                <a:solidFill>
                  <a:srgbClr val="FF0000"/>
                </a:solidFill>
              </a:rPr>
              <a:t>('/v1/predict’)</a:t>
            </a:r>
          </a:p>
          <a:p>
            <a:pPr marL="171450" lvl="1" indent="-171450">
              <a:buFont typeface="Wingdings" pitchFamily="2" charset="2"/>
              <a:buChar char="ü"/>
            </a:pPr>
            <a:r>
              <a:rPr lang="en-US" sz="1100" dirty="0"/>
              <a:t> extract customer features and convert them into a </a:t>
            </a:r>
            <a:r>
              <a:rPr lang="en-US" sz="1100" dirty="0" err="1"/>
              <a:t>DataFrame</a:t>
            </a:r>
            <a:endParaRPr lang="en-US" sz="1100" dirty="0"/>
          </a:p>
        </p:txBody>
      </p:sp>
      <p:sp>
        <p:nvSpPr>
          <p:cNvPr id="16" name="TextBox 15">
            <a:extLst>
              <a:ext uri="{FF2B5EF4-FFF2-40B4-BE49-F238E27FC236}">
                <a16:creationId xmlns:a16="http://schemas.microsoft.com/office/drawing/2014/main" id="{0277C3E4-59D5-7B37-3238-0F0E777C4DEE}"/>
              </a:ext>
            </a:extLst>
          </p:cNvPr>
          <p:cNvSpPr txBox="1"/>
          <p:nvPr/>
        </p:nvSpPr>
        <p:spPr>
          <a:xfrm>
            <a:off x="3400970" y="4060505"/>
            <a:ext cx="5467009" cy="646331"/>
          </a:xfrm>
          <a:prstGeom prst="rect">
            <a:avLst/>
          </a:prstGeom>
          <a:noFill/>
        </p:spPr>
        <p:txBody>
          <a:bodyPr wrap="square" rtlCol="0">
            <a:spAutoFit/>
          </a:bodyPr>
          <a:lstStyle/>
          <a:p>
            <a:pPr marL="285750" indent="-285750">
              <a:buFont typeface="Wingdings" pitchFamily="2" charset="2"/>
              <a:buChar char="ü"/>
            </a:pPr>
            <a:r>
              <a:rPr lang="en-US" sz="1200" dirty="0"/>
              <a:t>Hugging Face import login - </a:t>
            </a:r>
            <a:r>
              <a:rPr lang="en-US" sz="1200" dirty="0" err="1"/>
              <a:t>HfApi</a:t>
            </a:r>
            <a:r>
              <a:rPr lang="en-US" sz="1200" dirty="0"/>
              <a:t> -&gt; </a:t>
            </a:r>
            <a:r>
              <a:rPr lang="en-US" sz="1200" dirty="0" err="1">
                <a:solidFill>
                  <a:srgbClr val="FF0000"/>
                </a:solidFill>
              </a:rPr>
              <a:t>access_key</a:t>
            </a:r>
            <a:r>
              <a:rPr lang="en-US" sz="1200" dirty="0">
                <a:solidFill>
                  <a:srgbClr val="FF0000"/>
                </a:solidFill>
              </a:rPr>
              <a:t> &amp; </a:t>
            </a:r>
            <a:r>
              <a:rPr lang="en-US" sz="1200" dirty="0" err="1">
                <a:solidFill>
                  <a:srgbClr val="FF0000"/>
                </a:solidFill>
              </a:rPr>
              <a:t>repo_id</a:t>
            </a:r>
            <a:endParaRPr lang="en-US" sz="1200" dirty="0">
              <a:solidFill>
                <a:srgbClr val="FF0000"/>
              </a:solidFill>
            </a:endParaRPr>
          </a:p>
          <a:p>
            <a:pPr marL="285750" indent="-285750">
              <a:buFont typeface="Wingdings" pitchFamily="2" charset="2"/>
              <a:buChar char="ü"/>
            </a:pPr>
            <a:r>
              <a:rPr lang="en-US" sz="1200" dirty="0"/>
              <a:t>Initialize </a:t>
            </a:r>
            <a:r>
              <a:rPr lang="en-US" sz="1200" dirty="0" err="1">
                <a:solidFill>
                  <a:srgbClr val="FF0000"/>
                </a:solidFill>
              </a:rPr>
              <a:t>api</a:t>
            </a:r>
            <a:r>
              <a:rPr lang="en-US" sz="1200" dirty="0">
                <a:solidFill>
                  <a:srgbClr val="FF0000"/>
                </a:solidFill>
              </a:rPr>
              <a:t> = </a:t>
            </a:r>
            <a:r>
              <a:rPr lang="en-US" sz="1200" dirty="0" err="1">
                <a:solidFill>
                  <a:srgbClr val="FF0000"/>
                </a:solidFill>
              </a:rPr>
              <a:t>HfAPI</a:t>
            </a:r>
            <a:r>
              <a:rPr lang="en-US" sz="1200" dirty="0">
                <a:solidFill>
                  <a:srgbClr val="FF0000"/>
                </a:solidFill>
              </a:rPr>
              <a:t>( )</a:t>
            </a:r>
          </a:p>
          <a:p>
            <a:pPr marL="285750" indent="-285750">
              <a:buFont typeface="Wingdings" pitchFamily="2" charset="2"/>
              <a:buChar char="ü"/>
            </a:pPr>
            <a:r>
              <a:rPr lang="en-US" sz="1200" dirty="0"/>
              <a:t>Upload </a:t>
            </a:r>
            <a:r>
              <a:rPr lang="en-US" sz="1200" dirty="0" err="1"/>
              <a:t>Streamlit</a:t>
            </a:r>
            <a:r>
              <a:rPr lang="en-US" sz="1200" dirty="0"/>
              <a:t> app files -&gt; </a:t>
            </a:r>
            <a:r>
              <a:rPr lang="en-US" sz="1200" dirty="0" err="1">
                <a:solidFill>
                  <a:srgbClr val="FF0000"/>
                </a:solidFill>
              </a:rPr>
              <a:t>backend_files</a:t>
            </a:r>
            <a:r>
              <a:rPr lang="en-US" sz="1200" dirty="0">
                <a:solidFill>
                  <a:srgbClr val="FF0000"/>
                </a:solidFill>
              </a:rPr>
              <a:t>, </a:t>
            </a:r>
            <a:r>
              <a:rPr lang="en-US" sz="1200" dirty="0" err="1">
                <a:solidFill>
                  <a:srgbClr val="FF0000"/>
                </a:solidFill>
              </a:rPr>
              <a:t>repo_id</a:t>
            </a:r>
            <a:r>
              <a:rPr lang="en-US" sz="1200" dirty="0">
                <a:solidFill>
                  <a:srgbClr val="FF0000"/>
                </a:solidFill>
              </a:rPr>
              <a:t>, space</a:t>
            </a:r>
          </a:p>
        </p:txBody>
      </p:sp>
      <p:sp>
        <p:nvSpPr>
          <p:cNvPr id="17" name="TextBox 16">
            <a:extLst>
              <a:ext uri="{FF2B5EF4-FFF2-40B4-BE49-F238E27FC236}">
                <a16:creationId xmlns:a16="http://schemas.microsoft.com/office/drawing/2014/main" id="{07CB6029-BF42-1A4E-75C5-67E5437C866A}"/>
              </a:ext>
            </a:extLst>
          </p:cNvPr>
          <p:cNvSpPr txBox="1"/>
          <p:nvPr/>
        </p:nvSpPr>
        <p:spPr>
          <a:xfrm>
            <a:off x="3400970" y="2903239"/>
            <a:ext cx="5467009" cy="877163"/>
          </a:xfrm>
          <a:prstGeom prst="rect">
            <a:avLst/>
          </a:prstGeom>
          <a:noFill/>
        </p:spPr>
        <p:txBody>
          <a:bodyPr wrap="square" rtlCol="0">
            <a:spAutoFit/>
          </a:bodyPr>
          <a:lstStyle/>
          <a:p>
            <a:pPr marL="171450" lvl="1" indent="-171450">
              <a:buFont typeface="Wingdings" pitchFamily="2" charset="2"/>
              <a:buChar char="ü"/>
            </a:pPr>
            <a:r>
              <a:rPr lang="en-US" sz="1200" dirty="0"/>
              <a:t> </a:t>
            </a:r>
            <a:r>
              <a:rPr lang="en-US" sz="1200" dirty="0" err="1"/>
              <a:t>writefile</a:t>
            </a:r>
            <a:r>
              <a:rPr lang="en-US" sz="1200" dirty="0"/>
              <a:t> </a:t>
            </a:r>
            <a:r>
              <a:rPr lang="en-US" sz="1200" dirty="0" err="1"/>
              <a:t>backend_files</a:t>
            </a:r>
            <a:r>
              <a:rPr lang="en-US" sz="1200" dirty="0"/>
              <a:t> -&gt; </a:t>
            </a:r>
            <a:r>
              <a:rPr lang="en-US" sz="1200" dirty="0" err="1">
                <a:solidFill>
                  <a:srgbClr val="FF0000"/>
                </a:solidFill>
              </a:rPr>
              <a:t>requirements.txt</a:t>
            </a:r>
            <a:r>
              <a:rPr lang="en-US" sz="1200" dirty="0">
                <a:solidFill>
                  <a:srgbClr val="FF0000"/>
                </a:solidFill>
              </a:rPr>
              <a:t> [pandas, </a:t>
            </a:r>
            <a:r>
              <a:rPr lang="en-US" sz="1200" dirty="0" err="1">
                <a:solidFill>
                  <a:srgbClr val="FF0000"/>
                </a:solidFill>
              </a:rPr>
              <a:t>numpy</a:t>
            </a:r>
            <a:r>
              <a:rPr lang="en-US" sz="1200" dirty="0">
                <a:solidFill>
                  <a:srgbClr val="FF0000"/>
                </a:solidFill>
              </a:rPr>
              <a:t>, </a:t>
            </a:r>
            <a:r>
              <a:rPr lang="en-US" sz="1200" dirty="0" err="1">
                <a:solidFill>
                  <a:srgbClr val="FF0000"/>
                </a:solidFill>
              </a:rPr>
              <a:t>joblib</a:t>
            </a:r>
            <a:r>
              <a:rPr lang="en-US" sz="1200" dirty="0">
                <a:solidFill>
                  <a:srgbClr val="FF0000"/>
                </a:solidFill>
              </a:rPr>
              <a:t> </a:t>
            </a:r>
            <a:r>
              <a:rPr lang="en-US" sz="1200" dirty="0" err="1">
                <a:solidFill>
                  <a:srgbClr val="FF0000"/>
                </a:solidFill>
              </a:rPr>
              <a:t>xgboost</a:t>
            </a:r>
            <a:r>
              <a:rPr lang="en-US" sz="1200" dirty="0">
                <a:solidFill>
                  <a:srgbClr val="FF0000"/>
                </a:solidFill>
              </a:rPr>
              <a:t>, flask, </a:t>
            </a:r>
            <a:r>
              <a:rPr lang="en-US" sz="1200" dirty="0" err="1">
                <a:solidFill>
                  <a:srgbClr val="FF0000"/>
                </a:solidFill>
              </a:rPr>
              <a:t>gunicorn</a:t>
            </a:r>
            <a:r>
              <a:rPr lang="en-US" sz="1200" dirty="0">
                <a:solidFill>
                  <a:srgbClr val="FF0000"/>
                </a:solidFill>
              </a:rPr>
              <a:t>, </a:t>
            </a:r>
            <a:r>
              <a:rPr lang="en-US" sz="1200" dirty="0" err="1">
                <a:solidFill>
                  <a:srgbClr val="FF0000"/>
                </a:solidFill>
              </a:rPr>
              <a:t>uviorn</a:t>
            </a:r>
            <a:r>
              <a:rPr lang="en-US" sz="1200" dirty="0">
                <a:solidFill>
                  <a:srgbClr val="FF0000"/>
                </a:solidFill>
              </a:rPr>
              <a:t>, etc..)</a:t>
            </a:r>
          </a:p>
          <a:p>
            <a:pPr lvl="1"/>
            <a:endParaRPr lang="en-US" sz="300" dirty="0">
              <a:solidFill>
                <a:srgbClr val="FF0000"/>
              </a:solidFill>
            </a:endParaRPr>
          </a:p>
          <a:p>
            <a:pPr marL="171450" lvl="1" indent="-171450">
              <a:buFont typeface="Wingdings" pitchFamily="2" charset="2"/>
              <a:buChar char="ü"/>
            </a:pPr>
            <a:r>
              <a:rPr lang="en-US" sz="1200" dirty="0"/>
              <a:t>docker file - &gt; commands in Docker </a:t>
            </a:r>
            <a:r>
              <a:rPr lang="en-US" sz="1200" dirty="0">
                <a:solidFill>
                  <a:srgbClr val="FF0000"/>
                </a:solidFill>
              </a:rPr>
              <a:t>[WORKDIR, COPY,  RUN]</a:t>
            </a:r>
          </a:p>
          <a:p>
            <a:pPr marL="171450" lvl="1" indent="-171450">
              <a:buFont typeface="Wingdings" pitchFamily="2" charset="2"/>
              <a:buChar char="ü"/>
            </a:pPr>
            <a:r>
              <a:rPr lang="en-US" sz="1200" dirty="0"/>
              <a:t>Install dependencies -&gt; </a:t>
            </a:r>
            <a:r>
              <a:rPr lang="en-US" sz="1200" dirty="0">
                <a:solidFill>
                  <a:srgbClr val="FF0000"/>
                </a:solidFill>
              </a:rPr>
              <a:t>requirements file</a:t>
            </a:r>
            <a:endParaRPr lang="en-US" sz="1100" dirty="0">
              <a:solidFill>
                <a:srgbClr val="FF0000"/>
              </a:solidFill>
            </a:endParaRPr>
          </a:p>
        </p:txBody>
      </p:sp>
      <p:sp>
        <p:nvSpPr>
          <p:cNvPr id="18" name="Oval 17">
            <a:extLst>
              <a:ext uri="{FF2B5EF4-FFF2-40B4-BE49-F238E27FC236}">
                <a16:creationId xmlns:a16="http://schemas.microsoft.com/office/drawing/2014/main" id="{A8DCF49A-4350-401C-4AE6-7D7E330F62D0}"/>
              </a:ext>
            </a:extLst>
          </p:cNvPr>
          <p:cNvSpPr/>
          <p:nvPr/>
        </p:nvSpPr>
        <p:spPr>
          <a:xfrm>
            <a:off x="509162" y="972580"/>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9" name="Oval 18">
            <a:extLst>
              <a:ext uri="{FF2B5EF4-FFF2-40B4-BE49-F238E27FC236}">
                <a16:creationId xmlns:a16="http://schemas.microsoft.com/office/drawing/2014/main" id="{3FF21740-6DE0-BDE9-0039-71E1DD93E005}"/>
              </a:ext>
            </a:extLst>
          </p:cNvPr>
          <p:cNvSpPr/>
          <p:nvPr/>
        </p:nvSpPr>
        <p:spPr>
          <a:xfrm>
            <a:off x="546624" y="1964255"/>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Oval 19">
            <a:extLst>
              <a:ext uri="{FF2B5EF4-FFF2-40B4-BE49-F238E27FC236}">
                <a16:creationId xmlns:a16="http://schemas.microsoft.com/office/drawing/2014/main" id="{B54BBD9D-B688-FAC0-35D2-8EE19FA8ACD5}"/>
              </a:ext>
            </a:extLst>
          </p:cNvPr>
          <p:cNvSpPr/>
          <p:nvPr/>
        </p:nvSpPr>
        <p:spPr>
          <a:xfrm>
            <a:off x="509162" y="2954478"/>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1" name="Oval 20">
            <a:extLst>
              <a:ext uri="{FF2B5EF4-FFF2-40B4-BE49-F238E27FC236}">
                <a16:creationId xmlns:a16="http://schemas.microsoft.com/office/drawing/2014/main" id="{7355FD7A-5534-9D0B-03E1-6E12BFDEF1FE}"/>
              </a:ext>
            </a:extLst>
          </p:cNvPr>
          <p:cNvSpPr/>
          <p:nvPr/>
        </p:nvSpPr>
        <p:spPr>
          <a:xfrm>
            <a:off x="513971" y="3981447"/>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Tree>
    <p:extLst>
      <p:ext uri="{BB962C8B-B14F-4D97-AF65-F5344CB8AC3E}">
        <p14:creationId xmlns:p14="http://schemas.microsoft.com/office/powerpoint/2010/main" val="3663047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26D02AEB-F08B-ABE4-41A7-531E3A84847D}"/>
            </a:ext>
          </a:extLst>
        </p:cNvPr>
        <p:cNvGrpSpPr/>
        <p:nvPr/>
      </p:nvGrpSpPr>
      <p:grpSpPr>
        <a:xfrm>
          <a:off x="0" y="0"/>
          <a:ext cx="0" cy="0"/>
          <a:chOff x="0" y="0"/>
          <a:chExt cx="0" cy="0"/>
        </a:xfrm>
      </p:grpSpPr>
      <p:sp>
        <p:nvSpPr>
          <p:cNvPr id="4" name="Google Shape;130;g12508d39905_0_54">
            <a:extLst>
              <a:ext uri="{FF2B5EF4-FFF2-40B4-BE49-F238E27FC236}">
                <a16:creationId xmlns:a16="http://schemas.microsoft.com/office/drawing/2014/main" id="{4DBB458C-DD61-FF01-6415-051862CFB475}"/>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US" dirty="0">
                <a:solidFill>
                  <a:srgbClr val="1974D2"/>
                </a:solidFill>
              </a:rPr>
              <a:t>Deployment - Backend</a:t>
            </a:r>
          </a:p>
        </p:txBody>
      </p:sp>
      <p:sp>
        <p:nvSpPr>
          <p:cNvPr id="5" name="Rectangle 6">
            <a:extLst>
              <a:ext uri="{FF2B5EF4-FFF2-40B4-BE49-F238E27FC236}">
                <a16:creationId xmlns:a16="http://schemas.microsoft.com/office/drawing/2014/main" id="{F932E675-D7FE-9C61-860C-14751CF23F52}"/>
              </a:ext>
            </a:extLst>
          </p:cNvPr>
          <p:cNvSpPr>
            <a:spLocks noChangeArrowheads="1"/>
          </p:cNvSpPr>
          <p:nvPr/>
        </p:nvSpPr>
        <p:spPr bwMode="gray">
          <a:xfrm>
            <a:off x="276021" y="617218"/>
            <a:ext cx="2089150" cy="2467888"/>
          </a:xfrm>
          <a:prstGeom prst="rect">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342900" indent="-342900">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1588" indent="112713">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lvl="1"/>
            <a:endParaRPr lang="en-US" altLang="en-US" dirty="0">
              <a:solidFill>
                <a:schemeClr val="lt1"/>
              </a:solidFill>
              <a:latin typeface="+mn-lt"/>
              <a:ea typeface="+mn-ea"/>
              <a:cs typeface="+mn-cs"/>
            </a:endParaRPr>
          </a:p>
        </p:txBody>
      </p:sp>
      <p:sp>
        <p:nvSpPr>
          <p:cNvPr id="6" name="Line 7">
            <a:extLst>
              <a:ext uri="{FF2B5EF4-FFF2-40B4-BE49-F238E27FC236}">
                <a16:creationId xmlns:a16="http://schemas.microsoft.com/office/drawing/2014/main" id="{96741154-9438-D121-8A52-628B52D6C374}"/>
              </a:ext>
            </a:extLst>
          </p:cNvPr>
          <p:cNvSpPr>
            <a:spLocks noChangeShapeType="1"/>
          </p:cNvSpPr>
          <p:nvPr/>
        </p:nvSpPr>
        <p:spPr bwMode="gray">
          <a:xfrm>
            <a:off x="3566908" y="883917"/>
            <a:ext cx="49720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7" name="Text Box 8">
            <a:extLst>
              <a:ext uri="{FF2B5EF4-FFF2-40B4-BE49-F238E27FC236}">
                <a16:creationId xmlns:a16="http://schemas.microsoft.com/office/drawing/2014/main" id="{2850435D-652A-CD49-7697-E708D076651D}"/>
              </a:ext>
            </a:extLst>
          </p:cNvPr>
          <p:cNvSpPr txBox="1">
            <a:spLocks noChangeArrowheads="1"/>
          </p:cNvSpPr>
          <p:nvPr/>
        </p:nvSpPr>
        <p:spPr bwMode="gray">
          <a:xfrm>
            <a:off x="3471658" y="609280"/>
            <a:ext cx="1138751" cy="30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eaLnBrk="1" hangingPunct="1">
              <a:spcAft>
                <a:spcPts val="0"/>
              </a:spcAft>
              <a:buClr>
                <a:srgbClr val="434343"/>
              </a:buClr>
              <a:buSzPts val="2200"/>
              <a:buNone/>
            </a:pPr>
            <a:r>
              <a:rPr lang="en-US" altLang="en-US" sz="1400" b="1" dirty="0">
                <a:solidFill>
                  <a:srgbClr val="1974D2"/>
                </a:solidFill>
                <a:latin typeface="Nunito"/>
                <a:sym typeface="Nunito"/>
              </a:rPr>
              <a:t>Description</a:t>
            </a:r>
          </a:p>
        </p:txBody>
      </p:sp>
      <p:sp>
        <p:nvSpPr>
          <p:cNvPr id="8" name="AutoShape 9">
            <a:extLst>
              <a:ext uri="{FF2B5EF4-FFF2-40B4-BE49-F238E27FC236}">
                <a16:creationId xmlns:a16="http://schemas.microsoft.com/office/drawing/2014/main" id="{D8301BC9-4660-374F-6960-C8E31D8890C4}"/>
              </a:ext>
            </a:extLst>
          </p:cNvPr>
          <p:cNvSpPr>
            <a:spLocks noChangeArrowheads="1"/>
          </p:cNvSpPr>
          <p:nvPr/>
        </p:nvSpPr>
        <p:spPr bwMode="gray">
          <a:xfrm>
            <a:off x="636383" y="1036317"/>
            <a:ext cx="2520950" cy="719138"/>
          </a:xfrm>
          <a:prstGeom prst="homePlate">
            <a:avLst>
              <a:gd name="adj" fmla="val 31420"/>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Font typeface="Wingdings" pitchFamily="2" charset="2"/>
              <a:buNone/>
            </a:pPr>
            <a:r>
              <a:rPr lang="en-US" altLang="en-US" sz="1200" b="1" dirty="0"/>
              <a:t>Hugging Face Hub API</a:t>
            </a:r>
          </a:p>
        </p:txBody>
      </p:sp>
      <p:sp>
        <p:nvSpPr>
          <p:cNvPr id="9" name="AutoShape 10">
            <a:extLst>
              <a:ext uri="{FF2B5EF4-FFF2-40B4-BE49-F238E27FC236}">
                <a16:creationId xmlns:a16="http://schemas.microsoft.com/office/drawing/2014/main" id="{015BF36F-E097-C0DC-4D91-B46FE6F79D23}"/>
              </a:ext>
            </a:extLst>
          </p:cNvPr>
          <p:cNvSpPr>
            <a:spLocks noChangeArrowheads="1"/>
          </p:cNvSpPr>
          <p:nvPr/>
        </p:nvSpPr>
        <p:spPr bwMode="gray">
          <a:xfrm>
            <a:off x="636383" y="2034855"/>
            <a:ext cx="2520950" cy="720725"/>
          </a:xfrm>
          <a:prstGeom prst="homePlate">
            <a:avLst>
              <a:gd name="adj" fmla="val 31351"/>
            </a:avLst>
          </a:prstGeom>
          <a:solidFill>
            <a:schemeClr val="bg1"/>
          </a:solidFill>
          <a:ln w="12700" algn="ctr">
            <a:solidFill>
              <a:schemeClr val="tx1"/>
            </a:solidFill>
            <a:miter lim="800000"/>
            <a:headEnd/>
            <a:tailEnd/>
          </a:ln>
        </p:spPr>
        <p:txBody>
          <a:bodyPr anchor="ctr"/>
          <a:lstStyle>
            <a:lvl1pPr>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spcAft>
                <a:spcPct val="10000"/>
              </a:spcAft>
              <a:buNone/>
            </a:pPr>
            <a:r>
              <a:rPr lang="en-US" altLang="en-US" sz="1200" b="1" dirty="0"/>
              <a:t>Create Repository</a:t>
            </a:r>
          </a:p>
        </p:txBody>
      </p:sp>
      <p:sp>
        <p:nvSpPr>
          <p:cNvPr id="14" name="TextBox 13">
            <a:extLst>
              <a:ext uri="{FF2B5EF4-FFF2-40B4-BE49-F238E27FC236}">
                <a16:creationId xmlns:a16="http://schemas.microsoft.com/office/drawing/2014/main" id="{0E1C2A1A-430A-6373-C675-7D4CA4B8F999}"/>
              </a:ext>
            </a:extLst>
          </p:cNvPr>
          <p:cNvSpPr txBox="1"/>
          <p:nvPr/>
        </p:nvSpPr>
        <p:spPr>
          <a:xfrm>
            <a:off x="3400970" y="1045152"/>
            <a:ext cx="5467009" cy="646331"/>
          </a:xfrm>
          <a:prstGeom prst="rect">
            <a:avLst/>
          </a:prstGeom>
          <a:noFill/>
        </p:spPr>
        <p:txBody>
          <a:bodyPr wrap="square" rtlCol="0">
            <a:spAutoFit/>
          </a:bodyPr>
          <a:lstStyle/>
          <a:p>
            <a:pPr marL="285750" indent="-285750">
              <a:buFont typeface="Wingdings" pitchFamily="2" charset="2"/>
              <a:buChar char="ü"/>
            </a:pPr>
            <a:r>
              <a:rPr lang="en-US" sz="1200" dirty="0">
                <a:solidFill>
                  <a:schemeClr val="tx1"/>
                </a:solidFill>
              </a:rPr>
              <a:t>Import the login function -&gt; </a:t>
            </a:r>
            <a:r>
              <a:rPr lang="en-US" sz="1200" dirty="0">
                <a:solidFill>
                  <a:srgbClr val="FF0000"/>
                </a:solidFill>
              </a:rPr>
              <a:t>f</a:t>
            </a:r>
            <a:r>
              <a:rPr lang="en-US" sz="1100" dirty="0">
                <a:solidFill>
                  <a:srgbClr val="FF0000"/>
                </a:solidFill>
              </a:rPr>
              <a:t>rom </a:t>
            </a:r>
            <a:r>
              <a:rPr lang="en-US" sz="1100" dirty="0" err="1">
                <a:solidFill>
                  <a:srgbClr val="FF0000"/>
                </a:solidFill>
              </a:rPr>
              <a:t>huggingface_hub</a:t>
            </a:r>
            <a:r>
              <a:rPr lang="en-US" sz="1100" dirty="0">
                <a:solidFill>
                  <a:srgbClr val="FF0000"/>
                </a:solidFill>
              </a:rPr>
              <a:t> import login</a:t>
            </a:r>
          </a:p>
          <a:p>
            <a:pPr marL="285750" indent="-285750">
              <a:buFont typeface="Wingdings" pitchFamily="2" charset="2"/>
              <a:buChar char="ü"/>
            </a:pPr>
            <a:r>
              <a:rPr lang="en-US" sz="1200" dirty="0">
                <a:solidFill>
                  <a:schemeClr val="tx1"/>
                </a:solidFill>
              </a:rPr>
              <a:t>Define access token -&gt;</a:t>
            </a:r>
            <a:r>
              <a:rPr lang="en-US" sz="1200" dirty="0">
                <a:solidFill>
                  <a:srgbClr val="FF0000"/>
                </a:solidFill>
              </a:rPr>
              <a:t> login (token = )</a:t>
            </a:r>
          </a:p>
          <a:p>
            <a:pPr marL="285750" indent="-285750">
              <a:buFont typeface="Wingdings" pitchFamily="2" charset="2"/>
              <a:buChar char="ü"/>
            </a:pPr>
            <a:r>
              <a:rPr lang="en-US" sz="1200" dirty="0" err="1">
                <a:solidFill>
                  <a:schemeClr val="tx1"/>
                </a:solidFill>
              </a:rPr>
              <a:t>Huggingface_hub</a:t>
            </a:r>
            <a:r>
              <a:rPr lang="en-US" sz="1200" dirty="0">
                <a:solidFill>
                  <a:schemeClr val="tx1"/>
                </a:solidFill>
              </a:rPr>
              <a:t> -&gt; </a:t>
            </a:r>
            <a:r>
              <a:rPr lang="en-US" sz="1200" dirty="0" err="1">
                <a:solidFill>
                  <a:srgbClr val="FF0000"/>
                </a:solidFill>
              </a:rPr>
              <a:t>create_repo</a:t>
            </a:r>
            <a:endParaRPr lang="en-US" sz="1100" dirty="0">
              <a:solidFill>
                <a:srgbClr val="FF0000"/>
              </a:solidFill>
            </a:endParaRPr>
          </a:p>
        </p:txBody>
      </p:sp>
      <p:sp>
        <p:nvSpPr>
          <p:cNvPr id="15" name="TextBox 14">
            <a:extLst>
              <a:ext uri="{FF2B5EF4-FFF2-40B4-BE49-F238E27FC236}">
                <a16:creationId xmlns:a16="http://schemas.microsoft.com/office/drawing/2014/main" id="{24CC441F-65CF-8D9A-6254-00B1E77A889B}"/>
              </a:ext>
            </a:extLst>
          </p:cNvPr>
          <p:cNvSpPr txBox="1"/>
          <p:nvPr/>
        </p:nvSpPr>
        <p:spPr>
          <a:xfrm>
            <a:off x="3400970" y="2087440"/>
            <a:ext cx="5467009" cy="646331"/>
          </a:xfrm>
          <a:prstGeom prst="rect">
            <a:avLst/>
          </a:prstGeom>
          <a:noFill/>
        </p:spPr>
        <p:txBody>
          <a:bodyPr wrap="square" rtlCol="0">
            <a:spAutoFit/>
          </a:bodyPr>
          <a:lstStyle/>
          <a:p>
            <a:pPr marL="171450" lvl="1" indent="-171450">
              <a:buFont typeface="Wingdings" pitchFamily="2" charset="2"/>
              <a:buChar char="ü"/>
            </a:pPr>
            <a:r>
              <a:rPr lang="en-US" sz="1200" dirty="0"/>
              <a:t> </a:t>
            </a:r>
            <a:r>
              <a:rPr lang="en-US" sz="1200" dirty="0" err="1"/>
              <a:t>create_repo</a:t>
            </a:r>
            <a:r>
              <a:rPr lang="en-US" sz="1200" dirty="0"/>
              <a:t> -&gt; </a:t>
            </a:r>
            <a:r>
              <a:rPr lang="en-US" sz="1200" dirty="0">
                <a:solidFill>
                  <a:srgbClr val="FF0000"/>
                </a:solidFill>
              </a:rPr>
              <a:t>"</a:t>
            </a:r>
            <a:r>
              <a:rPr lang="en-US" sz="1200" dirty="0" err="1">
                <a:solidFill>
                  <a:srgbClr val="FF0000"/>
                </a:solidFill>
              </a:rPr>
              <a:t>superkart-salespred</a:t>
            </a:r>
            <a:r>
              <a:rPr lang="en-US" sz="1200" dirty="0">
                <a:solidFill>
                  <a:srgbClr val="FF0000"/>
                </a:solidFill>
              </a:rPr>
              <a:t>"</a:t>
            </a:r>
          </a:p>
          <a:p>
            <a:pPr marL="171450" lvl="1" indent="-171450">
              <a:buFont typeface="Wingdings" pitchFamily="2" charset="2"/>
              <a:buChar char="ü"/>
            </a:pPr>
            <a:r>
              <a:rPr lang="en-US" sz="1200" dirty="0"/>
              <a:t> </a:t>
            </a:r>
            <a:r>
              <a:rPr lang="en-US" sz="1200" dirty="0" err="1"/>
              <a:t>repo_type</a:t>
            </a:r>
            <a:r>
              <a:rPr lang="en-US" sz="1200" dirty="0"/>
              <a:t> -&gt; </a:t>
            </a:r>
            <a:r>
              <a:rPr lang="en-US" sz="1200" dirty="0">
                <a:solidFill>
                  <a:srgbClr val="FF0000"/>
                </a:solidFill>
              </a:rPr>
              <a:t>‘space’</a:t>
            </a:r>
          </a:p>
          <a:p>
            <a:pPr marL="171450" lvl="1" indent="-171450">
              <a:buFont typeface="Wingdings" pitchFamily="2" charset="2"/>
              <a:buChar char="ü"/>
            </a:pPr>
            <a:r>
              <a:rPr lang="en-US" sz="1200" dirty="0"/>
              <a:t> </a:t>
            </a:r>
            <a:r>
              <a:rPr lang="en-US" sz="1200" dirty="0" err="1"/>
              <a:t>space_dsk</a:t>
            </a:r>
            <a:r>
              <a:rPr lang="en-US" sz="1200" dirty="0"/>
              <a:t> -&gt; </a:t>
            </a:r>
            <a:r>
              <a:rPr lang="en-US" sz="1100" dirty="0">
                <a:solidFill>
                  <a:srgbClr val="FF0000"/>
                </a:solidFill>
              </a:rPr>
              <a:t>‘docker’</a:t>
            </a:r>
            <a:endParaRPr lang="en-US" sz="1200" dirty="0">
              <a:solidFill>
                <a:srgbClr val="FF0000"/>
              </a:solidFill>
            </a:endParaRPr>
          </a:p>
        </p:txBody>
      </p:sp>
      <p:sp>
        <p:nvSpPr>
          <p:cNvPr id="2" name="Oval 1">
            <a:extLst>
              <a:ext uri="{FF2B5EF4-FFF2-40B4-BE49-F238E27FC236}">
                <a16:creationId xmlns:a16="http://schemas.microsoft.com/office/drawing/2014/main" id="{59D453BA-ABE1-F10C-872F-A25C9DDC280A}"/>
              </a:ext>
            </a:extLst>
          </p:cNvPr>
          <p:cNvSpPr/>
          <p:nvPr/>
        </p:nvSpPr>
        <p:spPr>
          <a:xfrm>
            <a:off x="509162" y="972580"/>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 name="Oval 2">
            <a:extLst>
              <a:ext uri="{FF2B5EF4-FFF2-40B4-BE49-F238E27FC236}">
                <a16:creationId xmlns:a16="http://schemas.microsoft.com/office/drawing/2014/main" id="{31FB8C41-C214-AE58-3388-3D57F1EB242C}"/>
              </a:ext>
            </a:extLst>
          </p:cNvPr>
          <p:cNvSpPr/>
          <p:nvPr/>
        </p:nvSpPr>
        <p:spPr>
          <a:xfrm>
            <a:off x="509162" y="1961704"/>
            <a:ext cx="254441" cy="251471"/>
          </a:xfrm>
          <a:prstGeom prst="ellipse">
            <a:avLst/>
          </a:prstGeom>
          <a:solidFill>
            <a:schemeClr val="bg1">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Tree>
    <p:extLst>
      <p:ext uri="{BB962C8B-B14F-4D97-AF65-F5344CB8AC3E}">
        <p14:creationId xmlns:p14="http://schemas.microsoft.com/office/powerpoint/2010/main" val="29828465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28A9978-EB0D-5556-6C6E-EA11D97B4417}"/>
            </a:ext>
          </a:extLst>
        </p:cNvPr>
        <p:cNvGrpSpPr/>
        <p:nvPr/>
      </p:nvGrpSpPr>
      <p:grpSpPr>
        <a:xfrm>
          <a:off x="0" y="0"/>
          <a:ext cx="0" cy="0"/>
          <a:chOff x="0" y="0"/>
          <a:chExt cx="0" cy="0"/>
        </a:xfrm>
      </p:grpSpPr>
      <p:sp>
        <p:nvSpPr>
          <p:cNvPr id="4" name="Google Shape;130;g12508d39905_0_54">
            <a:extLst>
              <a:ext uri="{FF2B5EF4-FFF2-40B4-BE49-F238E27FC236}">
                <a16:creationId xmlns:a16="http://schemas.microsoft.com/office/drawing/2014/main" id="{14E4B651-8F52-4A86-63F7-F3A9884BC059}"/>
              </a:ext>
            </a:extLst>
          </p:cNvPr>
          <p:cNvSpPr txBox="1">
            <a:spLocks/>
          </p:cNvSpPr>
          <p:nvPr/>
        </p:nvSpPr>
        <p:spPr>
          <a:xfrm>
            <a:off x="418066" y="99321"/>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US" dirty="0">
                <a:solidFill>
                  <a:srgbClr val="1974D2"/>
                </a:solidFill>
              </a:rPr>
              <a:t>Deployment - Frontend</a:t>
            </a:r>
          </a:p>
        </p:txBody>
      </p:sp>
      <p:pic>
        <p:nvPicPr>
          <p:cNvPr id="2" name="Picture 1">
            <a:extLst>
              <a:ext uri="{FF2B5EF4-FFF2-40B4-BE49-F238E27FC236}">
                <a16:creationId xmlns:a16="http://schemas.microsoft.com/office/drawing/2014/main" id="{7923DC71-66A5-76CF-7172-F1B6FBD7314A}"/>
              </a:ext>
            </a:extLst>
          </p:cNvPr>
          <p:cNvPicPr>
            <a:picLocks noChangeAspect="1"/>
          </p:cNvPicPr>
          <p:nvPr/>
        </p:nvPicPr>
        <p:blipFill>
          <a:blip r:embed="rId3"/>
          <a:stretch>
            <a:fillRect/>
          </a:stretch>
        </p:blipFill>
        <p:spPr>
          <a:xfrm>
            <a:off x="5112690" y="1208598"/>
            <a:ext cx="3068802" cy="3155672"/>
          </a:xfrm>
          <a:prstGeom prst="rect">
            <a:avLst/>
          </a:prstGeom>
          <a:ln>
            <a:solidFill>
              <a:schemeClr val="tx1"/>
            </a:solidFill>
          </a:ln>
        </p:spPr>
      </p:pic>
      <p:sp>
        <p:nvSpPr>
          <p:cNvPr id="3" name="Triangle 2">
            <a:extLst>
              <a:ext uri="{FF2B5EF4-FFF2-40B4-BE49-F238E27FC236}">
                <a16:creationId xmlns:a16="http://schemas.microsoft.com/office/drawing/2014/main" id="{DBF212F7-FF06-37A6-75F2-800A423EA6AE}"/>
              </a:ext>
            </a:extLst>
          </p:cNvPr>
          <p:cNvSpPr/>
          <p:nvPr/>
        </p:nvSpPr>
        <p:spPr>
          <a:xfrm rot="5400000">
            <a:off x="3158749" y="2637917"/>
            <a:ext cx="3245970" cy="206735"/>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2837671-FACB-6AD1-D25F-CF788612D4A2}"/>
              </a:ext>
            </a:extLst>
          </p:cNvPr>
          <p:cNvSpPr>
            <a:spLocks noChangeArrowheads="1"/>
          </p:cNvSpPr>
          <p:nvPr/>
        </p:nvSpPr>
        <p:spPr bwMode="gray">
          <a:xfrm>
            <a:off x="843239" y="1126251"/>
            <a:ext cx="3382962" cy="409697"/>
          </a:xfrm>
          <a:prstGeom prst="rect">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defTabSz="228600">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defTabSz="22860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defTabSz="228600">
              <a:spcAft>
                <a:spcPct val="50000"/>
              </a:spcAft>
              <a:buClr>
                <a:schemeClr val="accent2"/>
              </a:buClr>
              <a:buChar char="•"/>
              <a:defRPr sz="1200">
                <a:solidFill>
                  <a:schemeClr val="tx1"/>
                </a:solidFill>
                <a:latin typeface="Arial" panose="020B0604020202020204" pitchFamily="34" charset="0"/>
              </a:defRPr>
            </a:lvl3pPr>
            <a:lvl4pPr marL="1600200" indent="-228600" defTabSz="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defTabSz="228600">
              <a:spcAft>
                <a:spcPct val="50000"/>
              </a:spcAft>
              <a:buClr>
                <a:schemeClr val="accent2"/>
              </a:buClr>
              <a:buChar char="•"/>
              <a:defRPr sz="1200">
                <a:solidFill>
                  <a:schemeClr val="tx1"/>
                </a:solidFill>
                <a:latin typeface="Arial" panose="020B0604020202020204" pitchFamily="34" charset="0"/>
              </a:defRPr>
            </a:lvl5pPr>
            <a:lvl6pPr marL="2514600" indent="-228600" defTabSz="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defTabSz="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defTabSz="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defTabSz="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lgn="ctr">
              <a:buNone/>
            </a:pPr>
            <a:r>
              <a:rPr lang="en-US" altLang="en-US" sz="1400" dirty="0">
                <a:solidFill>
                  <a:schemeClr val="bg1"/>
                </a:solidFill>
                <a:ea typeface="+mn-ea"/>
                <a:cs typeface="+mn-cs"/>
              </a:rPr>
              <a:t>Uploading Files to Hugging Face</a:t>
            </a:r>
          </a:p>
        </p:txBody>
      </p:sp>
      <p:sp>
        <p:nvSpPr>
          <p:cNvPr id="7" name="Rectangle 6">
            <a:extLst>
              <a:ext uri="{FF2B5EF4-FFF2-40B4-BE49-F238E27FC236}">
                <a16:creationId xmlns:a16="http://schemas.microsoft.com/office/drawing/2014/main" id="{B7CA6939-34E0-D326-04A3-3E42B4BAB06B}"/>
              </a:ext>
            </a:extLst>
          </p:cNvPr>
          <p:cNvSpPr>
            <a:spLocks noChangeArrowheads="1"/>
          </p:cNvSpPr>
          <p:nvPr/>
        </p:nvSpPr>
        <p:spPr bwMode="gray">
          <a:xfrm>
            <a:off x="843239" y="1532435"/>
            <a:ext cx="3382962" cy="2710581"/>
          </a:xfrm>
          <a:prstGeom prst="rect">
            <a:avLst/>
          </a:prstGeom>
          <a:solidFill>
            <a:schemeClr val="bg1"/>
          </a:solidFill>
          <a:ln w="12700" algn="ctr">
            <a:solidFill>
              <a:schemeClr val="tx1"/>
            </a:solidFill>
            <a:miter lim="800000"/>
            <a:headEnd/>
            <a:tailEnd/>
          </a:ln>
        </p:spPr>
        <p:txBody>
          <a:bodyPr lIns="90000"/>
          <a:lstStyle>
            <a:lvl1pPr marL="114300" indent="-114300">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230188" indent="-11430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a:spcAft>
                <a:spcPct val="50000"/>
              </a:spcAft>
              <a:buClr>
                <a:schemeClr val="accent2"/>
              </a:buClr>
              <a:buChar char="•"/>
              <a:defRPr sz="1200">
                <a:solidFill>
                  <a:schemeClr val="tx1"/>
                </a:solidFill>
                <a:latin typeface="Arial" panose="020B0604020202020204" pitchFamily="34" charset="0"/>
              </a:defRPr>
            </a:lvl3pPr>
            <a:lvl4pPr marL="1600200" indent="-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a:spcAft>
                <a:spcPct val="50000"/>
              </a:spcAft>
              <a:buClr>
                <a:schemeClr val="accent2"/>
              </a:buClr>
              <a:buChar char="•"/>
              <a:defRPr sz="1200">
                <a:solidFill>
                  <a:schemeClr val="tx1"/>
                </a:solidFill>
                <a:latin typeface="Arial" panose="020B0604020202020204" pitchFamily="34" charset="0"/>
              </a:defRPr>
            </a:lvl5pPr>
            <a:lvl6pPr marL="25146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marL="0" indent="0">
              <a:spcAft>
                <a:spcPct val="25000"/>
              </a:spcAft>
              <a:buClr>
                <a:schemeClr val="tx1"/>
              </a:buClr>
              <a:buNone/>
            </a:pPr>
            <a:r>
              <a:rPr lang="en-US" altLang="en-US" sz="1200" dirty="0"/>
              <a:t>1, Define access keys and tokens:</a:t>
            </a:r>
          </a:p>
          <a:p>
            <a:pPr lvl="1">
              <a:spcAft>
                <a:spcPct val="25000"/>
              </a:spcAft>
              <a:buClr>
                <a:schemeClr val="tx1"/>
              </a:buClr>
            </a:pPr>
            <a:r>
              <a:rPr lang="en-US" altLang="en-US" sz="1000" dirty="0" err="1"/>
              <a:t>access_key</a:t>
            </a:r>
            <a:endParaRPr lang="en-US" altLang="en-US" sz="1000" dirty="0"/>
          </a:p>
          <a:p>
            <a:pPr lvl="1">
              <a:spcAft>
                <a:spcPct val="25000"/>
              </a:spcAft>
              <a:buClr>
                <a:schemeClr val="tx1"/>
              </a:buClr>
            </a:pPr>
            <a:r>
              <a:rPr lang="en-US" altLang="en-US" sz="1000" dirty="0" err="1"/>
              <a:t>repo_id</a:t>
            </a:r>
            <a:endParaRPr lang="en-US" altLang="en-US" sz="1000" dirty="0"/>
          </a:p>
          <a:p>
            <a:pPr marL="115888" lvl="1" indent="0">
              <a:spcAft>
                <a:spcPct val="25000"/>
              </a:spcAft>
              <a:buClr>
                <a:schemeClr val="tx1"/>
              </a:buClr>
              <a:buNone/>
            </a:pPr>
            <a:endParaRPr lang="en-US" altLang="en-US" sz="500" dirty="0"/>
          </a:p>
          <a:p>
            <a:pPr marL="0" indent="0">
              <a:spcAft>
                <a:spcPct val="25000"/>
              </a:spcAft>
              <a:buClr>
                <a:schemeClr val="tx1"/>
              </a:buClr>
              <a:buNone/>
            </a:pPr>
            <a:r>
              <a:rPr lang="en-US" altLang="en-US" sz="1200" dirty="0"/>
              <a:t>2. Initialize the API:</a:t>
            </a:r>
          </a:p>
          <a:p>
            <a:pPr lvl="1">
              <a:spcAft>
                <a:spcPct val="25000"/>
              </a:spcAft>
              <a:buClr>
                <a:schemeClr val="tx1"/>
              </a:buClr>
            </a:pPr>
            <a:r>
              <a:rPr lang="en-US" altLang="en-US" sz="1000" dirty="0" err="1"/>
              <a:t>api</a:t>
            </a:r>
            <a:r>
              <a:rPr lang="en-US" altLang="en-US" sz="1000" dirty="0"/>
              <a:t>=</a:t>
            </a:r>
            <a:r>
              <a:rPr lang="en-US" altLang="en-US" sz="1000" dirty="0" err="1"/>
              <a:t>HfApi</a:t>
            </a:r>
            <a:r>
              <a:rPr lang="en-US" altLang="en-US" sz="1000" dirty="0"/>
              <a:t> ()</a:t>
            </a:r>
          </a:p>
          <a:p>
            <a:pPr marL="115888" lvl="1" indent="0">
              <a:spcAft>
                <a:spcPct val="25000"/>
              </a:spcAft>
              <a:buClr>
                <a:schemeClr val="tx1"/>
              </a:buClr>
              <a:buNone/>
            </a:pPr>
            <a:endParaRPr lang="en-US" altLang="en-US" sz="500" dirty="0"/>
          </a:p>
          <a:p>
            <a:pPr marL="0" indent="0">
              <a:spcAft>
                <a:spcPct val="25000"/>
              </a:spcAft>
              <a:buClr>
                <a:schemeClr val="tx1"/>
              </a:buClr>
              <a:buNone/>
            </a:pPr>
            <a:r>
              <a:rPr lang="en-US" altLang="en-US" sz="1200" dirty="0"/>
              <a:t>3. Upload </a:t>
            </a:r>
            <a:r>
              <a:rPr lang="en-US" altLang="en-US" sz="1200" dirty="0" err="1"/>
              <a:t>Streamlit</a:t>
            </a:r>
            <a:r>
              <a:rPr lang="en-US" altLang="en-US" sz="1200" dirty="0"/>
              <a:t> app files:</a:t>
            </a:r>
          </a:p>
          <a:p>
            <a:pPr lvl="1">
              <a:spcAft>
                <a:spcPct val="25000"/>
              </a:spcAft>
              <a:buClr>
                <a:schemeClr val="tx1"/>
              </a:buClr>
            </a:pPr>
            <a:r>
              <a:rPr lang="en-US" altLang="en-US" sz="1000" dirty="0" err="1"/>
              <a:t>frontend_files</a:t>
            </a:r>
            <a:endParaRPr lang="en-US" altLang="en-US" sz="1000" dirty="0"/>
          </a:p>
          <a:p>
            <a:pPr lvl="1">
              <a:spcAft>
                <a:spcPct val="25000"/>
              </a:spcAft>
              <a:buClr>
                <a:schemeClr val="tx1"/>
              </a:buClr>
            </a:pPr>
            <a:r>
              <a:rPr lang="en-US" altLang="en-US" sz="1000" dirty="0" err="1"/>
              <a:t>repo_id</a:t>
            </a:r>
            <a:endParaRPr lang="en-US" altLang="en-US" sz="1000" dirty="0"/>
          </a:p>
          <a:p>
            <a:pPr lvl="1">
              <a:spcAft>
                <a:spcPct val="25000"/>
              </a:spcAft>
              <a:buClr>
                <a:schemeClr val="tx1"/>
              </a:buClr>
            </a:pPr>
            <a:r>
              <a:rPr lang="en-US" altLang="en-US" sz="1000" dirty="0"/>
              <a:t>space</a:t>
            </a:r>
          </a:p>
          <a:p>
            <a:pPr marL="115888" lvl="1" indent="0">
              <a:spcAft>
                <a:spcPct val="25000"/>
              </a:spcAft>
              <a:buClr>
                <a:schemeClr val="tx1"/>
              </a:buClr>
              <a:buNone/>
            </a:pPr>
            <a:endParaRPr lang="en-US" altLang="en-US" sz="500" dirty="0"/>
          </a:p>
          <a:p>
            <a:pPr marL="0" indent="0">
              <a:spcAft>
                <a:spcPct val="25000"/>
              </a:spcAft>
              <a:buClr>
                <a:schemeClr val="tx1"/>
              </a:buClr>
              <a:buNone/>
            </a:pPr>
            <a:r>
              <a:rPr lang="en-US" altLang="en-US" sz="1200" dirty="0"/>
              <a:t>4. </a:t>
            </a:r>
            <a:r>
              <a:rPr lang="en-US" altLang="en-US" sz="1200" dirty="0" err="1"/>
              <a:t>repo_url</a:t>
            </a:r>
            <a:endParaRPr lang="en-US" altLang="en-US" sz="1200" dirty="0"/>
          </a:p>
          <a:p>
            <a:pPr lvl="1">
              <a:spcAft>
                <a:spcPct val="25000"/>
              </a:spcAft>
            </a:pPr>
            <a:r>
              <a:rPr lang="en-US" sz="900" dirty="0">
                <a:hlinkClick r:id="rId4"/>
              </a:rPr>
              <a:t>https://huggingface.co/spaces/ccy2k/superkart-salespred</a:t>
            </a:r>
            <a:r>
              <a:rPr lang="en-US" sz="900" dirty="0"/>
              <a:t>'</a:t>
            </a:r>
            <a:endParaRPr lang="en-US" altLang="en-US" sz="900" dirty="0"/>
          </a:p>
        </p:txBody>
      </p:sp>
      <p:sp>
        <p:nvSpPr>
          <p:cNvPr id="5" name="Rectangle 4">
            <a:extLst>
              <a:ext uri="{FF2B5EF4-FFF2-40B4-BE49-F238E27FC236}">
                <a16:creationId xmlns:a16="http://schemas.microsoft.com/office/drawing/2014/main" id="{7A46D5C4-3ADF-BB4D-F638-87C2DB8E0FAD}"/>
              </a:ext>
            </a:extLst>
          </p:cNvPr>
          <p:cNvSpPr>
            <a:spLocks noChangeArrowheads="1"/>
          </p:cNvSpPr>
          <p:nvPr/>
        </p:nvSpPr>
        <p:spPr bwMode="gray">
          <a:xfrm>
            <a:off x="5104739" y="682301"/>
            <a:ext cx="3068802" cy="409697"/>
          </a:xfrm>
          <a:prstGeom prst="rect">
            <a:avLst/>
          </a:prstGeom>
          <a:solidFill>
            <a:srgbClr val="1357A0"/>
          </a:solidFill>
          <a:ln w="12700">
            <a:solidFill>
              <a:srgbClr val="1357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defTabSz="228600">
              <a:spcAft>
                <a:spcPct val="50000"/>
              </a:spcAft>
              <a:buClr>
                <a:schemeClr val="accent2"/>
              </a:buClr>
              <a:buFont typeface="Wingdings" pitchFamily="2" charset="2"/>
              <a:buChar char="§"/>
              <a:defRPr sz="1600">
                <a:solidFill>
                  <a:schemeClr val="tx1"/>
                </a:solidFill>
                <a:latin typeface="Arial" panose="020B0604020202020204" pitchFamily="34" charset="0"/>
              </a:defRPr>
            </a:lvl1pPr>
            <a:lvl2pPr marL="742950" indent="-285750" defTabSz="228600">
              <a:spcAft>
                <a:spcPct val="50000"/>
              </a:spcAft>
              <a:buClr>
                <a:schemeClr val="accent2"/>
              </a:buClr>
              <a:buFont typeface="Arial" panose="020B0604020202020204" pitchFamily="34" charset="0"/>
              <a:buChar char="–"/>
              <a:defRPr sz="1400">
                <a:solidFill>
                  <a:schemeClr val="tx1"/>
                </a:solidFill>
                <a:latin typeface="Arial" panose="020B0604020202020204" pitchFamily="34" charset="0"/>
              </a:defRPr>
            </a:lvl2pPr>
            <a:lvl3pPr marL="1143000" indent="-228600" defTabSz="228600">
              <a:spcAft>
                <a:spcPct val="50000"/>
              </a:spcAft>
              <a:buClr>
                <a:schemeClr val="accent2"/>
              </a:buClr>
              <a:buChar char="•"/>
              <a:defRPr sz="1200">
                <a:solidFill>
                  <a:schemeClr val="tx1"/>
                </a:solidFill>
                <a:latin typeface="Arial" panose="020B0604020202020204" pitchFamily="34" charset="0"/>
              </a:defRPr>
            </a:lvl3pPr>
            <a:lvl4pPr marL="1600200" indent="-228600" defTabSz="228600">
              <a:spcAft>
                <a:spcPct val="50000"/>
              </a:spcAft>
              <a:buClr>
                <a:schemeClr val="accent2"/>
              </a:buClr>
              <a:buFont typeface="Arial" panose="020B0604020202020204" pitchFamily="34" charset="0"/>
              <a:buChar char="–"/>
              <a:defRPr sz="1200">
                <a:solidFill>
                  <a:schemeClr val="tx1"/>
                </a:solidFill>
                <a:latin typeface="Arial" panose="020B0604020202020204" pitchFamily="34" charset="0"/>
              </a:defRPr>
            </a:lvl4pPr>
            <a:lvl5pPr marL="2057400" indent="-228600" defTabSz="228600">
              <a:spcAft>
                <a:spcPct val="50000"/>
              </a:spcAft>
              <a:buClr>
                <a:schemeClr val="accent2"/>
              </a:buClr>
              <a:buChar char="•"/>
              <a:defRPr sz="1200">
                <a:solidFill>
                  <a:schemeClr val="tx1"/>
                </a:solidFill>
                <a:latin typeface="Arial" panose="020B0604020202020204" pitchFamily="34" charset="0"/>
              </a:defRPr>
            </a:lvl5pPr>
            <a:lvl6pPr marL="2514600" indent="-228600" defTabSz="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6pPr>
            <a:lvl7pPr marL="2971800" indent="-228600" defTabSz="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7pPr>
            <a:lvl8pPr marL="3429000" indent="-228600" defTabSz="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8pPr>
            <a:lvl9pPr marL="3886200" indent="-228600" defTabSz="228600" eaLnBrk="0" fontAlgn="base" hangingPunct="0">
              <a:spcBef>
                <a:spcPct val="0"/>
              </a:spcBef>
              <a:spcAft>
                <a:spcPct val="50000"/>
              </a:spcAft>
              <a:buClr>
                <a:schemeClr val="accent2"/>
              </a:buClr>
              <a:buChar char="•"/>
              <a:defRPr sz="1200">
                <a:solidFill>
                  <a:schemeClr val="tx1"/>
                </a:solidFill>
                <a:latin typeface="Arial" panose="020B0604020202020204" pitchFamily="34" charset="0"/>
              </a:defRPr>
            </a:lvl9pPr>
          </a:lstStyle>
          <a:p>
            <a:pPr algn="ctr">
              <a:buNone/>
            </a:pPr>
            <a:r>
              <a:rPr lang="en-US" altLang="en-US" sz="1400" dirty="0">
                <a:solidFill>
                  <a:schemeClr val="bg1"/>
                </a:solidFill>
                <a:ea typeface="+mn-ea"/>
                <a:cs typeface="+mn-cs"/>
              </a:rPr>
              <a:t>User Interface Intake Form</a:t>
            </a:r>
          </a:p>
        </p:txBody>
      </p:sp>
    </p:spTree>
    <p:extLst>
      <p:ext uri="{BB962C8B-B14F-4D97-AF65-F5344CB8AC3E}">
        <p14:creationId xmlns:p14="http://schemas.microsoft.com/office/powerpoint/2010/main" val="14907036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C91C385E-6EA5-3743-4B1A-01D87EC4A8D5}"/>
            </a:ext>
          </a:extLst>
        </p:cNvPr>
        <p:cNvGrpSpPr/>
        <p:nvPr/>
      </p:nvGrpSpPr>
      <p:grpSpPr>
        <a:xfrm>
          <a:off x="0" y="0"/>
          <a:ext cx="0" cy="0"/>
          <a:chOff x="0" y="0"/>
          <a:chExt cx="0" cy="0"/>
        </a:xfrm>
      </p:grpSpPr>
      <p:sp>
        <p:nvSpPr>
          <p:cNvPr id="4" name="Google Shape;130;g12508d39905_0_54">
            <a:extLst>
              <a:ext uri="{FF2B5EF4-FFF2-40B4-BE49-F238E27FC236}">
                <a16:creationId xmlns:a16="http://schemas.microsoft.com/office/drawing/2014/main" id="{521AF2EB-017F-8864-81CA-D3F3BD969E14}"/>
              </a:ext>
            </a:extLst>
          </p:cNvPr>
          <p:cNvSpPr txBox="1">
            <a:spLocks/>
          </p:cNvSpPr>
          <p:nvPr/>
        </p:nvSpPr>
        <p:spPr>
          <a:xfrm>
            <a:off x="418067" y="94948"/>
            <a:ext cx="8520600" cy="606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r>
              <a:rPr lang="en-US" dirty="0">
                <a:solidFill>
                  <a:srgbClr val="1974D2"/>
                </a:solidFill>
              </a:rPr>
              <a:t>Conclusions and Recommendations</a:t>
            </a:r>
          </a:p>
        </p:txBody>
      </p:sp>
      <p:sp>
        <p:nvSpPr>
          <p:cNvPr id="2" name="Google Shape;170;p38">
            <a:extLst>
              <a:ext uri="{FF2B5EF4-FFF2-40B4-BE49-F238E27FC236}">
                <a16:creationId xmlns:a16="http://schemas.microsoft.com/office/drawing/2014/main" id="{6CD7C434-6497-9055-D1A9-411B2D1B0FD9}"/>
              </a:ext>
            </a:extLst>
          </p:cNvPr>
          <p:cNvSpPr txBox="1">
            <a:spLocks noGrp="1"/>
          </p:cNvSpPr>
          <p:nvPr>
            <p:ph type="body" idx="1"/>
          </p:nvPr>
        </p:nvSpPr>
        <p:spPr>
          <a:xfrm>
            <a:off x="205333" y="595840"/>
            <a:ext cx="8629800" cy="4272751"/>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US" sz="1600" b="1" dirty="0">
                <a:solidFill>
                  <a:srgbClr val="000000"/>
                </a:solidFill>
              </a:rPr>
              <a:t>Conclusions:</a:t>
            </a:r>
          </a:p>
          <a:p>
            <a:pPr>
              <a:buSzPct val="100000"/>
            </a:pPr>
            <a:r>
              <a:rPr lang="en-US" sz="1100" dirty="0"/>
              <a:t>EDA identified key product, store, and location factors influencing sales performance, with notable differences across product categories, store formats, and locations. </a:t>
            </a:r>
          </a:p>
          <a:p>
            <a:pPr marL="133350" indent="0">
              <a:buSzPct val="100000"/>
              <a:buNone/>
            </a:pPr>
            <a:endParaRPr lang="en-US" sz="300" dirty="0"/>
          </a:p>
          <a:p>
            <a:pPr>
              <a:buSzPct val="100000"/>
            </a:pPr>
            <a:r>
              <a:rPr lang="en-US" sz="1100" dirty="0"/>
              <a:t>Four regression models were evaluated: Random Forest, Tuned Random Forest, </a:t>
            </a:r>
            <a:r>
              <a:rPr lang="en-US" sz="1100" dirty="0" err="1"/>
              <a:t>XGBoost</a:t>
            </a:r>
            <a:r>
              <a:rPr lang="en-US" sz="1100" dirty="0"/>
              <a:t>, and Tuned </a:t>
            </a:r>
            <a:r>
              <a:rPr lang="en-US" sz="1100" dirty="0" err="1"/>
              <a:t>XGBoost</a:t>
            </a:r>
            <a:r>
              <a:rPr lang="en-US" sz="1100" dirty="0"/>
              <a:t>. Performance was measured using RMSE, MAE, MAPE, and R². </a:t>
            </a:r>
          </a:p>
          <a:p>
            <a:pPr marL="133350" indent="0">
              <a:buSzPct val="100000"/>
              <a:buNone/>
            </a:pPr>
            <a:endParaRPr lang="en-US" sz="300" dirty="0"/>
          </a:p>
          <a:p>
            <a:pPr>
              <a:buSzPct val="100000"/>
            </a:pPr>
            <a:r>
              <a:rPr lang="en-US" sz="1100" dirty="0"/>
              <a:t>The Tuned </a:t>
            </a:r>
            <a:r>
              <a:rPr lang="en-US" sz="1100" dirty="0" err="1"/>
              <a:t>XGBoost</a:t>
            </a:r>
            <a:r>
              <a:rPr lang="en-US" sz="1100" dirty="0"/>
              <a:t> Regressor achieved the lowest prediction errors and highest R² score, making it the best-performing model. </a:t>
            </a:r>
          </a:p>
          <a:p>
            <a:pPr marL="133350" indent="0">
              <a:buSzPct val="100000"/>
              <a:buNone/>
            </a:pPr>
            <a:endParaRPr lang="en-US" sz="300" dirty="0"/>
          </a:p>
          <a:p>
            <a:pPr>
              <a:buSzPct val="100000"/>
            </a:pPr>
            <a:r>
              <a:rPr lang="en-US" sz="1100" dirty="0"/>
              <a:t>Based on its superior accuracy and ability to generalize on unseen data, the Tuned </a:t>
            </a:r>
            <a:r>
              <a:rPr lang="en-US" sz="1100" dirty="0" err="1"/>
              <a:t>XGBoost</a:t>
            </a:r>
            <a:r>
              <a:rPr lang="en-US" sz="1100" dirty="0"/>
              <a:t> Regressor was selected as the final model for deployment and future sales forecasting.</a:t>
            </a:r>
          </a:p>
          <a:p>
            <a:pPr marL="133350" indent="0">
              <a:buSzPct val="100000"/>
              <a:buNone/>
            </a:pPr>
            <a:endParaRPr lang="en-US" sz="1400" b="1" dirty="0">
              <a:solidFill>
                <a:srgbClr val="000000"/>
              </a:solidFill>
            </a:endParaRPr>
          </a:p>
          <a:p>
            <a:pPr marL="133350" indent="0">
              <a:buSzPct val="100000"/>
              <a:buNone/>
            </a:pPr>
            <a:r>
              <a:rPr lang="en-US" sz="1400" b="1" dirty="0">
                <a:solidFill>
                  <a:srgbClr val="000000"/>
                </a:solidFill>
              </a:rPr>
              <a:t>Recommendations: </a:t>
            </a:r>
          </a:p>
          <a:p>
            <a:pPr>
              <a:buSzPct val="100000"/>
            </a:pPr>
            <a:r>
              <a:rPr lang="en-US" sz="1100" dirty="0"/>
              <a:t>Deploy the Tuned </a:t>
            </a:r>
            <a:r>
              <a:rPr lang="en-US" sz="1100" dirty="0" err="1"/>
              <a:t>XGBoost</a:t>
            </a:r>
            <a:r>
              <a:rPr lang="en-US" sz="1100" dirty="0"/>
              <a:t> Regressor as the production model for sales forecasting. </a:t>
            </a:r>
          </a:p>
          <a:p>
            <a:pPr marL="133350" indent="0">
              <a:buSzPct val="100000"/>
              <a:buNone/>
            </a:pPr>
            <a:endParaRPr lang="en-US" sz="300" dirty="0"/>
          </a:p>
          <a:p>
            <a:pPr>
              <a:buSzPct val="100000"/>
            </a:pPr>
            <a:r>
              <a:rPr lang="en-US" sz="1100" dirty="0"/>
              <a:t>Regularly retrain and monitor the model using new sales data to maintain performance. </a:t>
            </a:r>
          </a:p>
          <a:p>
            <a:pPr marL="133350" indent="0">
              <a:buSzPct val="100000"/>
              <a:buNone/>
            </a:pPr>
            <a:endParaRPr lang="en-US" sz="300" dirty="0"/>
          </a:p>
          <a:p>
            <a:pPr>
              <a:buSzPct val="100000"/>
            </a:pPr>
            <a:r>
              <a:rPr lang="en-US" sz="1100" dirty="0"/>
              <a:t>Use forecast results to support inventory planning, demand forecasting, and operational decision-making. </a:t>
            </a:r>
          </a:p>
          <a:p>
            <a:pPr marL="133350" indent="0">
              <a:buSzPct val="100000"/>
              <a:buNone/>
            </a:pPr>
            <a:endParaRPr lang="en-US" sz="300" dirty="0"/>
          </a:p>
          <a:p>
            <a:pPr>
              <a:buSzPct val="100000"/>
            </a:pPr>
            <a:r>
              <a:rPr lang="en-US" sz="1100" dirty="0"/>
              <a:t>Continue enhancing the model by incorporating additional business factors such as promotions, seasonality, and market trends.</a:t>
            </a:r>
          </a:p>
          <a:p>
            <a:pPr marL="133350" indent="0">
              <a:buSzPct val="100000"/>
              <a:buNone/>
            </a:pPr>
            <a:endParaRPr sz="1400" dirty="0">
              <a:solidFill>
                <a:srgbClr val="000000"/>
              </a:solidFill>
            </a:endParaRPr>
          </a:p>
        </p:txBody>
      </p:sp>
    </p:spTree>
    <p:extLst>
      <p:ext uri="{BB962C8B-B14F-4D97-AF65-F5344CB8AC3E}">
        <p14:creationId xmlns:p14="http://schemas.microsoft.com/office/powerpoint/2010/main" val="1820944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0ee00f67ea_0_5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77" name="Google Shape;177;g10ee00f67ea_0_5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43</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1904</TotalTime>
  <Words>3814</Words>
  <Application>Microsoft Macintosh PowerPoint</Application>
  <PresentationFormat>On-screen Show (16:9)</PresentationFormat>
  <Paragraphs>403</Paragraphs>
  <Slides>43</Slides>
  <Notes>43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43</vt:i4>
      </vt:variant>
    </vt:vector>
  </HeadingPairs>
  <TitlesOfParts>
    <vt:vector size="51" baseType="lpstr">
      <vt:lpstr>Nunito ExtraBold</vt:lpstr>
      <vt:lpstr>Wingdings</vt:lpstr>
      <vt:lpstr>Nunito SemiBold</vt:lpstr>
      <vt:lpstr>Arial</vt:lpstr>
      <vt:lpstr>Nunito</vt:lpstr>
      <vt:lpstr>Calibri</vt:lpstr>
      <vt:lpstr>Just Logo</vt:lpstr>
      <vt:lpstr>Just Logo</vt:lpstr>
      <vt:lpstr>SuperKart Project</vt:lpstr>
      <vt:lpstr>Contents / 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christian caceres</cp:lastModifiedBy>
  <cp:revision>194</cp:revision>
  <dcterms:modified xsi:type="dcterms:W3CDTF">2026-06-06T17:46:55Z</dcterms:modified>
</cp:coreProperties>
</file>